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7C7B"/>
          </a:solidFill>
          <a:ln/>
        </p:spPr>
      </p:sp>
      <p:sp>
        <p:nvSpPr>
          <p:cNvPr id="3" name="Text 1"/>
          <p:cNvSpPr/>
          <p:nvPr/>
        </p:nvSpPr>
        <p:spPr>
          <a:xfrm>
            <a:off x="731520" y="1097280"/>
            <a:ext cx="7315200" cy="640080"/>
          </a:xfrm>
          <a:prstGeom prst="rect">
            <a:avLst/>
          </a:prstGeom>
          <a:noFill/>
          <a:ln/>
        </p:spPr>
        <p:txBody>
          <a:bodyPr wrap="square" lIns="0" tIns="0" rIns="0" bIns="0" rtlCol="0" anchor="ctr"/>
          <a:lstStyle/>
          <a:p>
            <a:pPr indent="0" marL="0">
              <a:buNone/>
            </a:pPr>
            <a:r>
              <a:rPr lang="en-US" sz="3800" b="1" dirty="0">
                <a:solidFill>
                  <a:srgbClr val="FFFFFF"/>
                </a:solidFill>
                <a:latin typeface="Trebuchet MS" pitchFamily="34" charset="0"/>
                <a:ea typeface="Trebuchet MS" pitchFamily="34" charset="-122"/>
                <a:cs typeface="Trebuchet MS" pitchFamily="34" charset="-120"/>
              </a:rPr>
              <a:t>MICROSOFT PURVIEW</a:t>
            </a:r>
            <a:endParaRPr lang="en-US" sz="3800" dirty="0"/>
          </a:p>
        </p:txBody>
      </p:sp>
      <p:sp>
        <p:nvSpPr>
          <p:cNvPr id="4" name="Shape 2"/>
          <p:cNvSpPr/>
          <p:nvPr/>
        </p:nvSpPr>
        <p:spPr>
          <a:xfrm>
            <a:off x="731520" y="1783080"/>
            <a:ext cx="2926080" cy="36576"/>
          </a:xfrm>
          <a:prstGeom prst="rect">
            <a:avLst/>
          </a:prstGeom>
          <a:solidFill>
            <a:srgbClr val="0E7C7B"/>
          </a:solidFill>
          <a:ln/>
        </p:spPr>
      </p:sp>
      <p:sp>
        <p:nvSpPr>
          <p:cNvPr id="5" name="Text 3"/>
          <p:cNvSpPr/>
          <p:nvPr/>
        </p:nvSpPr>
        <p:spPr>
          <a:xfrm>
            <a:off x="731520" y="1965960"/>
            <a:ext cx="7315200" cy="502920"/>
          </a:xfrm>
          <a:prstGeom prst="rect">
            <a:avLst/>
          </a:prstGeom>
          <a:noFill/>
          <a:ln/>
        </p:spPr>
        <p:txBody>
          <a:bodyPr wrap="square" lIns="0" tIns="0" rIns="0" bIns="0" rtlCol="0" anchor="ctr"/>
          <a:lstStyle/>
          <a:p>
            <a:pPr indent="0" marL="0">
              <a:buNone/>
            </a:pPr>
            <a:r>
              <a:rPr lang="en-US" sz="2600" dirty="0">
                <a:solidFill>
                  <a:srgbClr val="0E7C7B"/>
                </a:solidFill>
                <a:latin typeface="Trebuchet MS" pitchFamily="34" charset="0"/>
                <a:ea typeface="Trebuchet MS" pitchFamily="34" charset="-122"/>
                <a:cs typeface="Trebuchet MS" pitchFamily="34" charset="-120"/>
              </a:rPr>
              <a:t>Data Management Maturity</a:t>
            </a:r>
            <a:endParaRPr lang="en-US" sz="2600" dirty="0"/>
          </a:p>
        </p:txBody>
      </p:sp>
      <p:sp>
        <p:nvSpPr>
          <p:cNvPr id="6" name="Text 4"/>
          <p:cNvSpPr/>
          <p:nvPr/>
        </p:nvSpPr>
        <p:spPr>
          <a:xfrm>
            <a:off x="731520" y="2468880"/>
            <a:ext cx="731520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Comprehensive Plan of Action</a:t>
            </a:r>
            <a:endParaRPr lang="en-US" sz="1800" dirty="0"/>
          </a:p>
        </p:txBody>
      </p:sp>
      <p:sp>
        <p:nvSpPr>
          <p:cNvPr id="7" name="Text 5"/>
          <p:cNvSpPr/>
          <p:nvPr/>
        </p:nvSpPr>
        <p:spPr>
          <a:xfrm>
            <a:off x="731520" y="3017520"/>
            <a:ext cx="7315200" cy="320040"/>
          </a:xfrm>
          <a:prstGeom prst="rect">
            <a:avLst/>
          </a:prstGeom>
          <a:noFill/>
          <a:ln/>
        </p:spPr>
        <p:txBody>
          <a:bodyPr wrap="square" lIns="0" tIns="0" rIns="0" bIns="0" rtlCol="0" anchor="ctr"/>
          <a:lstStyle/>
          <a:p>
            <a:pPr indent="0" marL="0">
              <a:buNone/>
            </a:pPr>
            <a:r>
              <a:rPr lang="en-US" sz="1200" i="1" dirty="0">
                <a:solidFill>
                  <a:srgbClr val="888888"/>
                </a:solidFill>
                <a:latin typeface="Calibri" pitchFamily="34" charset="0"/>
                <a:ea typeface="Calibri" pitchFamily="34" charset="-122"/>
                <a:cs typeface="Calibri" pitchFamily="34" charset="-120"/>
              </a:rPr>
              <a:t>Module Linkages, Dependencies &amp; Implementation Roadmap</a:t>
            </a:r>
            <a:endParaRPr lang="en-US" sz="1200" dirty="0"/>
          </a:p>
        </p:txBody>
      </p:sp>
      <p:sp>
        <p:nvSpPr>
          <p:cNvPr id="8" name="Text 6"/>
          <p:cNvSpPr/>
          <p:nvPr/>
        </p:nvSpPr>
        <p:spPr>
          <a:xfrm>
            <a:off x="731520" y="4389120"/>
            <a:ext cx="7315200" cy="274320"/>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Version 1.0  |  March 2026</a:t>
            </a:r>
            <a:endParaRPr lang="en-US" sz="1000" dirty="0"/>
          </a:p>
        </p:txBody>
      </p:sp>
      <p:pic>
        <p:nvPicPr>
          <p:cNvPr id="9" name="Image 0" descr="preencoded.png"/>
          <p:cNvPicPr>
            <a:picLocks noChangeAspect="1"/>
          </p:cNvPicPr>
          <p:nvPr/>
        </p:nvPicPr>
        <p:blipFill>
          <a:blip r:embed="rId1"/>
          <a:stretch>
            <a:fillRect/>
          </a:stretch>
        </p:blipFill>
        <p:spPr>
          <a:xfrm>
            <a:off x="7498080" y="1280160"/>
            <a:ext cx="457200" cy="457200"/>
          </a:xfrm>
          <a:prstGeom prst="rect">
            <a:avLst/>
          </a:prstGeom>
        </p:spPr>
      </p:pic>
      <p:pic>
        <p:nvPicPr>
          <p:cNvPr id="10" name="Image 1" descr="preencoded.png"/>
          <p:cNvPicPr>
            <a:picLocks noChangeAspect="1"/>
          </p:cNvPicPr>
          <p:nvPr/>
        </p:nvPicPr>
        <p:blipFill>
          <a:blip r:embed="rId2"/>
          <a:stretch>
            <a:fillRect/>
          </a:stretch>
        </p:blipFill>
        <p:spPr>
          <a:xfrm>
            <a:off x="8138160" y="1645920"/>
            <a:ext cx="457200" cy="457200"/>
          </a:xfrm>
          <a:prstGeom prst="rect">
            <a:avLst/>
          </a:prstGeom>
        </p:spPr>
      </p:pic>
      <p:pic>
        <p:nvPicPr>
          <p:cNvPr id="11" name="Image 2" descr="preencoded.png"/>
          <p:cNvPicPr>
            <a:picLocks noChangeAspect="1"/>
          </p:cNvPicPr>
          <p:nvPr/>
        </p:nvPicPr>
        <p:blipFill>
          <a:blip r:embed="rId3"/>
          <a:stretch>
            <a:fillRect/>
          </a:stretch>
        </p:blipFill>
        <p:spPr>
          <a:xfrm>
            <a:off x="7772400" y="2286000"/>
            <a:ext cx="457200"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B"/>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E7C7B"/>
          </a:solidFill>
          <a:ln/>
        </p:spPr>
      </p:sp>
      <p:sp>
        <p:nvSpPr>
          <p:cNvPr id="3" name="Text 1"/>
          <p:cNvSpPr/>
          <p:nvPr/>
        </p:nvSpPr>
        <p:spPr>
          <a:xfrm>
            <a:off x="548640" y="274320"/>
            <a:ext cx="3657600" cy="457200"/>
          </a:xfrm>
          <a:prstGeom prst="rect">
            <a:avLst/>
          </a:prstGeom>
          <a:noFill/>
          <a:ln/>
        </p:spPr>
        <p:txBody>
          <a:bodyPr wrap="square" lIns="0" tIns="0" rIns="0" bIns="0" rtlCol="0" anchor="ctr"/>
          <a:lstStyle/>
          <a:p>
            <a:pPr indent="0" marL="0">
              <a:buNone/>
            </a:pPr>
            <a:r>
              <a:rPr lang="en-US" sz="2800" b="1" dirty="0">
                <a:solidFill>
                  <a:srgbClr val="1B3A5C"/>
                </a:solidFill>
                <a:latin typeface="Trebuchet MS" pitchFamily="34" charset="0"/>
                <a:ea typeface="Trebuchet MS" pitchFamily="34" charset="-122"/>
                <a:cs typeface="Trebuchet MS" pitchFamily="34" charset="-120"/>
              </a:rPr>
              <a:t>Contents</a:t>
            </a:r>
            <a:endParaRPr lang="en-US" sz="2800" dirty="0"/>
          </a:p>
        </p:txBody>
      </p:sp>
      <p:sp>
        <p:nvSpPr>
          <p:cNvPr id="4" name="Shape 2"/>
          <p:cNvSpPr/>
          <p:nvPr/>
        </p:nvSpPr>
        <p:spPr>
          <a:xfrm>
            <a:off x="548640" y="1005840"/>
            <a:ext cx="3657600" cy="658368"/>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548640" y="1005840"/>
            <a:ext cx="54864" cy="658368"/>
          </a:xfrm>
          <a:prstGeom prst="rect">
            <a:avLst/>
          </a:prstGeom>
          <a:solidFill>
            <a:srgbClr val="0E7C7B"/>
          </a:solidFill>
          <a:ln/>
        </p:spPr>
      </p:sp>
      <p:sp>
        <p:nvSpPr>
          <p:cNvPr id="6" name="Text 4"/>
          <p:cNvSpPr/>
          <p:nvPr/>
        </p:nvSpPr>
        <p:spPr>
          <a:xfrm>
            <a:off x="731520" y="1097280"/>
            <a:ext cx="457200" cy="457200"/>
          </a:xfrm>
          <a:prstGeom prst="rect">
            <a:avLst/>
          </a:prstGeom>
          <a:noFill/>
          <a:ln/>
        </p:spPr>
        <p:txBody>
          <a:bodyPr wrap="square" lIns="0" tIns="0" rIns="0" bIns="0" rtlCol="0" anchor="ctr"/>
          <a:lstStyle/>
          <a:p>
            <a:pPr indent="0" marL="0">
              <a:buNone/>
            </a:pPr>
            <a:r>
              <a:rPr lang="en-US" sz="2200" b="1" dirty="0">
                <a:solidFill>
                  <a:srgbClr val="0E7C7B"/>
                </a:solidFill>
                <a:latin typeface="Trebuchet MS" pitchFamily="34" charset="0"/>
                <a:ea typeface="Trebuchet MS" pitchFamily="34" charset="-122"/>
                <a:cs typeface="Trebuchet MS" pitchFamily="34" charset="-120"/>
              </a:rPr>
              <a:t>01</a:t>
            </a:r>
            <a:endParaRPr lang="en-US" sz="2200" dirty="0"/>
          </a:p>
        </p:txBody>
      </p:sp>
      <p:sp>
        <p:nvSpPr>
          <p:cNvPr id="7" name="Text 5"/>
          <p:cNvSpPr/>
          <p:nvPr/>
        </p:nvSpPr>
        <p:spPr>
          <a:xfrm>
            <a:off x="1188720" y="1143000"/>
            <a:ext cx="2743200" cy="411480"/>
          </a:xfrm>
          <a:prstGeom prst="rect">
            <a:avLst/>
          </a:prstGeom>
          <a:noFill/>
          <a:ln/>
        </p:spPr>
        <p:txBody>
          <a:bodyPr wrap="square" lIns="0" tIns="0" rIns="0" bIns="0" rtlCol="0" anchor="ctr"/>
          <a:lstStyle/>
          <a:p>
            <a:pPr indent="0" marL="0">
              <a:buNone/>
            </a:pPr>
            <a:r>
              <a:rPr lang="en-US" sz="1200" dirty="0">
                <a:solidFill>
                  <a:srgbClr val="333333"/>
                </a:solidFill>
                <a:latin typeface="Calibri" pitchFamily="34" charset="0"/>
                <a:ea typeface="Calibri" pitchFamily="34" charset="-122"/>
                <a:cs typeface="Calibri" pitchFamily="34" charset="-120"/>
              </a:rPr>
              <a:t>Executive Summary &amp; Core Principle</a:t>
            </a:r>
            <a:endParaRPr lang="en-US" sz="1200" dirty="0"/>
          </a:p>
        </p:txBody>
      </p:sp>
      <p:sp>
        <p:nvSpPr>
          <p:cNvPr id="8" name="Shape 6"/>
          <p:cNvSpPr/>
          <p:nvPr/>
        </p:nvSpPr>
        <p:spPr>
          <a:xfrm>
            <a:off x="4663440" y="1005840"/>
            <a:ext cx="3657600" cy="658368"/>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Shape 7"/>
          <p:cNvSpPr/>
          <p:nvPr/>
        </p:nvSpPr>
        <p:spPr>
          <a:xfrm>
            <a:off x="4663440" y="1005840"/>
            <a:ext cx="54864" cy="658368"/>
          </a:xfrm>
          <a:prstGeom prst="rect">
            <a:avLst/>
          </a:prstGeom>
          <a:solidFill>
            <a:srgbClr val="D4740E"/>
          </a:solidFill>
          <a:ln/>
        </p:spPr>
      </p:sp>
      <p:sp>
        <p:nvSpPr>
          <p:cNvPr id="10" name="Text 8"/>
          <p:cNvSpPr/>
          <p:nvPr/>
        </p:nvSpPr>
        <p:spPr>
          <a:xfrm>
            <a:off x="4846320" y="1097280"/>
            <a:ext cx="457200" cy="457200"/>
          </a:xfrm>
          <a:prstGeom prst="rect">
            <a:avLst/>
          </a:prstGeom>
          <a:noFill/>
          <a:ln/>
        </p:spPr>
        <p:txBody>
          <a:bodyPr wrap="square" lIns="0" tIns="0" rIns="0" bIns="0" rtlCol="0" anchor="ctr"/>
          <a:lstStyle/>
          <a:p>
            <a:pPr indent="0" marL="0">
              <a:buNone/>
            </a:pPr>
            <a:r>
              <a:rPr lang="en-US" sz="2200" b="1" dirty="0">
                <a:solidFill>
                  <a:srgbClr val="0E7C7B"/>
                </a:solidFill>
                <a:latin typeface="Trebuchet MS" pitchFamily="34" charset="0"/>
                <a:ea typeface="Trebuchet MS" pitchFamily="34" charset="-122"/>
                <a:cs typeface="Trebuchet MS" pitchFamily="34" charset="-120"/>
              </a:rPr>
              <a:t>02</a:t>
            </a:r>
            <a:endParaRPr lang="en-US" sz="2200" dirty="0"/>
          </a:p>
        </p:txBody>
      </p:sp>
      <p:sp>
        <p:nvSpPr>
          <p:cNvPr id="11" name="Text 9"/>
          <p:cNvSpPr/>
          <p:nvPr/>
        </p:nvSpPr>
        <p:spPr>
          <a:xfrm>
            <a:off x="5303520" y="1143000"/>
            <a:ext cx="2743200" cy="411480"/>
          </a:xfrm>
          <a:prstGeom prst="rect">
            <a:avLst/>
          </a:prstGeom>
          <a:noFill/>
          <a:ln/>
        </p:spPr>
        <p:txBody>
          <a:bodyPr wrap="square" lIns="0" tIns="0" rIns="0" bIns="0" rtlCol="0" anchor="ctr"/>
          <a:lstStyle/>
          <a:p>
            <a:pPr indent="0" marL="0">
              <a:buNone/>
            </a:pPr>
            <a:r>
              <a:rPr lang="en-US" sz="1200" dirty="0">
                <a:solidFill>
                  <a:srgbClr val="333333"/>
                </a:solidFill>
                <a:latin typeface="Calibri" pitchFamily="34" charset="0"/>
                <a:ea typeface="Calibri" pitchFamily="34" charset="-122"/>
                <a:cs typeface="Calibri" pitchFamily="34" charset="-120"/>
              </a:rPr>
              <a:t>The Purview Ecosystem – Three Pillars</a:t>
            </a:r>
            <a:endParaRPr lang="en-US" sz="1200" dirty="0"/>
          </a:p>
        </p:txBody>
      </p:sp>
      <p:sp>
        <p:nvSpPr>
          <p:cNvPr id="12" name="Shape 10"/>
          <p:cNvSpPr/>
          <p:nvPr/>
        </p:nvSpPr>
        <p:spPr>
          <a:xfrm>
            <a:off x="548640" y="1874520"/>
            <a:ext cx="3657600" cy="658368"/>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3" name="Shape 11"/>
          <p:cNvSpPr/>
          <p:nvPr/>
        </p:nvSpPr>
        <p:spPr>
          <a:xfrm>
            <a:off x="548640" y="1874520"/>
            <a:ext cx="54864" cy="658368"/>
          </a:xfrm>
          <a:prstGeom prst="rect">
            <a:avLst/>
          </a:prstGeom>
          <a:solidFill>
            <a:srgbClr val="0E7C7B"/>
          </a:solidFill>
          <a:ln/>
        </p:spPr>
      </p:sp>
      <p:sp>
        <p:nvSpPr>
          <p:cNvPr id="14" name="Text 12"/>
          <p:cNvSpPr/>
          <p:nvPr/>
        </p:nvSpPr>
        <p:spPr>
          <a:xfrm>
            <a:off x="731520" y="1965960"/>
            <a:ext cx="457200" cy="457200"/>
          </a:xfrm>
          <a:prstGeom prst="rect">
            <a:avLst/>
          </a:prstGeom>
          <a:noFill/>
          <a:ln/>
        </p:spPr>
        <p:txBody>
          <a:bodyPr wrap="square" lIns="0" tIns="0" rIns="0" bIns="0" rtlCol="0" anchor="ctr"/>
          <a:lstStyle/>
          <a:p>
            <a:pPr indent="0" marL="0">
              <a:buNone/>
            </a:pPr>
            <a:r>
              <a:rPr lang="en-US" sz="2200" b="1" dirty="0">
                <a:solidFill>
                  <a:srgbClr val="0E7C7B"/>
                </a:solidFill>
                <a:latin typeface="Trebuchet MS" pitchFamily="34" charset="0"/>
                <a:ea typeface="Trebuchet MS" pitchFamily="34" charset="-122"/>
                <a:cs typeface="Trebuchet MS" pitchFamily="34" charset="-120"/>
              </a:rPr>
              <a:t>03</a:t>
            </a:r>
            <a:endParaRPr lang="en-US" sz="2200" dirty="0"/>
          </a:p>
        </p:txBody>
      </p:sp>
      <p:sp>
        <p:nvSpPr>
          <p:cNvPr id="15" name="Text 13"/>
          <p:cNvSpPr/>
          <p:nvPr/>
        </p:nvSpPr>
        <p:spPr>
          <a:xfrm>
            <a:off x="1188720" y="2011680"/>
            <a:ext cx="2743200" cy="411480"/>
          </a:xfrm>
          <a:prstGeom prst="rect">
            <a:avLst/>
          </a:prstGeom>
          <a:noFill/>
          <a:ln/>
        </p:spPr>
        <p:txBody>
          <a:bodyPr wrap="square" lIns="0" tIns="0" rIns="0" bIns="0" rtlCol="0" anchor="ctr"/>
          <a:lstStyle/>
          <a:p>
            <a:pPr indent="0" marL="0">
              <a:buNone/>
            </a:pPr>
            <a:r>
              <a:rPr lang="en-US" sz="1200" dirty="0">
                <a:solidFill>
                  <a:srgbClr val="333333"/>
                </a:solidFill>
                <a:latin typeface="Calibri" pitchFamily="34" charset="0"/>
                <a:ea typeface="Calibri" pitchFamily="34" charset="-122"/>
                <a:cs typeface="Calibri" pitchFamily="34" charset="-120"/>
              </a:rPr>
              <a:t>Master Dependency Map</a:t>
            </a:r>
            <a:endParaRPr lang="en-US" sz="1200" dirty="0"/>
          </a:p>
        </p:txBody>
      </p:sp>
      <p:sp>
        <p:nvSpPr>
          <p:cNvPr id="16" name="Shape 14"/>
          <p:cNvSpPr/>
          <p:nvPr/>
        </p:nvSpPr>
        <p:spPr>
          <a:xfrm>
            <a:off x="4663440" y="1874520"/>
            <a:ext cx="3657600" cy="658368"/>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7" name="Shape 15"/>
          <p:cNvSpPr/>
          <p:nvPr/>
        </p:nvSpPr>
        <p:spPr>
          <a:xfrm>
            <a:off x="4663440" y="1874520"/>
            <a:ext cx="54864" cy="658368"/>
          </a:xfrm>
          <a:prstGeom prst="rect">
            <a:avLst/>
          </a:prstGeom>
          <a:solidFill>
            <a:srgbClr val="D4740E"/>
          </a:solidFill>
          <a:ln/>
        </p:spPr>
      </p:sp>
      <p:sp>
        <p:nvSpPr>
          <p:cNvPr id="18" name="Text 16"/>
          <p:cNvSpPr/>
          <p:nvPr/>
        </p:nvSpPr>
        <p:spPr>
          <a:xfrm>
            <a:off x="4846320" y="1965960"/>
            <a:ext cx="457200" cy="457200"/>
          </a:xfrm>
          <a:prstGeom prst="rect">
            <a:avLst/>
          </a:prstGeom>
          <a:noFill/>
          <a:ln/>
        </p:spPr>
        <p:txBody>
          <a:bodyPr wrap="square" lIns="0" tIns="0" rIns="0" bIns="0" rtlCol="0" anchor="ctr"/>
          <a:lstStyle/>
          <a:p>
            <a:pPr indent="0" marL="0">
              <a:buNone/>
            </a:pPr>
            <a:r>
              <a:rPr lang="en-US" sz="2200" b="1" dirty="0">
                <a:solidFill>
                  <a:srgbClr val="0E7C7B"/>
                </a:solidFill>
                <a:latin typeface="Trebuchet MS" pitchFamily="34" charset="0"/>
                <a:ea typeface="Trebuchet MS" pitchFamily="34" charset="-122"/>
                <a:cs typeface="Trebuchet MS" pitchFamily="34" charset="-120"/>
              </a:rPr>
              <a:t>04</a:t>
            </a:r>
            <a:endParaRPr lang="en-US" sz="2200" dirty="0"/>
          </a:p>
        </p:txBody>
      </p:sp>
      <p:sp>
        <p:nvSpPr>
          <p:cNvPr id="19" name="Text 17"/>
          <p:cNvSpPr/>
          <p:nvPr/>
        </p:nvSpPr>
        <p:spPr>
          <a:xfrm>
            <a:off x="5303520" y="2011680"/>
            <a:ext cx="2743200" cy="411480"/>
          </a:xfrm>
          <a:prstGeom prst="rect">
            <a:avLst/>
          </a:prstGeom>
          <a:noFill/>
          <a:ln/>
        </p:spPr>
        <p:txBody>
          <a:bodyPr wrap="square" lIns="0" tIns="0" rIns="0" bIns="0" rtlCol="0" anchor="ctr"/>
          <a:lstStyle/>
          <a:p>
            <a:pPr indent="0" marL="0">
              <a:buNone/>
            </a:pPr>
            <a:r>
              <a:rPr lang="en-US" sz="1200" dirty="0">
                <a:solidFill>
                  <a:srgbClr val="333333"/>
                </a:solidFill>
                <a:latin typeface="Calibri" pitchFamily="34" charset="0"/>
                <a:ea typeface="Calibri" pitchFamily="34" charset="-122"/>
                <a:cs typeface="Calibri" pitchFamily="34" charset="-120"/>
              </a:rPr>
              <a:t>Six-Phase Implementation Roadmap</a:t>
            </a:r>
            <a:endParaRPr lang="en-US" sz="1200" dirty="0"/>
          </a:p>
        </p:txBody>
      </p:sp>
      <p:sp>
        <p:nvSpPr>
          <p:cNvPr id="20" name="Shape 18"/>
          <p:cNvSpPr/>
          <p:nvPr/>
        </p:nvSpPr>
        <p:spPr>
          <a:xfrm>
            <a:off x="548640" y="2743200"/>
            <a:ext cx="3657600" cy="658368"/>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1" name="Shape 19"/>
          <p:cNvSpPr/>
          <p:nvPr/>
        </p:nvSpPr>
        <p:spPr>
          <a:xfrm>
            <a:off x="548640" y="2743200"/>
            <a:ext cx="54864" cy="658368"/>
          </a:xfrm>
          <a:prstGeom prst="rect">
            <a:avLst/>
          </a:prstGeom>
          <a:solidFill>
            <a:srgbClr val="0E7C7B"/>
          </a:solidFill>
          <a:ln/>
        </p:spPr>
      </p:sp>
      <p:sp>
        <p:nvSpPr>
          <p:cNvPr id="22" name="Text 20"/>
          <p:cNvSpPr/>
          <p:nvPr/>
        </p:nvSpPr>
        <p:spPr>
          <a:xfrm>
            <a:off x="731520" y="2834640"/>
            <a:ext cx="457200" cy="457200"/>
          </a:xfrm>
          <a:prstGeom prst="rect">
            <a:avLst/>
          </a:prstGeom>
          <a:noFill/>
          <a:ln/>
        </p:spPr>
        <p:txBody>
          <a:bodyPr wrap="square" lIns="0" tIns="0" rIns="0" bIns="0" rtlCol="0" anchor="ctr"/>
          <a:lstStyle/>
          <a:p>
            <a:pPr indent="0" marL="0">
              <a:buNone/>
            </a:pPr>
            <a:r>
              <a:rPr lang="en-US" sz="2200" b="1" dirty="0">
                <a:solidFill>
                  <a:srgbClr val="0E7C7B"/>
                </a:solidFill>
                <a:latin typeface="Trebuchet MS" pitchFamily="34" charset="0"/>
                <a:ea typeface="Trebuchet MS" pitchFamily="34" charset="-122"/>
                <a:cs typeface="Trebuchet MS" pitchFamily="34" charset="-120"/>
              </a:rPr>
              <a:t>05</a:t>
            </a:r>
            <a:endParaRPr lang="en-US" sz="2200" dirty="0"/>
          </a:p>
        </p:txBody>
      </p:sp>
      <p:sp>
        <p:nvSpPr>
          <p:cNvPr id="23" name="Text 21"/>
          <p:cNvSpPr/>
          <p:nvPr/>
        </p:nvSpPr>
        <p:spPr>
          <a:xfrm>
            <a:off x="1188720" y="2880360"/>
            <a:ext cx="2743200" cy="411480"/>
          </a:xfrm>
          <a:prstGeom prst="rect">
            <a:avLst/>
          </a:prstGeom>
          <a:noFill/>
          <a:ln/>
        </p:spPr>
        <p:txBody>
          <a:bodyPr wrap="square" lIns="0" tIns="0" rIns="0" bIns="0" rtlCol="0" anchor="ctr"/>
          <a:lstStyle/>
          <a:p>
            <a:pPr indent="0" marL="0">
              <a:buNone/>
            </a:pPr>
            <a:r>
              <a:rPr lang="en-US" sz="1200" dirty="0">
                <a:solidFill>
                  <a:srgbClr val="333333"/>
                </a:solidFill>
                <a:latin typeface="Calibri" pitchFamily="34" charset="0"/>
                <a:ea typeface="Calibri" pitchFamily="34" charset="-122"/>
                <a:cs typeface="Calibri" pitchFamily="34" charset="-120"/>
              </a:rPr>
              <a:t>Cross-Phase Dependency Matrix</a:t>
            </a:r>
            <a:endParaRPr lang="en-US" sz="1200" dirty="0"/>
          </a:p>
        </p:txBody>
      </p:sp>
      <p:sp>
        <p:nvSpPr>
          <p:cNvPr id="24" name="Shape 22"/>
          <p:cNvSpPr/>
          <p:nvPr/>
        </p:nvSpPr>
        <p:spPr>
          <a:xfrm>
            <a:off x="4663440" y="2743200"/>
            <a:ext cx="3657600" cy="658368"/>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5" name="Shape 23"/>
          <p:cNvSpPr/>
          <p:nvPr/>
        </p:nvSpPr>
        <p:spPr>
          <a:xfrm>
            <a:off x="4663440" y="2743200"/>
            <a:ext cx="54864" cy="658368"/>
          </a:xfrm>
          <a:prstGeom prst="rect">
            <a:avLst/>
          </a:prstGeom>
          <a:solidFill>
            <a:srgbClr val="D4740E"/>
          </a:solidFill>
          <a:ln/>
        </p:spPr>
      </p:sp>
      <p:sp>
        <p:nvSpPr>
          <p:cNvPr id="26" name="Text 24"/>
          <p:cNvSpPr/>
          <p:nvPr/>
        </p:nvSpPr>
        <p:spPr>
          <a:xfrm>
            <a:off x="4846320" y="2834640"/>
            <a:ext cx="457200" cy="457200"/>
          </a:xfrm>
          <a:prstGeom prst="rect">
            <a:avLst/>
          </a:prstGeom>
          <a:noFill/>
          <a:ln/>
        </p:spPr>
        <p:txBody>
          <a:bodyPr wrap="square" lIns="0" tIns="0" rIns="0" bIns="0" rtlCol="0" anchor="ctr"/>
          <a:lstStyle/>
          <a:p>
            <a:pPr indent="0" marL="0">
              <a:buNone/>
            </a:pPr>
            <a:r>
              <a:rPr lang="en-US" sz="2200" b="1" dirty="0">
                <a:solidFill>
                  <a:srgbClr val="0E7C7B"/>
                </a:solidFill>
                <a:latin typeface="Trebuchet MS" pitchFamily="34" charset="0"/>
                <a:ea typeface="Trebuchet MS" pitchFamily="34" charset="-122"/>
                <a:cs typeface="Trebuchet MS" pitchFamily="34" charset="-120"/>
              </a:rPr>
              <a:t>06</a:t>
            </a:r>
            <a:endParaRPr lang="en-US" sz="2200" dirty="0"/>
          </a:p>
        </p:txBody>
      </p:sp>
      <p:sp>
        <p:nvSpPr>
          <p:cNvPr id="27" name="Text 25"/>
          <p:cNvSpPr/>
          <p:nvPr/>
        </p:nvSpPr>
        <p:spPr>
          <a:xfrm>
            <a:off x="5303520" y="2880360"/>
            <a:ext cx="2743200" cy="411480"/>
          </a:xfrm>
          <a:prstGeom prst="rect">
            <a:avLst/>
          </a:prstGeom>
          <a:noFill/>
          <a:ln/>
        </p:spPr>
        <p:txBody>
          <a:bodyPr wrap="square" lIns="0" tIns="0" rIns="0" bIns="0" rtlCol="0" anchor="ctr"/>
          <a:lstStyle/>
          <a:p>
            <a:pPr indent="0" marL="0">
              <a:buNone/>
            </a:pPr>
            <a:r>
              <a:rPr lang="en-US" sz="1200" dirty="0">
                <a:solidFill>
                  <a:srgbClr val="333333"/>
                </a:solidFill>
                <a:latin typeface="Calibri" pitchFamily="34" charset="0"/>
                <a:ea typeface="Calibri" pitchFamily="34" charset="-122"/>
                <a:cs typeface="Calibri" pitchFamily="34" charset="-120"/>
              </a:rPr>
              <a:t>RACI Model &amp; Governance Roles</a:t>
            </a:r>
            <a:endParaRPr lang="en-US" sz="1200" dirty="0"/>
          </a:p>
        </p:txBody>
      </p:sp>
      <p:sp>
        <p:nvSpPr>
          <p:cNvPr id="28" name="Shape 26"/>
          <p:cNvSpPr/>
          <p:nvPr/>
        </p:nvSpPr>
        <p:spPr>
          <a:xfrm>
            <a:off x="548640" y="3611880"/>
            <a:ext cx="3657600" cy="658368"/>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9" name="Shape 27"/>
          <p:cNvSpPr/>
          <p:nvPr/>
        </p:nvSpPr>
        <p:spPr>
          <a:xfrm>
            <a:off x="548640" y="3611880"/>
            <a:ext cx="54864" cy="658368"/>
          </a:xfrm>
          <a:prstGeom prst="rect">
            <a:avLst/>
          </a:prstGeom>
          <a:solidFill>
            <a:srgbClr val="0E7C7B"/>
          </a:solidFill>
          <a:ln/>
        </p:spPr>
      </p:sp>
      <p:sp>
        <p:nvSpPr>
          <p:cNvPr id="30" name="Text 28"/>
          <p:cNvSpPr/>
          <p:nvPr/>
        </p:nvSpPr>
        <p:spPr>
          <a:xfrm>
            <a:off x="731520" y="3703320"/>
            <a:ext cx="457200" cy="457200"/>
          </a:xfrm>
          <a:prstGeom prst="rect">
            <a:avLst/>
          </a:prstGeom>
          <a:noFill/>
          <a:ln/>
        </p:spPr>
        <p:txBody>
          <a:bodyPr wrap="square" lIns="0" tIns="0" rIns="0" bIns="0" rtlCol="0" anchor="ctr"/>
          <a:lstStyle/>
          <a:p>
            <a:pPr indent="0" marL="0">
              <a:buNone/>
            </a:pPr>
            <a:r>
              <a:rPr lang="en-US" sz="2200" b="1" dirty="0">
                <a:solidFill>
                  <a:srgbClr val="0E7C7B"/>
                </a:solidFill>
                <a:latin typeface="Trebuchet MS" pitchFamily="34" charset="0"/>
                <a:ea typeface="Trebuchet MS" pitchFamily="34" charset="-122"/>
                <a:cs typeface="Trebuchet MS" pitchFamily="34" charset="-120"/>
              </a:rPr>
              <a:t>07</a:t>
            </a:r>
            <a:endParaRPr lang="en-US" sz="2200" dirty="0"/>
          </a:p>
        </p:txBody>
      </p:sp>
      <p:sp>
        <p:nvSpPr>
          <p:cNvPr id="31" name="Text 29"/>
          <p:cNvSpPr/>
          <p:nvPr/>
        </p:nvSpPr>
        <p:spPr>
          <a:xfrm>
            <a:off x="1188720" y="3749040"/>
            <a:ext cx="2743200" cy="411480"/>
          </a:xfrm>
          <a:prstGeom prst="rect">
            <a:avLst/>
          </a:prstGeom>
          <a:noFill/>
          <a:ln/>
        </p:spPr>
        <p:txBody>
          <a:bodyPr wrap="square" lIns="0" tIns="0" rIns="0" bIns="0" rtlCol="0" anchor="ctr"/>
          <a:lstStyle/>
          <a:p>
            <a:pPr indent="0" marL="0">
              <a:buNone/>
            </a:pPr>
            <a:r>
              <a:rPr lang="en-US" sz="1200" dirty="0">
                <a:solidFill>
                  <a:srgbClr val="333333"/>
                </a:solidFill>
                <a:latin typeface="Calibri" pitchFamily="34" charset="0"/>
                <a:ea typeface="Calibri" pitchFamily="34" charset="-122"/>
                <a:cs typeface="Calibri" pitchFamily="34" charset="-120"/>
              </a:rPr>
              <a:t>Maturity Assessment Framework</a:t>
            </a:r>
            <a:endParaRPr lang="en-US" sz="1200" dirty="0"/>
          </a:p>
        </p:txBody>
      </p:sp>
      <p:sp>
        <p:nvSpPr>
          <p:cNvPr id="32" name="Shape 30"/>
          <p:cNvSpPr/>
          <p:nvPr/>
        </p:nvSpPr>
        <p:spPr>
          <a:xfrm>
            <a:off x="4663440" y="3611880"/>
            <a:ext cx="3657600" cy="658368"/>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33" name="Shape 31"/>
          <p:cNvSpPr/>
          <p:nvPr/>
        </p:nvSpPr>
        <p:spPr>
          <a:xfrm>
            <a:off x="4663440" y="3611880"/>
            <a:ext cx="54864" cy="658368"/>
          </a:xfrm>
          <a:prstGeom prst="rect">
            <a:avLst/>
          </a:prstGeom>
          <a:solidFill>
            <a:srgbClr val="D4740E"/>
          </a:solidFill>
          <a:ln/>
        </p:spPr>
      </p:sp>
      <p:sp>
        <p:nvSpPr>
          <p:cNvPr id="34" name="Text 32"/>
          <p:cNvSpPr/>
          <p:nvPr/>
        </p:nvSpPr>
        <p:spPr>
          <a:xfrm>
            <a:off x="4846320" y="3703320"/>
            <a:ext cx="457200" cy="457200"/>
          </a:xfrm>
          <a:prstGeom prst="rect">
            <a:avLst/>
          </a:prstGeom>
          <a:noFill/>
          <a:ln/>
        </p:spPr>
        <p:txBody>
          <a:bodyPr wrap="square" lIns="0" tIns="0" rIns="0" bIns="0" rtlCol="0" anchor="ctr"/>
          <a:lstStyle/>
          <a:p>
            <a:pPr indent="0" marL="0">
              <a:buNone/>
            </a:pPr>
            <a:r>
              <a:rPr lang="en-US" sz="2200" b="1" dirty="0">
                <a:solidFill>
                  <a:srgbClr val="0E7C7B"/>
                </a:solidFill>
                <a:latin typeface="Trebuchet MS" pitchFamily="34" charset="0"/>
                <a:ea typeface="Trebuchet MS" pitchFamily="34" charset="-122"/>
                <a:cs typeface="Trebuchet MS" pitchFamily="34" charset="-120"/>
              </a:rPr>
              <a:t>08</a:t>
            </a:r>
            <a:endParaRPr lang="en-US" sz="2200" dirty="0"/>
          </a:p>
        </p:txBody>
      </p:sp>
      <p:sp>
        <p:nvSpPr>
          <p:cNvPr id="35" name="Text 33"/>
          <p:cNvSpPr/>
          <p:nvPr/>
        </p:nvSpPr>
        <p:spPr>
          <a:xfrm>
            <a:off x="5303520" y="3749040"/>
            <a:ext cx="2743200" cy="411480"/>
          </a:xfrm>
          <a:prstGeom prst="rect">
            <a:avLst/>
          </a:prstGeom>
          <a:noFill/>
          <a:ln/>
        </p:spPr>
        <p:txBody>
          <a:bodyPr wrap="square" lIns="0" tIns="0" rIns="0" bIns="0" rtlCol="0" anchor="ctr"/>
          <a:lstStyle/>
          <a:p>
            <a:pPr indent="0" marL="0">
              <a:buNone/>
            </a:pPr>
            <a:r>
              <a:rPr lang="en-US" sz="1200" dirty="0">
                <a:solidFill>
                  <a:srgbClr val="333333"/>
                </a:solidFill>
                <a:latin typeface="Calibri" pitchFamily="34" charset="0"/>
                <a:ea typeface="Calibri" pitchFamily="34" charset="-122"/>
                <a:cs typeface="Calibri" pitchFamily="34" charset="-120"/>
              </a:rPr>
              <a:t>Risk Register &amp; Quick Wins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5C"/>
          </a:solidFill>
          <a:ln/>
        </p:spPr>
      </p:sp>
      <p:sp>
        <p:nvSpPr>
          <p:cNvPr id="3" name="Text 1"/>
          <p:cNvSpPr/>
          <p:nvPr/>
        </p:nvSpPr>
        <p:spPr>
          <a:xfrm>
            <a:off x="548640" y="137160"/>
            <a:ext cx="7315200" cy="54864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Executive Summary</a:t>
            </a:r>
            <a:endParaRPr lang="en-US" sz="2400" dirty="0"/>
          </a:p>
        </p:txBody>
      </p:sp>
      <p:sp>
        <p:nvSpPr>
          <p:cNvPr id="4" name="Text 2"/>
          <p:cNvSpPr/>
          <p:nvPr/>
        </p:nvSpPr>
        <p:spPr>
          <a:xfrm>
            <a:off x="548640" y="1051560"/>
            <a:ext cx="8046720" cy="640080"/>
          </a:xfrm>
          <a:prstGeom prst="rect">
            <a:avLst/>
          </a:prstGeom>
          <a:noFill/>
          <a:ln/>
        </p:spPr>
        <p:txBody>
          <a:bodyPr wrap="square" lIns="0" tIns="0" rIns="0" bIns="0" rtlCol="0" anchor="ctr"/>
          <a:lstStyle/>
          <a:p>
            <a:pPr indent="0" marL="0">
              <a:buNone/>
            </a:pPr>
            <a:r>
              <a:rPr lang="en-US" sz="1200" dirty="0">
                <a:solidFill>
                  <a:srgbClr val="333333"/>
                </a:solidFill>
                <a:latin typeface="Calibri" pitchFamily="34" charset="0"/>
                <a:ea typeface="Calibri" pitchFamily="34" charset="-122"/>
                <a:cs typeface="Calibri" pitchFamily="34" charset="-120"/>
              </a:rPr>
              <a:t>Microsoft Purview unifies data governance, data security, and data compliance into a single management experience. Achieving maturity requires a carefully sequenced implementation where each module builds upon capabilities established before it.</a:t>
            </a:r>
            <a:endParaRPr lang="en-US" sz="1200" dirty="0"/>
          </a:p>
        </p:txBody>
      </p:sp>
      <p:sp>
        <p:nvSpPr>
          <p:cNvPr id="5" name="Shape 3"/>
          <p:cNvSpPr/>
          <p:nvPr/>
        </p:nvSpPr>
        <p:spPr>
          <a:xfrm>
            <a:off x="548640" y="1920240"/>
            <a:ext cx="8046720" cy="10972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548640" y="1920240"/>
            <a:ext cx="73152" cy="1097280"/>
          </a:xfrm>
          <a:prstGeom prst="rect">
            <a:avLst/>
          </a:prstGeom>
          <a:solidFill>
            <a:srgbClr val="D4740E"/>
          </a:solidFill>
          <a:ln/>
        </p:spPr>
      </p:sp>
      <p:sp>
        <p:nvSpPr>
          <p:cNvPr id="7" name="Text 5"/>
          <p:cNvSpPr/>
          <p:nvPr/>
        </p:nvSpPr>
        <p:spPr>
          <a:xfrm>
            <a:off x="822960" y="2011680"/>
            <a:ext cx="2743200" cy="274320"/>
          </a:xfrm>
          <a:prstGeom prst="rect">
            <a:avLst/>
          </a:prstGeom>
          <a:noFill/>
          <a:ln/>
        </p:spPr>
        <p:txBody>
          <a:bodyPr wrap="square" lIns="0" tIns="0" rIns="0" bIns="0" rtlCol="0" anchor="ctr"/>
          <a:lstStyle/>
          <a:p>
            <a:pPr indent="0" marL="0">
              <a:buNone/>
            </a:pPr>
            <a:r>
              <a:rPr lang="en-US" sz="1100" b="1" dirty="0">
                <a:solidFill>
                  <a:srgbClr val="D4740E"/>
                </a:solidFill>
                <a:latin typeface="Calibri" pitchFamily="34" charset="0"/>
                <a:ea typeface="Calibri" pitchFamily="34" charset="-122"/>
                <a:cs typeface="Calibri" pitchFamily="34" charset="-120"/>
              </a:rPr>
              <a:t>CORE PRINCIPLE</a:t>
            </a:r>
            <a:endParaRPr lang="en-US" sz="1100" dirty="0"/>
          </a:p>
        </p:txBody>
      </p:sp>
      <p:sp>
        <p:nvSpPr>
          <p:cNvPr id="8" name="Text 6"/>
          <p:cNvSpPr/>
          <p:nvPr/>
        </p:nvSpPr>
        <p:spPr>
          <a:xfrm>
            <a:off x="822960" y="2286000"/>
            <a:ext cx="7498080" cy="548640"/>
          </a:xfrm>
          <a:prstGeom prst="rect">
            <a:avLst/>
          </a:prstGeom>
          <a:noFill/>
          <a:ln/>
        </p:spPr>
        <p:txBody>
          <a:bodyPr wrap="square" lIns="0" tIns="0" rIns="0" bIns="0" rtlCol="0" anchor="ctr"/>
          <a:lstStyle/>
          <a:p>
            <a:pPr indent="0" marL="0">
              <a:buNone/>
            </a:pPr>
            <a:r>
              <a:rPr lang="en-US" sz="1300" i="1" dirty="0">
                <a:solidFill>
                  <a:srgbClr val="1B3A5C"/>
                </a:solidFill>
                <a:latin typeface="Calibri" pitchFamily="34" charset="0"/>
                <a:ea typeface="Calibri" pitchFamily="34" charset="-122"/>
                <a:cs typeface="Calibri" pitchFamily="34" charset="-120"/>
              </a:rPr>
              <a:t>You cannot protect what you cannot see, you cannot govern what you have not classified, and you cannot create business value from data that lacks business context.</a:t>
            </a:r>
            <a:endParaRPr lang="en-US" sz="1300" dirty="0"/>
          </a:p>
        </p:txBody>
      </p:sp>
      <p:sp>
        <p:nvSpPr>
          <p:cNvPr id="9" name="Shape 7"/>
          <p:cNvSpPr/>
          <p:nvPr/>
        </p:nvSpPr>
        <p:spPr>
          <a:xfrm>
            <a:off x="548640" y="3291840"/>
            <a:ext cx="2560320" cy="1371600"/>
          </a:xfrm>
          <a:prstGeom prst="rect">
            <a:avLst/>
          </a:prstGeom>
          <a:solidFill>
            <a:srgbClr val="E8EEF4"/>
          </a:solidFill>
          <a:ln/>
          <a:effectLst>
            <a:outerShdw sx="100000" sy="100000" kx="0" ky="0" algn="bl" rotWithShape="0" blurRad="76200" dist="25400" dir="8100000">
              <a:srgbClr val="000000">
                <a:alpha val="12000"/>
              </a:srgbClr>
            </a:outerShdw>
          </a:effectLst>
        </p:spPr>
      </p:sp>
      <p:pic>
        <p:nvPicPr>
          <p:cNvPr id="10" name="Image 0" descr="preencoded.png"/>
          <p:cNvPicPr>
            <a:picLocks noChangeAspect="1"/>
          </p:cNvPicPr>
          <p:nvPr/>
        </p:nvPicPr>
        <p:blipFill>
          <a:blip r:embed="rId1"/>
          <a:stretch>
            <a:fillRect/>
          </a:stretch>
        </p:blipFill>
        <p:spPr>
          <a:xfrm>
            <a:off x="685800" y="3429000"/>
            <a:ext cx="320040" cy="320040"/>
          </a:xfrm>
          <a:prstGeom prst="rect">
            <a:avLst/>
          </a:prstGeom>
        </p:spPr>
      </p:pic>
      <p:sp>
        <p:nvSpPr>
          <p:cNvPr id="11" name="Text 8"/>
          <p:cNvSpPr/>
          <p:nvPr/>
        </p:nvSpPr>
        <p:spPr>
          <a:xfrm>
            <a:off x="1097280" y="3429000"/>
            <a:ext cx="1828800" cy="320040"/>
          </a:xfrm>
          <a:prstGeom prst="rect">
            <a:avLst/>
          </a:prstGeom>
          <a:noFill/>
          <a:ln/>
        </p:spPr>
        <p:txBody>
          <a:bodyPr wrap="square" lIns="0" tIns="0" rIns="0" bIns="0" rtlCol="0" anchor="ctr"/>
          <a:lstStyle/>
          <a:p>
            <a:pPr indent="0" marL="0">
              <a:buNone/>
            </a:pPr>
            <a:r>
              <a:rPr lang="en-US" sz="1300" b="1" dirty="0">
                <a:solidFill>
                  <a:srgbClr val="1B3A5C"/>
                </a:solidFill>
                <a:latin typeface="Calibri" pitchFamily="34" charset="0"/>
                <a:ea typeface="Calibri" pitchFamily="34" charset="-122"/>
                <a:cs typeface="Calibri" pitchFamily="34" charset="-120"/>
              </a:rPr>
              <a:t>Data Governance</a:t>
            </a:r>
            <a:endParaRPr lang="en-US" sz="1300" dirty="0"/>
          </a:p>
        </p:txBody>
      </p:sp>
      <p:sp>
        <p:nvSpPr>
          <p:cNvPr id="12" name="Text 9"/>
          <p:cNvSpPr/>
          <p:nvPr/>
        </p:nvSpPr>
        <p:spPr>
          <a:xfrm>
            <a:off x="685800" y="3886200"/>
            <a:ext cx="2286000" cy="54864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Discover, classify &amp; manage data across your estate</a:t>
            </a:r>
            <a:endParaRPr lang="en-US" sz="1000" dirty="0"/>
          </a:p>
        </p:txBody>
      </p:sp>
      <p:sp>
        <p:nvSpPr>
          <p:cNvPr id="13" name="Shape 10"/>
          <p:cNvSpPr/>
          <p:nvPr/>
        </p:nvSpPr>
        <p:spPr>
          <a:xfrm>
            <a:off x="3383280" y="3291840"/>
            <a:ext cx="2560320" cy="1371600"/>
          </a:xfrm>
          <a:prstGeom prst="rect">
            <a:avLst/>
          </a:prstGeom>
          <a:solidFill>
            <a:srgbClr val="E0F2F1"/>
          </a:solidFill>
          <a:ln/>
          <a:effectLst>
            <a:outerShdw sx="100000" sy="100000" kx="0" ky="0" algn="bl" rotWithShape="0" blurRad="76200" dist="25400" dir="8100000">
              <a:srgbClr val="000000">
                <a:alpha val="12000"/>
              </a:srgbClr>
            </a:outerShdw>
          </a:effectLst>
        </p:spPr>
      </p:sp>
      <p:pic>
        <p:nvPicPr>
          <p:cNvPr id="14" name="Image 1" descr="preencoded.png"/>
          <p:cNvPicPr>
            <a:picLocks noChangeAspect="1"/>
          </p:cNvPicPr>
          <p:nvPr/>
        </p:nvPicPr>
        <p:blipFill>
          <a:blip r:embed="rId2"/>
          <a:stretch>
            <a:fillRect/>
          </a:stretch>
        </p:blipFill>
        <p:spPr>
          <a:xfrm>
            <a:off x="3520440" y="3429000"/>
            <a:ext cx="320040" cy="320040"/>
          </a:xfrm>
          <a:prstGeom prst="rect">
            <a:avLst/>
          </a:prstGeom>
        </p:spPr>
      </p:pic>
      <p:sp>
        <p:nvSpPr>
          <p:cNvPr id="15" name="Text 11"/>
          <p:cNvSpPr/>
          <p:nvPr/>
        </p:nvSpPr>
        <p:spPr>
          <a:xfrm>
            <a:off x="3931920" y="3429000"/>
            <a:ext cx="1828800" cy="320040"/>
          </a:xfrm>
          <a:prstGeom prst="rect">
            <a:avLst/>
          </a:prstGeom>
          <a:noFill/>
          <a:ln/>
        </p:spPr>
        <p:txBody>
          <a:bodyPr wrap="square" lIns="0" tIns="0" rIns="0" bIns="0" rtlCol="0" anchor="ctr"/>
          <a:lstStyle/>
          <a:p>
            <a:pPr indent="0" marL="0">
              <a:buNone/>
            </a:pPr>
            <a:r>
              <a:rPr lang="en-US" sz="1300" b="1" dirty="0">
                <a:solidFill>
                  <a:srgbClr val="1B3A5C"/>
                </a:solidFill>
                <a:latin typeface="Calibri" pitchFamily="34" charset="0"/>
                <a:ea typeface="Calibri" pitchFamily="34" charset="-122"/>
                <a:cs typeface="Calibri" pitchFamily="34" charset="-120"/>
              </a:rPr>
              <a:t>Data Security</a:t>
            </a:r>
            <a:endParaRPr lang="en-US" sz="1300" dirty="0"/>
          </a:p>
        </p:txBody>
      </p:sp>
      <p:sp>
        <p:nvSpPr>
          <p:cNvPr id="16" name="Text 12"/>
          <p:cNvSpPr/>
          <p:nvPr/>
        </p:nvSpPr>
        <p:spPr>
          <a:xfrm>
            <a:off x="3520440" y="3886200"/>
            <a:ext cx="2286000" cy="54864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Protect sensitive data with labels, DLP &amp; DSPM</a:t>
            </a:r>
            <a:endParaRPr lang="en-US" sz="1000" dirty="0"/>
          </a:p>
        </p:txBody>
      </p:sp>
      <p:sp>
        <p:nvSpPr>
          <p:cNvPr id="17" name="Shape 13"/>
          <p:cNvSpPr/>
          <p:nvPr/>
        </p:nvSpPr>
        <p:spPr>
          <a:xfrm>
            <a:off x="6217920" y="3291840"/>
            <a:ext cx="2560320" cy="1371600"/>
          </a:xfrm>
          <a:prstGeom prst="rect">
            <a:avLst/>
          </a:prstGeom>
          <a:solidFill>
            <a:srgbClr val="FFF3E8"/>
          </a:solidFill>
          <a:ln/>
          <a:effectLst>
            <a:outerShdw sx="100000" sy="100000" kx="0" ky="0" algn="bl" rotWithShape="0" blurRad="76200" dist="25400" dir="8100000">
              <a:srgbClr val="000000">
                <a:alpha val="12000"/>
              </a:srgbClr>
            </a:outerShdw>
          </a:effectLst>
        </p:spPr>
      </p:sp>
      <p:pic>
        <p:nvPicPr>
          <p:cNvPr id="18" name="Image 2" descr="preencoded.png"/>
          <p:cNvPicPr>
            <a:picLocks noChangeAspect="1"/>
          </p:cNvPicPr>
          <p:nvPr/>
        </p:nvPicPr>
        <p:blipFill>
          <a:blip r:embed="rId3"/>
          <a:stretch>
            <a:fillRect/>
          </a:stretch>
        </p:blipFill>
        <p:spPr>
          <a:xfrm>
            <a:off x="6355080" y="3429000"/>
            <a:ext cx="320040" cy="320040"/>
          </a:xfrm>
          <a:prstGeom prst="rect">
            <a:avLst/>
          </a:prstGeom>
        </p:spPr>
      </p:pic>
      <p:sp>
        <p:nvSpPr>
          <p:cNvPr id="19" name="Text 14"/>
          <p:cNvSpPr/>
          <p:nvPr/>
        </p:nvSpPr>
        <p:spPr>
          <a:xfrm>
            <a:off x="6766560" y="3429000"/>
            <a:ext cx="1828800" cy="320040"/>
          </a:xfrm>
          <a:prstGeom prst="rect">
            <a:avLst/>
          </a:prstGeom>
          <a:noFill/>
          <a:ln/>
        </p:spPr>
        <p:txBody>
          <a:bodyPr wrap="square" lIns="0" tIns="0" rIns="0" bIns="0" rtlCol="0" anchor="ctr"/>
          <a:lstStyle/>
          <a:p>
            <a:pPr indent="0" marL="0">
              <a:buNone/>
            </a:pPr>
            <a:r>
              <a:rPr lang="en-US" sz="1300" b="1" dirty="0">
                <a:solidFill>
                  <a:srgbClr val="1B3A5C"/>
                </a:solidFill>
                <a:latin typeface="Calibri" pitchFamily="34" charset="0"/>
                <a:ea typeface="Calibri" pitchFamily="34" charset="-122"/>
                <a:cs typeface="Calibri" pitchFamily="34" charset="-120"/>
              </a:rPr>
              <a:t>Data Compliance</a:t>
            </a:r>
            <a:endParaRPr lang="en-US" sz="1300" dirty="0"/>
          </a:p>
        </p:txBody>
      </p:sp>
      <p:sp>
        <p:nvSpPr>
          <p:cNvPr id="20" name="Text 15"/>
          <p:cNvSpPr/>
          <p:nvPr/>
        </p:nvSpPr>
        <p:spPr>
          <a:xfrm>
            <a:off x="6355080" y="3886200"/>
            <a:ext cx="2286000" cy="54864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Meet regulatory requirements &amp; manage lifecycle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5C"/>
          </a:solidFill>
          <a:ln/>
        </p:spPr>
      </p:sp>
      <p:sp>
        <p:nvSpPr>
          <p:cNvPr id="3" name="Text 1"/>
          <p:cNvSpPr/>
          <p:nvPr/>
        </p:nvSpPr>
        <p:spPr>
          <a:xfrm>
            <a:off x="548640" y="137160"/>
            <a:ext cx="7315200" cy="54864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The Purview Ecosystem – Three Pillars</a:t>
            </a:r>
            <a:endParaRPr lang="en-US" sz="2400" dirty="0"/>
          </a:p>
        </p:txBody>
      </p:sp>
      <p:sp>
        <p:nvSpPr>
          <p:cNvPr id="4" name="Shape 2"/>
          <p:cNvSpPr/>
          <p:nvPr/>
        </p:nvSpPr>
        <p:spPr>
          <a:xfrm>
            <a:off x="365760" y="960120"/>
            <a:ext cx="2697480" cy="2926080"/>
          </a:xfrm>
          <a:prstGeom prst="rect">
            <a:avLst/>
          </a:prstGeom>
          <a:solidFill>
            <a:srgbClr val="1B3A5C"/>
          </a:solidFill>
          <a:ln/>
          <a:effectLst>
            <a:outerShdw sx="100000" sy="100000" kx="0" ky="0" algn="bl" rotWithShape="0" blurRad="76200" dist="25400" dir="8100000">
              <a:srgbClr val="000000">
                <a:alpha val="12000"/>
              </a:srgbClr>
            </a:outerShdw>
          </a:effectLst>
        </p:spPr>
      </p:sp>
      <p:sp>
        <p:nvSpPr>
          <p:cNvPr id="5" name="Text 3"/>
          <p:cNvSpPr/>
          <p:nvPr/>
        </p:nvSpPr>
        <p:spPr>
          <a:xfrm>
            <a:off x="365760" y="1051560"/>
            <a:ext cx="269748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DATA GOVERNANCE</a:t>
            </a:r>
            <a:endParaRPr lang="en-US" sz="1400" dirty="0"/>
          </a:p>
        </p:txBody>
      </p:sp>
      <p:sp>
        <p:nvSpPr>
          <p:cNvPr id="6" name="Text 4"/>
          <p:cNvSpPr/>
          <p:nvPr/>
        </p:nvSpPr>
        <p:spPr>
          <a:xfrm>
            <a:off x="365760" y="1325880"/>
            <a:ext cx="2697480" cy="201168"/>
          </a:xfrm>
          <a:prstGeom prst="rect">
            <a:avLst/>
          </a:prstGeom>
          <a:noFill/>
          <a:ln/>
        </p:spPr>
        <p:txBody>
          <a:bodyPr wrap="square" lIns="0" tIns="0" rIns="0" bIns="0"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Azure Purview</a:t>
            </a:r>
            <a:endParaRPr lang="en-US" sz="900" dirty="0"/>
          </a:p>
        </p:txBody>
      </p:sp>
      <p:sp>
        <p:nvSpPr>
          <p:cNvPr id="7" name="Shape 5"/>
          <p:cNvSpPr/>
          <p:nvPr/>
        </p:nvSpPr>
        <p:spPr>
          <a:xfrm>
            <a:off x="475488" y="1627632"/>
            <a:ext cx="2478024" cy="274320"/>
          </a:xfrm>
          <a:prstGeom prst="rect">
            <a:avLst/>
          </a:prstGeom>
          <a:solidFill>
            <a:srgbClr val="FFFFFF">
              <a:alpha val="15000"/>
            </a:srgbClr>
          </a:solidFill>
          <a:ln/>
        </p:spPr>
      </p:sp>
      <p:sp>
        <p:nvSpPr>
          <p:cNvPr id="8" name="Text 6"/>
          <p:cNvSpPr/>
          <p:nvPr/>
        </p:nvSpPr>
        <p:spPr>
          <a:xfrm>
            <a:off x="475488" y="1627632"/>
            <a:ext cx="247802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Data Map &amp; Scanning</a:t>
            </a:r>
            <a:endParaRPr lang="en-US" sz="1000" dirty="0"/>
          </a:p>
        </p:txBody>
      </p:sp>
      <p:sp>
        <p:nvSpPr>
          <p:cNvPr id="9" name="Shape 7"/>
          <p:cNvSpPr/>
          <p:nvPr/>
        </p:nvSpPr>
        <p:spPr>
          <a:xfrm>
            <a:off x="475488" y="1975104"/>
            <a:ext cx="2478024" cy="274320"/>
          </a:xfrm>
          <a:prstGeom prst="rect">
            <a:avLst/>
          </a:prstGeom>
          <a:solidFill>
            <a:srgbClr val="FFFFFF">
              <a:alpha val="15000"/>
            </a:srgbClr>
          </a:solidFill>
          <a:ln/>
        </p:spPr>
      </p:sp>
      <p:sp>
        <p:nvSpPr>
          <p:cNvPr id="10" name="Text 8"/>
          <p:cNvSpPr/>
          <p:nvPr/>
        </p:nvSpPr>
        <p:spPr>
          <a:xfrm>
            <a:off x="475488" y="1975104"/>
            <a:ext cx="247802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Unified Catalog</a:t>
            </a:r>
            <a:endParaRPr lang="en-US" sz="1000" dirty="0"/>
          </a:p>
        </p:txBody>
      </p:sp>
      <p:sp>
        <p:nvSpPr>
          <p:cNvPr id="11" name="Shape 9"/>
          <p:cNvSpPr/>
          <p:nvPr/>
        </p:nvSpPr>
        <p:spPr>
          <a:xfrm>
            <a:off x="475488" y="2322576"/>
            <a:ext cx="2478024" cy="274320"/>
          </a:xfrm>
          <a:prstGeom prst="rect">
            <a:avLst/>
          </a:prstGeom>
          <a:solidFill>
            <a:srgbClr val="FFFFFF">
              <a:alpha val="15000"/>
            </a:srgbClr>
          </a:solidFill>
          <a:ln/>
        </p:spPr>
      </p:sp>
      <p:sp>
        <p:nvSpPr>
          <p:cNvPr id="12" name="Text 10"/>
          <p:cNvSpPr/>
          <p:nvPr/>
        </p:nvSpPr>
        <p:spPr>
          <a:xfrm>
            <a:off x="475488" y="2322576"/>
            <a:ext cx="247802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Glossary &amp; Products</a:t>
            </a:r>
            <a:endParaRPr lang="en-US" sz="1000" dirty="0"/>
          </a:p>
        </p:txBody>
      </p:sp>
      <p:sp>
        <p:nvSpPr>
          <p:cNvPr id="13" name="Shape 11"/>
          <p:cNvSpPr/>
          <p:nvPr/>
        </p:nvSpPr>
        <p:spPr>
          <a:xfrm>
            <a:off x="475488" y="2670048"/>
            <a:ext cx="2478024" cy="274320"/>
          </a:xfrm>
          <a:prstGeom prst="rect">
            <a:avLst/>
          </a:prstGeom>
          <a:solidFill>
            <a:srgbClr val="FFFFFF">
              <a:alpha val="15000"/>
            </a:srgbClr>
          </a:solidFill>
          <a:ln/>
        </p:spPr>
      </p:sp>
      <p:sp>
        <p:nvSpPr>
          <p:cNvPr id="14" name="Text 12"/>
          <p:cNvSpPr/>
          <p:nvPr/>
        </p:nvSpPr>
        <p:spPr>
          <a:xfrm>
            <a:off x="475488" y="2670048"/>
            <a:ext cx="247802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CDEs &amp; OKRs</a:t>
            </a:r>
            <a:endParaRPr lang="en-US" sz="1000" dirty="0"/>
          </a:p>
        </p:txBody>
      </p:sp>
      <p:sp>
        <p:nvSpPr>
          <p:cNvPr id="15" name="Shape 13"/>
          <p:cNvSpPr/>
          <p:nvPr/>
        </p:nvSpPr>
        <p:spPr>
          <a:xfrm>
            <a:off x="475488" y="3017520"/>
            <a:ext cx="2478024" cy="274320"/>
          </a:xfrm>
          <a:prstGeom prst="rect">
            <a:avLst/>
          </a:prstGeom>
          <a:solidFill>
            <a:srgbClr val="FFFFFF">
              <a:alpha val="15000"/>
            </a:srgbClr>
          </a:solidFill>
          <a:ln/>
        </p:spPr>
      </p:sp>
      <p:sp>
        <p:nvSpPr>
          <p:cNvPr id="16" name="Text 14"/>
          <p:cNvSpPr/>
          <p:nvPr/>
        </p:nvSpPr>
        <p:spPr>
          <a:xfrm>
            <a:off x="475488" y="3017520"/>
            <a:ext cx="247802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Data Quality</a:t>
            </a:r>
            <a:endParaRPr lang="en-US" sz="1000" dirty="0"/>
          </a:p>
        </p:txBody>
      </p:sp>
      <p:sp>
        <p:nvSpPr>
          <p:cNvPr id="17" name="Shape 15"/>
          <p:cNvSpPr/>
          <p:nvPr/>
        </p:nvSpPr>
        <p:spPr>
          <a:xfrm>
            <a:off x="475488" y="3364992"/>
            <a:ext cx="2478024" cy="274320"/>
          </a:xfrm>
          <a:prstGeom prst="rect">
            <a:avLst/>
          </a:prstGeom>
          <a:solidFill>
            <a:srgbClr val="FFFFFF">
              <a:alpha val="15000"/>
            </a:srgbClr>
          </a:solidFill>
          <a:ln/>
        </p:spPr>
      </p:sp>
      <p:sp>
        <p:nvSpPr>
          <p:cNvPr id="18" name="Text 16"/>
          <p:cNvSpPr/>
          <p:nvPr/>
        </p:nvSpPr>
        <p:spPr>
          <a:xfrm>
            <a:off x="475488" y="3364992"/>
            <a:ext cx="247802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Lineage</a:t>
            </a:r>
            <a:endParaRPr lang="en-US" sz="1000" dirty="0"/>
          </a:p>
        </p:txBody>
      </p:sp>
      <p:sp>
        <p:nvSpPr>
          <p:cNvPr id="19" name="Shape 17"/>
          <p:cNvSpPr/>
          <p:nvPr/>
        </p:nvSpPr>
        <p:spPr>
          <a:xfrm>
            <a:off x="3246120" y="960120"/>
            <a:ext cx="2697480" cy="2926080"/>
          </a:xfrm>
          <a:prstGeom prst="rect">
            <a:avLst/>
          </a:prstGeom>
          <a:solidFill>
            <a:srgbClr val="0E7C7B"/>
          </a:solidFill>
          <a:ln/>
          <a:effectLst>
            <a:outerShdw sx="100000" sy="100000" kx="0" ky="0" algn="bl" rotWithShape="0" blurRad="76200" dist="25400" dir="8100000">
              <a:srgbClr val="000000">
                <a:alpha val="12000"/>
              </a:srgbClr>
            </a:outerShdw>
          </a:effectLst>
        </p:spPr>
      </p:sp>
      <p:sp>
        <p:nvSpPr>
          <p:cNvPr id="20" name="Text 18"/>
          <p:cNvSpPr/>
          <p:nvPr/>
        </p:nvSpPr>
        <p:spPr>
          <a:xfrm>
            <a:off x="3246120" y="1051560"/>
            <a:ext cx="269748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DATA SECURITY</a:t>
            </a:r>
            <a:endParaRPr lang="en-US" sz="1400" dirty="0"/>
          </a:p>
        </p:txBody>
      </p:sp>
      <p:sp>
        <p:nvSpPr>
          <p:cNvPr id="21" name="Text 19"/>
          <p:cNvSpPr/>
          <p:nvPr/>
        </p:nvSpPr>
        <p:spPr>
          <a:xfrm>
            <a:off x="3246120" y="1325880"/>
            <a:ext cx="2697480" cy="201168"/>
          </a:xfrm>
          <a:prstGeom prst="rect">
            <a:avLst/>
          </a:prstGeom>
          <a:noFill/>
          <a:ln/>
        </p:spPr>
        <p:txBody>
          <a:bodyPr wrap="square" lIns="0" tIns="0" rIns="0" bIns="0"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M365 Purview</a:t>
            </a:r>
            <a:endParaRPr lang="en-US" sz="900" dirty="0"/>
          </a:p>
        </p:txBody>
      </p:sp>
      <p:sp>
        <p:nvSpPr>
          <p:cNvPr id="22" name="Shape 20"/>
          <p:cNvSpPr/>
          <p:nvPr/>
        </p:nvSpPr>
        <p:spPr>
          <a:xfrm>
            <a:off x="3355848" y="1627632"/>
            <a:ext cx="2478024" cy="274320"/>
          </a:xfrm>
          <a:prstGeom prst="rect">
            <a:avLst/>
          </a:prstGeom>
          <a:solidFill>
            <a:srgbClr val="FFFFFF">
              <a:alpha val="15000"/>
            </a:srgbClr>
          </a:solidFill>
          <a:ln/>
        </p:spPr>
      </p:sp>
      <p:sp>
        <p:nvSpPr>
          <p:cNvPr id="23" name="Text 21"/>
          <p:cNvSpPr/>
          <p:nvPr/>
        </p:nvSpPr>
        <p:spPr>
          <a:xfrm>
            <a:off x="3355848" y="1627632"/>
            <a:ext cx="247802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Sensitivity Labels</a:t>
            </a:r>
            <a:endParaRPr lang="en-US" sz="1000" dirty="0"/>
          </a:p>
        </p:txBody>
      </p:sp>
      <p:sp>
        <p:nvSpPr>
          <p:cNvPr id="24" name="Shape 22"/>
          <p:cNvSpPr/>
          <p:nvPr/>
        </p:nvSpPr>
        <p:spPr>
          <a:xfrm>
            <a:off x="3355848" y="1975104"/>
            <a:ext cx="2478024" cy="274320"/>
          </a:xfrm>
          <a:prstGeom prst="rect">
            <a:avLst/>
          </a:prstGeom>
          <a:solidFill>
            <a:srgbClr val="FFFFFF">
              <a:alpha val="15000"/>
            </a:srgbClr>
          </a:solidFill>
          <a:ln/>
        </p:spPr>
      </p:sp>
      <p:sp>
        <p:nvSpPr>
          <p:cNvPr id="25" name="Text 23"/>
          <p:cNvSpPr/>
          <p:nvPr/>
        </p:nvSpPr>
        <p:spPr>
          <a:xfrm>
            <a:off x="3355848" y="1975104"/>
            <a:ext cx="247802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DLP Policies</a:t>
            </a:r>
            <a:endParaRPr lang="en-US" sz="1000" dirty="0"/>
          </a:p>
        </p:txBody>
      </p:sp>
      <p:sp>
        <p:nvSpPr>
          <p:cNvPr id="26" name="Shape 24"/>
          <p:cNvSpPr/>
          <p:nvPr/>
        </p:nvSpPr>
        <p:spPr>
          <a:xfrm>
            <a:off x="3355848" y="2322576"/>
            <a:ext cx="2478024" cy="274320"/>
          </a:xfrm>
          <a:prstGeom prst="rect">
            <a:avLst/>
          </a:prstGeom>
          <a:solidFill>
            <a:srgbClr val="FFFFFF">
              <a:alpha val="15000"/>
            </a:srgbClr>
          </a:solidFill>
          <a:ln/>
        </p:spPr>
      </p:sp>
      <p:sp>
        <p:nvSpPr>
          <p:cNvPr id="27" name="Text 25"/>
          <p:cNvSpPr/>
          <p:nvPr/>
        </p:nvSpPr>
        <p:spPr>
          <a:xfrm>
            <a:off x="3355848" y="2322576"/>
            <a:ext cx="247802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Insider Risk Mgmt</a:t>
            </a:r>
            <a:endParaRPr lang="en-US" sz="1000" dirty="0"/>
          </a:p>
        </p:txBody>
      </p:sp>
      <p:sp>
        <p:nvSpPr>
          <p:cNvPr id="28" name="Shape 26"/>
          <p:cNvSpPr/>
          <p:nvPr/>
        </p:nvSpPr>
        <p:spPr>
          <a:xfrm>
            <a:off x="3355848" y="2670048"/>
            <a:ext cx="2478024" cy="274320"/>
          </a:xfrm>
          <a:prstGeom prst="rect">
            <a:avLst/>
          </a:prstGeom>
          <a:solidFill>
            <a:srgbClr val="FFFFFF">
              <a:alpha val="15000"/>
            </a:srgbClr>
          </a:solidFill>
          <a:ln/>
        </p:spPr>
      </p:sp>
      <p:sp>
        <p:nvSpPr>
          <p:cNvPr id="29" name="Text 27"/>
          <p:cNvSpPr/>
          <p:nvPr/>
        </p:nvSpPr>
        <p:spPr>
          <a:xfrm>
            <a:off x="3355848" y="2670048"/>
            <a:ext cx="247802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Adaptive Protection</a:t>
            </a:r>
            <a:endParaRPr lang="en-US" sz="1000" dirty="0"/>
          </a:p>
        </p:txBody>
      </p:sp>
      <p:sp>
        <p:nvSpPr>
          <p:cNvPr id="30" name="Shape 28"/>
          <p:cNvSpPr/>
          <p:nvPr/>
        </p:nvSpPr>
        <p:spPr>
          <a:xfrm>
            <a:off x="3355848" y="3017520"/>
            <a:ext cx="2478024" cy="274320"/>
          </a:xfrm>
          <a:prstGeom prst="rect">
            <a:avLst/>
          </a:prstGeom>
          <a:solidFill>
            <a:srgbClr val="FFFFFF">
              <a:alpha val="15000"/>
            </a:srgbClr>
          </a:solidFill>
          <a:ln/>
        </p:spPr>
      </p:sp>
      <p:sp>
        <p:nvSpPr>
          <p:cNvPr id="31" name="Text 29"/>
          <p:cNvSpPr/>
          <p:nvPr/>
        </p:nvSpPr>
        <p:spPr>
          <a:xfrm>
            <a:off x="3355848" y="3017520"/>
            <a:ext cx="247802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DSPM &amp; AI Obs.</a:t>
            </a:r>
            <a:endParaRPr lang="en-US" sz="1000" dirty="0"/>
          </a:p>
        </p:txBody>
      </p:sp>
      <p:sp>
        <p:nvSpPr>
          <p:cNvPr id="32" name="Shape 30"/>
          <p:cNvSpPr/>
          <p:nvPr/>
        </p:nvSpPr>
        <p:spPr>
          <a:xfrm>
            <a:off x="3355848" y="3364992"/>
            <a:ext cx="2478024" cy="274320"/>
          </a:xfrm>
          <a:prstGeom prst="rect">
            <a:avLst/>
          </a:prstGeom>
          <a:solidFill>
            <a:srgbClr val="FFFFFF">
              <a:alpha val="15000"/>
            </a:srgbClr>
          </a:solidFill>
          <a:ln/>
        </p:spPr>
      </p:sp>
      <p:sp>
        <p:nvSpPr>
          <p:cNvPr id="33" name="Text 31"/>
          <p:cNvSpPr/>
          <p:nvPr/>
        </p:nvSpPr>
        <p:spPr>
          <a:xfrm>
            <a:off x="3355848" y="3364992"/>
            <a:ext cx="247802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Network Security</a:t>
            </a:r>
            <a:endParaRPr lang="en-US" sz="1000" dirty="0"/>
          </a:p>
        </p:txBody>
      </p:sp>
      <p:sp>
        <p:nvSpPr>
          <p:cNvPr id="34" name="Shape 32"/>
          <p:cNvSpPr/>
          <p:nvPr/>
        </p:nvSpPr>
        <p:spPr>
          <a:xfrm>
            <a:off x="6126480" y="960120"/>
            <a:ext cx="2697480" cy="2926080"/>
          </a:xfrm>
          <a:prstGeom prst="rect">
            <a:avLst/>
          </a:prstGeom>
          <a:solidFill>
            <a:srgbClr val="D4740E"/>
          </a:solidFill>
          <a:ln/>
          <a:effectLst>
            <a:outerShdw sx="100000" sy="100000" kx="0" ky="0" algn="bl" rotWithShape="0" blurRad="76200" dist="25400" dir="8100000">
              <a:srgbClr val="000000">
                <a:alpha val="12000"/>
              </a:srgbClr>
            </a:outerShdw>
          </a:effectLst>
        </p:spPr>
      </p:sp>
      <p:sp>
        <p:nvSpPr>
          <p:cNvPr id="35" name="Text 33"/>
          <p:cNvSpPr/>
          <p:nvPr/>
        </p:nvSpPr>
        <p:spPr>
          <a:xfrm>
            <a:off x="6126480" y="1051560"/>
            <a:ext cx="269748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DATA COMPLIANCE</a:t>
            </a:r>
            <a:endParaRPr lang="en-US" sz="1400" dirty="0"/>
          </a:p>
        </p:txBody>
      </p:sp>
      <p:sp>
        <p:nvSpPr>
          <p:cNvPr id="36" name="Text 34"/>
          <p:cNvSpPr/>
          <p:nvPr/>
        </p:nvSpPr>
        <p:spPr>
          <a:xfrm>
            <a:off x="6126480" y="1325880"/>
            <a:ext cx="2697480" cy="201168"/>
          </a:xfrm>
          <a:prstGeom prst="rect">
            <a:avLst/>
          </a:prstGeom>
          <a:noFill/>
          <a:ln/>
        </p:spPr>
        <p:txBody>
          <a:bodyPr wrap="square" lIns="0" tIns="0" rIns="0" bIns="0"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M365 Purview</a:t>
            </a:r>
            <a:endParaRPr lang="en-US" sz="900" dirty="0"/>
          </a:p>
        </p:txBody>
      </p:sp>
      <p:sp>
        <p:nvSpPr>
          <p:cNvPr id="37" name="Shape 35"/>
          <p:cNvSpPr/>
          <p:nvPr/>
        </p:nvSpPr>
        <p:spPr>
          <a:xfrm>
            <a:off x="6236208" y="1627632"/>
            <a:ext cx="2478024" cy="274320"/>
          </a:xfrm>
          <a:prstGeom prst="rect">
            <a:avLst/>
          </a:prstGeom>
          <a:solidFill>
            <a:srgbClr val="FFFFFF">
              <a:alpha val="15000"/>
            </a:srgbClr>
          </a:solidFill>
          <a:ln/>
        </p:spPr>
      </p:sp>
      <p:sp>
        <p:nvSpPr>
          <p:cNvPr id="38" name="Text 36"/>
          <p:cNvSpPr/>
          <p:nvPr/>
        </p:nvSpPr>
        <p:spPr>
          <a:xfrm>
            <a:off x="6236208" y="1627632"/>
            <a:ext cx="247802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Compliance Manager</a:t>
            </a:r>
            <a:endParaRPr lang="en-US" sz="1000" dirty="0"/>
          </a:p>
        </p:txBody>
      </p:sp>
      <p:sp>
        <p:nvSpPr>
          <p:cNvPr id="39" name="Shape 37"/>
          <p:cNvSpPr/>
          <p:nvPr/>
        </p:nvSpPr>
        <p:spPr>
          <a:xfrm>
            <a:off x="6236208" y="1975104"/>
            <a:ext cx="2478024" cy="274320"/>
          </a:xfrm>
          <a:prstGeom prst="rect">
            <a:avLst/>
          </a:prstGeom>
          <a:solidFill>
            <a:srgbClr val="FFFFFF">
              <a:alpha val="15000"/>
            </a:srgbClr>
          </a:solidFill>
          <a:ln/>
        </p:spPr>
      </p:sp>
      <p:sp>
        <p:nvSpPr>
          <p:cNvPr id="40" name="Text 38"/>
          <p:cNvSpPr/>
          <p:nvPr/>
        </p:nvSpPr>
        <p:spPr>
          <a:xfrm>
            <a:off x="6236208" y="1975104"/>
            <a:ext cx="247802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Lifecycle Mgmt</a:t>
            </a:r>
            <a:endParaRPr lang="en-US" sz="1000" dirty="0"/>
          </a:p>
        </p:txBody>
      </p:sp>
      <p:sp>
        <p:nvSpPr>
          <p:cNvPr id="41" name="Shape 39"/>
          <p:cNvSpPr/>
          <p:nvPr/>
        </p:nvSpPr>
        <p:spPr>
          <a:xfrm>
            <a:off x="6236208" y="2322576"/>
            <a:ext cx="2478024" cy="274320"/>
          </a:xfrm>
          <a:prstGeom prst="rect">
            <a:avLst/>
          </a:prstGeom>
          <a:solidFill>
            <a:srgbClr val="FFFFFF">
              <a:alpha val="15000"/>
            </a:srgbClr>
          </a:solidFill>
          <a:ln/>
        </p:spPr>
      </p:sp>
      <p:sp>
        <p:nvSpPr>
          <p:cNvPr id="42" name="Text 40"/>
          <p:cNvSpPr/>
          <p:nvPr/>
        </p:nvSpPr>
        <p:spPr>
          <a:xfrm>
            <a:off x="6236208" y="2322576"/>
            <a:ext cx="247802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Records Mgmt</a:t>
            </a:r>
            <a:endParaRPr lang="en-US" sz="1000" dirty="0"/>
          </a:p>
        </p:txBody>
      </p:sp>
      <p:sp>
        <p:nvSpPr>
          <p:cNvPr id="43" name="Shape 41"/>
          <p:cNvSpPr/>
          <p:nvPr/>
        </p:nvSpPr>
        <p:spPr>
          <a:xfrm>
            <a:off x="6236208" y="2670048"/>
            <a:ext cx="2478024" cy="274320"/>
          </a:xfrm>
          <a:prstGeom prst="rect">
            <a:avLst/>
          </a:prstGeom>
          <a:solidFill>
            <a:srgbClr val="FFFFFF">
              <a:alpha val="15000"/>
            </a:srgbClr>
          </a:solidFill>
          <a:ln/>
        </p:spPr>
      </p:sp>
      <p:sp>
        <p:nvSpPr>
          <p:cNvPr id="44" name="Text 42"/>
          <p:cNvSpPr/>
          <p:nvPr/>
        </p:nvSpPr>
        <p:spPr>
          <a:xfrm>
            <a:off x="6236208" y="2670048"/>
            <a:ext cx="247802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eDiscovery &amp; Audit</a:t>
            </a:r>
            <a:endParaRPr lang="en-US" sz="1000" dirty="0"/>
          </a:p>
        </p:txBody>
      </p:sp>
      <p:sp>
        <p:nvSpPr>
          <p:cNvPr id="45" name="Shape 43"/>
          <p:cNvSpPr/>
          <p:nvPr/>
        </p:nvSpPr>
        <p:spPr>
          <a:xfrm>
            <a:off x="6236208" y="3017520"/>
            <a:ext cx="2478024" cy="274320"/>
          </a:xfrm>
          <a:prstGeom prst="rect">
            <a:avLst/>
          </a:prstGeom>
          <a:solidFill>
            <a:srgbClr val="FFFFFF">
              <a:alpha val="15000"/>
            </a:srgbClr>
          </a:solidFill>
          <a:ln/>
        </p:spPr>
      </p:sp>
      <p:sp>
        <p:nvSpPr>
          <p:cNvPr id="46" name="Text 44"/>
          <p:cNvSpPr/>
          <p:nvPr/>
        </p:nvSpPr>
        <p:spPr>
          <a:xfrm>
            <a:off x="6236208" y="3017520"/>
            <a:ext cx="247802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Comms Compliance</a:t>
            </a:r>
            <a:endParaRPr lang="en-US" sz="1000" dirty="0"/>
          </a:p>
        </p:txBody>
      </p:sp>
      <p:sp>
        <p:nvSpPr>
          <p:cNvPr id="47" name="Shape 45"/>
          <p:cNvSpPr/>
          <p:nvPr/>
        </p:nvSpPr>
        <p:spPr>
          <a:xfrm>
            <a:off x="6236208" y="3364992"/>
            <a:ext cx="2478024" cy="274320"/>
          </a:xfrm>
          <a:prstGeom prst="rect">
            <a:avLst/>
          </a:prstGeom>
          <a:solidFill>
            <a:srgbClr val="FFFFFF">
              <a:alpha val="15000"/>
            </a:srgbClr>
          </a:solidFill>
          <a:ln/>
        </p:spPr>
      </p:sp>
      <p:sp>
        <p:nvSpPr>
          <p:cNvPr id="48" name="Text 46"/>
          <p:cNvSpPr/>
          <p:nvPr/>
        </p:nvSpPr>
        <p:spPr>
          <a:xfrm>
            <a:off x="6236208" y="3364992"/>
            <a:ext cx="247802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Privacy (Priva)</a:t>
            </a:r>
            <a:endParaRPr lang="en-US" sz="1000" dirty="0"/>
          </a:p>
        </p:txBody>
      </p:sp>
      <p:pic>
        <p:nvPicPr>
          <p:cNvPr id="49" name="Image 0" descr="preencoded.png"/>
          <p:cNvPicPr>
            <a:picLocks noChangeAspect="1"/>
          </p:cNvPicPr>
          <p:nvPr/>
        </p:nvPicPr>
        <p:blipFill>
          <a:blip r:embed="rId1"/>
          <a:stretch>
            <a:fillRect/>
          </a:stretch>
        </p:blipFill>
        <p:spPr>
          <a:xfrm>
            <a:off x="2944368" y="2194560"/>
            <a:ext cx="201168" cy="201168"/>
          </a:xfrm>
          <a:prstGeom prst="rect">
            <a:avLst/>
          </a:prstGeom>
        </p:spPr>
      </p:pic>
      <p:pic>
        <p:nvPicPr>
          <p:cNvPr id="50" name="Image 1" descr="preencoded.png"/>
          <p:cNvPicPr>
            <a:picLocks noChangeAspect="1"/>
          </p:cNvPicPr>
          <p:nvPr/>
        </p:nvPicPr>
        <p:blipFill>
          <a:blip r:embed="rId2"/>
          <a:stretch>
            <a:fillRect/>
          </a:stretch>
        </p:blipFill>
        <p:spPr>
          <a:xfrm>
            <a:off x="5833872" y="2194560"/>
            <a:ext cx="201168" cy="201168"/>
          </a:xfrm>
          <a:prstGeom prst="rect">
            <a:avLst/>
          </a:prstGeom>
        </p:spPr>
      </p:pic>
      <p:sp>
        <p:nvSpPr>
          <p:cNvPr id="51" name="Shape 47"/>
          <p:cNvSpPr/>
          <p:nvPr/>
        </p:nvSpPr>
        <p:spPr>
          <a:xfrm>
            <a:off x="365760" y="4023360"/>
            <a:ext cx="8412480" cy="411480"/>
          </a:xfrm>
          <a:prstGeom prst="rect">
            <a:avLst/>
          </a:prstGeom>
          <a:solidFill>
            <a:srgbClr val="E8EEF4"/>
          </a:solidFill>
          <a:ln/>
        </p:spPr>
      </p:sp>
      <p:sp>
        <p:nvSpPr>
          <p:cNvPr id="52" name="Text 48"/>
          <p:cNvSpPr/>
          <p:nvPr/>
        </p:nvSpPr>
        <p:spPr>
          <a:xfrm>
            <a:off x="365760" y="4023360"/>
            <a:ext cx="8412480" cy="411480"/>
          </a:xfrm>
          <a:prstGeom prst="rect">
            <a:avLst/>
          </a:prstGeom>
          <a:noFill/>
          <a:ln/>
        </p:spPr>
        <p:txBody>
          <a:bodyPr wrap="square" lIns="0" tIns="0" rIns="0" bIns="0" rtlCol="0" anchor="ctr"/>
          <a:lstStyle/>
          <a:p>
            <a:pPr algn="ctr" indent="0" marL="0">
              <a:buNone/>
            </a:pPr>
            <a:r>
              <a:rPr lang="en-US" sz="950" b="1" dirty="0">
                <a:solidFill>
                  <a:srgbClr val="1B3A5C"/>
                </a:solidFill>
                <a:latin typeface="Calibri" pitchFamily="34" charset="0"/>
                <a:ea typeface="Calibri" pitchFamily="34" charset="-122"/>
                <a:cs typeface="Calibri" pitchFamily="34" charset="-120"/>
              </a:rPr>
              <a:t>SHARED: Sensitivity Labels · Classifications · Lineage · Audit Logs · Purview Portal · Entra Integration</a:t>
            </a:r>
            <a:endParaRPr lang="en-US" sz="950" dirty="0"/>
          </a:p>
        </p:txBody>
      </p:sp>
      <p:sp>
        <p:nvSpPr>
          <p:cNvPr id="53" name="Shape 49"/>
          <p:cNvSpPr/>
          <p:nvPr/>
        </p:nvSpPr>
        <p:spPr>
          <a:xfrm>
            <a:off x="365760" y="4526280"/>
            <a:ext cx="8412480" cy="365760"/>
          </a:xfrm>
          <a:prstGeom prst="rect">
            <a:avLst/>
          </a:prstGeom>
          <a:solidFill>
            <a:srgbClr val="1B3A5C"/>
          </a:solidFill>
          <a:ln/>
        </p:spPr>
      </p:sp>
      <p:sp>
        <p:nvSpPr>
          <p:cNvPr id="54" name="Text 50"/>
          <p:cNvSpPr/>
          <p:nvPr/>
        </p:nvSpPr>
        <p:spPr>
          <a:xfrm>
            <a:off x="365760" y="4526280"/>
            <a:ext cx="841248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FOUNDATION: Data Map (Metadata Layer) — Everything Starts Here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5C"/>
          </a:solidFill>
          <a:ln/>
        </p:spPr>
      </p:sp>
      <p:sp>
        <p:nvSpPr>
          <p:cNvPr id="3" name="Text 1"/>
          <p:cNvSpPr/>
          <p:nvPr/>
        </p:nvSpPr>
        <p:spPr>
          <a:xfrm>
            <a:off x="548640" y="137160"/>
            <a:ext cx="7315200" cy="54864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Master Dependency Map</a:t>
            </a:r>
            <a:endParaRPr lang="en-US" sz="2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274320" y="914400"/>
          <a:ext cx="8595360" cy="914400"/>
        </p:xfrm>
        <a:graphic>
          <a:graphicData uri="http://schemas.openxmlformats.org/drawingml/2006/table">
            <a:tbl>
              <a:tblPr/>
              <a:tblGrid>
                <a:gridCol w="1645920"/>
                <a:gridCol w="1645920"/>
                <a:gridCol w="2011680"/>
                <a:gridCol w="3291840"/>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Component</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Depends On</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Feeds Into</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Why This Sequence</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r>
              <a:tr h="0">
                <a:tc>
                  <a:txBody>
                    <a:bodyPr/>
                    <a:lstStyle/>
                    <a:p>
                      <a:pPr indent="0" marL="0">
                        <a:buNone/>
                      </a:pPr>
                      <a:r>
                        <a:rPr lang="en-US" sz="800" b="1" dirty="0">
                          <a:solidFill>
                            <a:srgbClr val="333333"/>
                          </a:solidFill>
                          <a:latin typeface="Calibri" pitchFamily="34" charset="0"/>
                          <a:ea typeface="Calibri" pitchFamily="34" charset="-122"/>
                          <a:cs typeface="Calibri" pitchFamily="34" charset="-120"/>
                        </a:rPr>
                        <a:t>Data Map</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 (Start)</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Classifications, Catalog</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No metadata = nothing to govern</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0">
                <a:tc>
                  <a:txBody>
                    <a:bodyPr/>
                    <a:lstStyle/>
                    <a:p>
                      <a:pPr indent="0" marL="0">
                        <a:buNone/>
                      </a:pPr>
                      <a:r>
                        <a:rPr lang="en-US" sz="800" b="1" dirty="0">
                          <a:solidFill>
                            <a:srgbClr val="333333"/>
                          </a:solidFill>
                          <a:latin typeface="Calibri" pitchFamily="34" charset="0"/>
                          <a:ea typeface="Calibri" pitchFamily="34" charset="-122"/>
                          <a:cs typeface="Calibri" pitchFamily="34" charset="-120"/>
                        </a:rPr>
                        <a:t>Classifications</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Data Map scans</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Labels, DLP, Quality</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Pattern detection for protection</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800" b="1" dirty="0">
                          <a:solidFill>
                            <a:srgbClr val="333333"/>
                          </a:solidFill>
                          <a:latin typeface="Calibri" pitchFamily="34" charset="0"/>
                          <a:ea typeface="Calibri" pitchFamily="34" charset="-122"/>
                          <a:cs typeface="Calibri" pitchFamily="34" charset="-120"/>
                        </a:rPr>
                        <a:t>Sensitivity Labels</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Classifications</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DLP, Insider Risk, Encryption</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Labels carry classifications to action</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0">
                <a:tc>
                  <a:txBody>
                    <a:bodyPr/>
                    <a:lstStyle/>
                    <a:p>
                      <a:pPr indent="0" marL="0">
                        <a:buNone/>
                      </a:pPr>
                      <a:r>
                        <a:rPr lang="en-US" sz="800" b="1" dirty="0">
                          <a:solidFill>
                            <a:srgbClr val="333333"/>
                          </a:solidFill>
                          <a:latin typeface="Calibri" pitchFamily="34" charset="0"/>
                          <a:ea typeface="Calibri" pitchFamily="34" charset="-122"/>
                          <a:cs typeface="Calibri" pitchFamily="34" charset="-120"/>
                        </a:rPr>
                        <a:t>Governance Domains</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Data Map awareness</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Glossary, Products, OKRs</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Ownership boundaries scope governance</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800" b="1" dirty="0">
                          <a:solidFill>
                            <a:srgbClr val="333333"/>
                          </a:solidFill>
                          <a:latin typeface="Calibri" pitchFamily="34" charset="0"/>
                          <a:ea typeface="Calibri" pitchFamily="34" charset="-122"/>
                          <a:cs typeface="Calibri" pitchFamily="34" charset="-120"/>
                        </a:rPr>
                        <a:t>Enterprise Glossary</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Gov. Domains</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Products, Consumer discovery</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Business context for technical data</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0">
                <a:tc>
                  <a:txBody>
                    <a:bodyPr/>
                    <a:lstStyle/>
                    <a:p>
                      <a:pPr indent="0" marL="0">
                        <a:buNone/>
                      </a:pPr>
                      <a:r>
                        <a:rPr lang="en-US" sz="800" b="1" dirty="0">
                          <a:solidFill>
                            <a:srgbClr val="333333"/>
                          </a:solidFill>
                          <a:latin typeface="Calibri" pitchFamily="34" charset="0"/>
                          <a:ea typeface="Calibri" pitchFamily="34" charset="-122"/>
                          <a:cs typeface="Calibri" pitchFamily="34" charset="-120"/>
                        </a:rPr>
                        <a:t>Data Products</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Map + Glossary + Domains</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OKRs, Access, Quality rules</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Bundled assets for consumption</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800" b="1" dirty="0">
                          <a:solidFill>
                            <a:srgbClr val="333333"/>
                          </a:solidFill>
                          <a:latin typeface="Calibri" pitchFamily="34" charset="0"/>
                          <a:ea typeface="Calibri" pitchFamily="34" charset="-122"/>
                          <a:cs typeface="Calibri" pitchFamily="34" charset="-120"/>
                        </a:rPr>
                        <a:t>CDEs</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Products + Map columns</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Quality rules, Standardisation</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Unify synonyms across systems</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0">
                <a:tc>
                  <a:txBody>
                    <a:bodyPr/>
                    <a:lstStyle/>
                    <a:p>
                      <a:pPr indent="0" marL="0">
                        <a:buNone/>
                      </a:pPr>
                      <a:r>
                        <a:rPr lang="en-US" sz="800" b="1" dirty="0">
                          <a:solidFill>
                            <a:srgbClr val="333333"/>
                          </a:solidFill>
                          <a:latin typeface="Calibri" pitchFamily="34" charset="0"/>
                          <a:ea typeface="Calibri" pitchFamily="34" charset="-122"/>
                          <a:cs typeface="Calibri" pitchFamily="34" charset="-120"/>
                        </a:rPr>
                        <a:t>Data Quality</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Products, CDEs, Map</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Health Controls, Trust</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Validate data product reliability</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800" b="1" dirty="0">
                          <a:solidFill>
                            <a:srgbClr val="333333"/>
                          </a:solidFill>
                          <a:latin typeface="Calibri" pitchFamily="34" charset="0"/>
                          <a:ea typeface="Calibri" pitchFamily="34" charset="-122"/>
                          <a:cs typeface="Calibri" pitchFamily="34" charset="-120"/>
                        </a:rPr>
                        <a:t>DLP Policies</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Labels, Classifications</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DSPM, Compliance Mgr</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Enforcement vehicle for protection</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0">
                <a:tc>
                  <a:txBody>
                    <a:bodyPr/>
                    <a:lstStyle/>
                    <a:p>
                      <a:pPr indent="0" marL="0">
                        <a:buNone/>
                      </a:pPr>
                      <a:r>
                        <a:rPr lang="en-US" sz="800" b="1" dirty="0">
                          <a:solidFill>
                            <a:srgbClr val="333333"/>
                          </a:solidFill>
                          <a:latin typeface="Calibri" pitchFamily="34" charset="0"/>
                          <a:ea typeface="Calibri" pitchFamily="34" charset="-122"/>
                          <a:cs typeface="Calibri" pitchFamily="34" charset="-120"/>
                        </a:rPr>
                        <a:t>DSPM</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DLP, Insider Risk, Labels</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Exec dashboards, AI obs.</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Unified posture consolidation</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800" b="1" dirty="0">
                          <a:solidFill>
                            <a:srgbClr val="333333"/>
                          </a:solidFill>
                          <a:latin typeface="Calibri" pitchFamily="34" charset="0"/>
                          <a:ea typeface="Calibri" pitchFamily="34" charset="-122"/>
                          <a:cs typeface="Calibri" pitchFamily="34" charset="-120"/>
                        </a:rPr>
                        <a:t>Compliance Manager</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DLP, Labels, Retention</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Regulatory reporting</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Measures compliance posture</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5C"/>
          </a:solidFill>
          <a:ln/>
        </p:spPr>
      </p:sp>
      <p:sp>
        <p:nvSpPr>
          <p:cNvPr id="3" name="Text 1"/>
          <p:cNvSpPr/>
          <p:nvPr/>
        </p:nvSpPr>
        <p:spPr>
          <a:xfrm>
            <a:off x="548640" y="137160"/>
            <a:ext cx="7315200" cy="54864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Six-Phase Implementation Roadmap</a:t>
            </a:r>
            <a:endParaRPr lang="en-US" sz="2400" dirty="0"/>
          </a:p>
        </p:txBody>
      </p:sp>
      <p:sp>
        <p:nvSpPr>
          <p:cNvPr id="4" name="Shape 2"/>
          <p:cNvSpPr/>
          <p:nvPr/>
        </p:nvSpPr>
        <p:spPr>
          <a:xfrm>
            <a:off x="320040" y="1005840"/>
            <a:ext cx="1234440" cy="2926080"/>
          </a:xfrm>
          <a:prstGeom prst="rect">
            <a:avLst/>
          </a:prstGeom>
          <a:solidFill>
            <a:srgbClr val="1B3A5C"/>
          </a:solidFill>
          <a:ln/>
          <a:effectLst>
            <a:outerShdw sx="100000" sy="100000" kx="0" ky="0" algn="bl" rotWithShape="0" blurRad="76200" dist="25400" dir="8100000">
              <a:srgbClr val="000000">
                <a:alpha val="12000"/>
              </a:srgbClr>
            </a:outerShdw>
          </a:effectLst>
        </p:spPr>
      </p:sp>
      <p:sp>
        <p:nvSpPr>
          <p:cNvPr id="5" name="Text 3"/>
          <p:cNvSpPr/>
          <p:nvPr/>
        </p:nvSpPr>
        <p:spPr>
          <a:xfrm>
            <a:off x="320040" y="1078992"/>
            <a:ext cx="1234440" cy="228600"/>
          </a:xfrm>
          <a:prstGeom prst="rect">
            <a:avLst/>
          </a:prstGeom>
          <a:noFill/>
          <a:ln/>
        </p:spPr>
        <p:txBody>
          <a:bodyPr wrap="square" lIns="0" tIns="0" rIns="0" bIns="0" rtlCol="0" anchor="ctr"/>
          <a:lstStyle/>
          <a:p>
            <a:pPr algn="ctr" indent="0" marL="0">
              <a:buNone/>
            </a:pPr>
            <a:r>
              <a:rPr lang="en-US" sz="800" b="1" dirty="0">
                <a:solidFill>
                  <a:srgbClr val="AABBCC"/>
                </a:solidFill>
                <a:latin typeface="Calibri" pitchFamily="34" charset="0"/>
                <a:ea typeface="Calibri" pitchFamily="34" charset="-122"/>
                <a:cs typeface="Calibri" pitchFamily="34" charset="-120"/>
              </a:rPr>
              <a:t>PHASE 1</a:t>
            </a:r>
            <a:endParaRPr lang="en-US" sz="800" dirty="0"/>
          </a:p>
        </p:txBody>
      </p:sp>
      <p:sp>
        <p:nvSpPr>
          <p:cNvPr id="6" name="Text 4"/>
          <p:cNvSpPr/>
          <p:nvPr/>
        </p:nvSpPr>
        <p:spPr>
          <a:xfrm>
            <a:off x="320040" y="1280160"/>
            <a:ext cx="123444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Data Map</a:t>
            </a:r>
            <a:endParaRPr lang="en-US" sz="1300" dirty="0"/>
          </a:p>
        </p:txBody>
      </p:sp>
      <p:sp>
        <p:nvSpPr>
          <p:cNvPr id="7" name="Text 5"/>
          <p:cNvSpPr/>
          <p:nvPr/>
        </p:nvSpPr>
        <p:spPr>
          <a:xfrm>
            <a:off x="320040" y="1572768"/>
            <a:ext cx="1234440" cy="201168"/>
          </a:xfrm>
          <a:prstGeom prst="rect">
            <a:avLst/>
          </a:prstGeom>
          <a:noFill/>
          <a:ln/>
        </p:spPr>
        <p:txBody>
          <a:bodyPr wrap="square" lIns="0" tIns="0" rIns="0" bIns="0" rtlCol="0" anchor="ctr"/>
          <a:lstStyle/>
          <a:p>
            <a:pPr algn="ctr" indent="0" marL="0">
              <a:buNone/>
            </a:pPr>
            <a:r>
              <a:rPr lang="en-US" sz="800" dirty="0">
                <a:solidFill>
                  <a:srgbClr val="AABBCC"/>
                </a:solidFill>
                <a:latin typeface="Calibri" pitchFamily="34" charset="0"/>
                <a:ea typeface="Calibri" pitchFamily="34" charset="-122"/>
                <a:cs typeface="Calibri" pitchFamily="34" charset="-120"/>
              </a:rPr>
              <a:t>Wk 1-6</a:t>
            </a:r>
            <a:endParaRPr lang="en-US" sz="800" dirty="0"/>
          </a:p>
        </p:txBody>
      </p:sp>
      <p:sp>
        <p:nvSpPr>
          <p:cNvPr id="8" name="Shape 6"/>
          <p:cNvSpPr/>
          <p:nvPr/>
        </p:nvSpPr>
        <p:spPr>
          <a:xfrm>
            <a:off x="374904" y="1901952"/>
            <a:ext cx="1124712" cy="292608"/>
          </a:xfrm>
          <a:prstGeom prst="rect">
            <a:avLst/>
          </a:prstGeom>
          <a:solidFill>
            <a:srgbClr val="FFFFFF">
              <a:alpha val="15000"/>
            </a:srgbClr>
          </a:solidFill>
          <a:ln/>
        </p:spPr>
      </p:sp>
      <p:sp>
        <p:nvSpPr>
          <p:cNvPr id="9" name="Text 7"/>
          <p:cNvSpPr/>
          <p:nvPr/>
        </p:nvSpPr>
        <p:spPr>
          <a:xfrm>
            <a:off x="374904" y="1901952"/>
            <a:ext cx="1124712"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Source Reg.</a:t>
            </a:r>
            <a:endParaRPr lang="en-US" sz="900" dirty="0"/>
          </a:p>
        </p:txBody>
      </p:sp>
      <p:sp>
        <p:nvSpPr>
          <p:cNvPr id="10" name="Shape 8"/>
          <p:cNvSpPr/>
          <p:nvPr/>
        </p:nvSpPr>
        <p:spPr>
          <a:xfrm>
            <a:off x="374904" y="2286000"/>
            <a:ext cx="1124712" cy="292608"/>
          </a:xfrm>
          <a:prstGeom prst="rect">
            <a:avLst/>
          </a:prstGeom>
          <a:solidFill>
            <a:srgbClr val="FFFFFF">
              <a:alpha val="15000"/>
            </a:srgbClr>
          </a:solidFill>
          <a:ln/>
        </p:spPr>
      </p:sp>
      <p:sp>
        <p:nvSpPr>
          <p:cNvPr id="11" name="Text 9"/>
          <p:cNvSpPr/>
          <p:nvPr/>
        </p:nvSpPr>
        <p:spPr>
          <a:xfrm>
            <a:off x="374904" y="2286000"/>
            <a:ext cx="1124712"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Scanning</a:t>
            </a:r>
            <a:endParaRPr lang="en-US" sz="900" dirty="0"/>
          </a:p>
        </p:txBody>
      </p:sp>
      <p:sp>
        <p:nvSpPr>
          <p:cNvPr id="12" name="Shape 10"/>
          <p:cNvSpPr/>
          <p:nvPr/>
        </p:nvSpPr>
        <p:spPr>
          <a:xfrm>
            <a:off x="374904" y="2670048"/>
            <a:ext cx="1124712" cy="292608"/>
          </a:xfrm>
          <a:prstGeom prst="rect">
            <a:avLst/>
          </a:prstGeom>
          <a:solidFill>
            <a:srgbClr val="FFFFFF">
              <a:alpha val="15000"/>
            </a:srgbClr>
          </a:solidFill>
          <a:ln/>
        </p:spPr>
      </p:sp>
      <p:sp>
        <p:nvSpPr>
          <p:cNvPr id="13" name="Text 11"/>
          <p:cNvSpPr/>
          <p:nvPr/>
        </p:nvSpPr>
        <p:spPr>
          <a:xfrm>
            <a:off x="374904" y="2670048"/>
            <a:ext cx="1124712"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Classification</a:t>
            </a:r>
            <a:endParaRPr lang="en-US" sz="900" dirty="0"/>
          </a:p>
        </p:txBody>
      </p:sp>
      <p:sp>
        <p:nvSpPr>
          <p:cNvPr id="14" name="Shape 12"/>
          <p:cNvSpPr/>
          <p:nvPr/>
        </p:nvSpPr>
        <p:spPr>
          <a:xfrm>
            <a:off x="374904" y="3054096"/>
            <a:ext cx="1124712" cy="292608"/>
          </a:xfrm>
          <a:prstGeom prst="rect">
            <a:avLst/>
          </a:prstGeom>
          <a:solidFill>
            <a:srgbClr val="FFFFFF">
              <a:alpha val="15000"/>
            </a:srgbClr>
          </a:solidFill>
          <a:ln/>
        </p:spPr>
      </p:sp>
      <p:sp>
        <p:nvSpPr>
          <p:cNvPr id="15" name="Text 13"/>
          <p:cNvSpPr/>
          <p:nvPr/>
        </p:nvSpPr>
        <p:spPr>
          <a:xfrm>
            <a:off x="374904" y="3054096"/>
            <a:ext cx="1124712"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Lineage</a:t>
            </a:r>
            <a:endParaRPr lang="en-US" sz="900" dirty="0"/>
          </a:p>
        </p:txBody>
      </p:sp>
      <p:sp>
        <p:nvSpPr>
          <p:cNvPr id="16" name="Shape 14"/>
          <p:cNvSpPr/>
          <p:nvPr/>
        </p:nvSpPr>
        <p:spPr>
          <a:xfrm>
            <a:off x="374904" y="3566160"/>
            <a:ext cx="1124712" cy="201168"/>
          </a:xfrm>
          <a:prstGeom prst="rect">
            <a:avLst/>
          </a:prstGeom>
          <a:solidFill>
            <a:srgbClr val="D4740E"/>
          </a:solidFill>
          <a:ln/>
        </p:spPr>
      </p:sp>
      <p:sp>
        <p:nvSpPr>
          <p:cNvPr id="17" name="Text 15"/>
          <p:cNvSpPr/>
          <p:nvPr/>
        </p:nvSpPr>
        <p:spPr>
          <a:xfrm>
            <a:off x="374904" y="3566160"/>
            <a:ext cx="1124712"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FOUNDATION</a:t>
            </a:r>
            <a:endParaRPr lang="en-US" sz="700" dirty="0"/>
          </a:p>
        </p:txBody>
      </p:sp>
      <p:pic>
        <p:nvPicPr>
          <p:cNvPr id="18" name="Image 0" descr="preencoded.png"/>
          <p:cNvPicPr>
            <a:picLocks noChangeAspect="1"/>
          </p:cNvPicPr>
          <p:nvPr/>
        </p:nvPicPr>
        <p:blipFill>
          <a:blip r:embed="rId1"/>
          <a:stretch>
            <a:fillRect/>
          </a:stretch>
        </p:blipFill>
        <p:spPr>
          <a:xfrm>
            <a:off x="1563624" y="2286000"/>
            <a:ext cx="128016" cy="128016"/>
          </a:xfrm>
          <a:prstGeom prst="rect">
            <a:avLst/>
          </a:prstGeom>
        </p:spPr>
      </p:pic>
      <p:sp>
        <p:nvSpPr>
          <p:cNvPr id="19" name="Shape 16"/>
          <p:cNvSpPr/>
          <p:nvPr/>
        </p:nvSpPr>
        <p:spPr>
          <a:xfrm>
            <a:off x="1691640" y="1005840"/>
            <a:ext cx="1234440" cy="2926080"/>
          </a:xfrm>
          <a:prstGeom prst="rect">
            <a:avLst/>
          </a:prstGeom>
          <a:solidFill>
            <a:srgbClr val="0A6665"/>
          </a:solidFill>
          <a:ln/>
          <a:effectLst>
            <a:outerShdw sx="100000" sy="100000" kx="0" ky="0" algn="bl" rotWithShape="0" blurRad="76200" dist="25400" dir="8100000">
              <a:srgbClr val="000000">
                <a:alpha val="12000"/>
              </a:srgbClr>
            </a:outerShdw>
          </a:effectLst>
        </p:spPr>
      </p:sp>
      <p:sp>
        <p:nvSpPr>
          <p:cNvPr id="20" name="Text 17"/>
          <p:cNvSpPr/>
          <p:nvPr/>
        </p:nvSpPr>
        <p:spPr>
          <a:xfrm>
            <a:off x="1691640" y="1078992"/>
            <a:ext cx="1234440" cy="228600"/>
          </a:xfrm>
          <a:prstGeom prst="rect">
            <a:avLst/>
          </a:prstGeom>
          <a:noFill/>
          <a:ln/>
        </p:spPr>
        <p:txBody>
          <a:bodyPr wrap="square" lIns="0" tIns="0" rIns="0" bIns="0" rtlCol="0" anchor="ctr"/>
          <a:lstStyle/>
          <a:p>
            <a:pPr algn="ctr" indent="0" marL="0">
              <a:buNone/>
            </a:pPr>
            <a:r>
              <a:rPr lang="en-US" sz="800" b="1" dirty="0">
                <a:solidFill>
                  <a:srgbClr val="AABBCC"/>
                </a:solidFill>
                <a:latin typeface="Calibri" pitchFamily="34" charset="0"/>
                <a:ea typeface="Calibri" pitchFamily="34" charset="-122"/>
                <a:cs typeface="Calibri" pitchFamily="34" charset="-120"/>
              </a:rPr>
              <a:t>PHASE 2</a:t>
            </a:r>
            <a:endParaRPr lang="en-US" sz="800" dirty="0"/>
          </a:p>
        </p:txBody>
      </p:sp>
      <p:sp>
        <p:nvSpPr>
          <p:cNvPr id="21" name="Text 18"/>
          <p:cNvSpPr/>
          <p:nvPr/>
        </p:nvSpPr>
        <p:spPr>
          <a:xfrm>
            <a:off x="1691640" y="1280160"/>
            <a:ext cx="123444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Labels</a:t>
            </a:r>
            <a:endParaRPr lang="en-US" sz="1300" dirty="0"/>
          </a:p>
        </p:txBody>
      </p:sp>
      <p:sp>
        <p:nvSpPr>
          <p:cNvPr id="22" name="Text 19"/>
          <p:cNvSpPr/>
          <p:nvPr/>
        </p:nvSpPr>
        <p:spPr>
          <a:xfrm>
            <a:off x="1691640" y="1572768"/>
            <a:ext cx="1234440" cy="201168"/>
          </a:xfrm>
          <a:prstGeom prst="rect">
            <a:avLst/>
          </a:prstGeom>
          <a:noFill/>
          <a:ln/>
        </p:spPr>
        <p:txBody>
          <a:bodyPr wrap="square" lIns="0" tIns="0" rIns="0" bIns="0" rtlCol="0" anchor="ctr"/>
          <a:lstStyle/>
          <a:p>
            <a:pPr algn="ctr" indent="0" marL="0">
              <a:buNone/>
            </a:pPr>
            <a:r>
              <a:rPr lang="en-US" sz="800" dirty="0">
                <a:solidFill>
                  <a:srgbClr val="AABBCC"/>
                </a:solidFill>
                <a:latin typeface="Calibri" pitchFamily="34" charset="0"/>
                <a:ea typeface="Calibri" pitchFamily="34" charset="-122"/>
                <a:cs typeface="Calibri" pitchFamily="34" charset="-120"/>
              </a:rPr>
              <a:t>Wk 4-10</a:t>
            </a:r>
            <a:endParaRPr lang="en-US" sz="800" dirty="0"/>
          </a:p>
        </p:txBody>
      </p:sp>
      <p:sp>
        <p:nvSpPr>
          <p:cNvPr id="23" name="Shape 20"/>
          <p:cNvSpPr/>
          <p:nvPr/>
        </p:nvSpPr>
        <p:spPr>
          <a:xfrm>
            <a:off x="1746504" y="1901952"/>
            <a:ext cx="1124712" cy="292608"/>
          </a:xfrm>
          <a:prstGeom prst="rect">
            <a:avLst/>
          </a:prstGeom>
          <a:solidFill>
            <a:srgbClr val="FFFFFF">
              <a:alpha val="15000"/>
            </a:srgbClr>
          </a:solidFill>
          <a:ln/>
        </p:spPr>
      </p:sp>
      <p:sp>
        <p:nvSpPr>
          <p:cNvPr id="24" name="Text 21"/>
          <p:cNvSpPr/>
          <p:nvPr/>
        </p:nvSpPr>
        <p:spPr>
          <a:xfrm>
            <a:off x="1746504" y="1901952"/>
            <a:ext cx="1124712"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Refine SITs</a:t>
            </a:r>
            <a:endParaRPr lang="en-US" sz="900" dirty="0"/>
          </a:p>
        </p:txBody>
      </p:sp>
      <p:sp>
        <p:nvSpPr>
          <p:cNvPr id="25" name="Shape 22"/>
          <p:cNvSpPr/>
          <p:nvPr/>
        </p:nvSpPr>
        <p:spPr>
          <a:xfrm>
            <a:off x="1746504" y="2286000"/>
            <a:ext cx="1124712" cy="292608"/>
          </a:xfrm>
          <a:prstGeom prst="rect">
            <a:avLst/>
          </a:prstGeom>
          <a:solidFill>
            <a:srgbClr val="FFFFFF">
              <a:alpha val="15000"/>
            </a:srgbClr>
          </a:solidFill>
          <a:ln/>
        </p:spPr>
      </p:sp>
      <p:sp>
        <p:nvSpPr>
          <p:cNvPr id="26" name="Text 23"/>
          <p:cNvSpPr/>
          <p:nvPr/>
        </p:nvSpPr>
        <p:spPr>
          <a:xfrm>
            <a:off x="1746504" y="2286000"/>
            <a:ext cx="1124712"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Label Taxonomy</a:t>
            </a:r>
            <a:endParaRPr lang="en-US" sz="900" dirty="0"/>
          </a:p>
        </p:txBody>
      </p:sp>
      <p:sp>
        <p:nvSpPr>
          <p:cNvPr id="27" name="Shape 24"/>
          <p:cNvSpPr/>
          <p:nvPr/>
        </p:nvSpPr>
        <p:spPr>
          <a:xfrm>
            <a:off x="1746504" y="2670048"/>
            <a:ext cx="1124712" cy="292608"/>
          </a:xfrm>
          <a:prstGeom prst="rect">
            <a:avLst/>
          </a:prstGeom>
          <a:solidFill>
            <a:srgbClr val="FFFFFF">
              <a:alpha val="15000"/>
            </a:srgbClr>
          </a:solidFill>
          <a:ln/>
        </p:spPr>
      </p:sp>
      <p:sp>
        <p:nvSpPr>
          <p:cNvPr id="28" name="Text 25"/>
          <p:cNvSpPr/>
          <p:nvPr/>
        </p:nvSpPr>
        <p:spPr>
          <a:xfrm>
            <a:off x="1746504" y="2670048"/>
            <a:ext cx="1124712"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Auto-Label</a:t>
            </a:r>
            <a:endParaRPr lang="en-US" sz="900" dirty="0"/>
          </a:p>
        </p:txBody>
      </p:sp>
      <p:sp>
        <p:nvSpPr>
          <p:cNvPr id="29" name="Shape 26"/>
          <p:cNvSpPr/>
          <p:nvPr/>
        </p:nvSpPr>
        <p:spPr>
          <a:xfrm>
            <a:off x="1746504" y="3054096"/>
            <a:ext cx="1124712" cy="292608"/>
          </a:xfrm>
          <a:prstGeom prst="rect">
            <a:avLst/>
          </a:prstGeom>
          <a:solidFill>
            <a:srgbClr val="FFFFFF">
              <a:alpha val="15000"/>
            </a:srgbClr>
          </a:solidFill>
          <a:ln/>
        </p:spPr>
      </p:sp>
      <p:sp>
        <p:nvSpPr>
          <p:cNvPr id="30" name="Text 27"/>
          <p:cNvSpPr/>
          <p:nvPr/>
        </p:nvSpPr>
        <p:spPr>
          <a:xfrm>
            <a:off x="1746504" y="3054096"/>
            <a:ext cx="1124712"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Encryption</a:t>
            </a:r>
            <a:endParaRPr lang="en-US" sz="900" dirty="0"/>
          </a:p>
        </p:txBody>
      </p:sp>
      <p:sp>
        <p:nvSpPr>
          <p:cNvPr id="31" name="Shape 28"/>
          <p:cNvSpPr/>
          <p:nvPr/>
        </p:nvSpPr>
        <p:spPr>
          <a:xfrm>
            <a:off x="1746504" y="3566160"/>
            <a:ext cx="1124712" cy="201168"/>
          </a:xfrm>
          <a:prstGeom prst="rect">
            <a:avLst/>
          </a:prstGeom>
          <a:solidFill>
            <a:srgbClr val="D4740E"/>
          </a:solidFill>
          <a:ln/>
        </p:spPr>
      </p:sp>
      <p:sp>
        <p:nvSpPr>
          <p:cNvPr id="32" name="Text 29"/>
          <p:cNvSpPr/>
          <p:nvPr/>
        </p:nvSpPr>
        <p:spPr>
          <a:xfrm>
            <a:off x="1746504" y="3566160"/>
            <a:ext cx="1124712"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PROTECTION</a:t>
            </a:r>
            <a:endParaRPr lang="en-US" sz="700" dirty="0"/>
          </a:p>
        </p:txBody>
      </p:sp>
      <p:pic>
        <p:nvPicPr>
          <p:cNvPr id="33" name="Image 1" descr="preencoded.png"/>
          <p:cNvPicPr>
            <a:picLocks noChangeAspect="1"/>
          </p:cNvPicPr>
          <p:nvPr/>
        </p:nvPicPr>
        <p:blipFill>
          <a:blip r:embed="rId2"/>
          <a:stretch>
            <a:fillRect/>
          </a:stretch>
        </p:blipFill>
        <p:spPr>
          <a:xfrm>
            <a:off x="2935224" y="2286000"/>
            <a:ext cx="128016" cy="128016"/>
          </a:xfrm>
          <a:prstGeom prst="rect">
            <a:avLst/>
          </a:prstGeom>
        </p:spPr>
      </p:pic>
      <p:sp>
        <p:nvSpPr>
          <p:cNvPr id="34" name="Shape 30"/>
          <p:cNvSpPr/>
          <p:nvPr/>
        </p:nvSpPr>
        <p:spPr>
          <a:xfrm>
            <a:off x="3063240" y="1005840"/>
            <a:ext cx="1234440" cy="2926080"/>
          </a:xfrm>
          <a:prstGeom prst="rect">
            <a:avLst/>
          </a:prstGeom>
          <a:solidFill>
            <a:srgbClr val="1B3A5C"/>
          </a:solidFill>
          <a:ln/>
          <a:effectLst>
            <a:outerShdw sx="100000" sy="100000" kx="0" ky="0" algn="bl" rotWithShape="0" blurRad="76200" dist="25400" dir="8100000">
              <a:srgbClr val="000000">
                <a:alpha val="12000"/>
              </a:srgbClr>
            </a:outerShdw>
          </a:effectLst>
        </p:spPr>
      </p:sp>
      <p:sp>
        <p:nvSpPr>
          <p:cNvPr id="35" name="Text 31"/>
          <p:cNvSpPr/>
          <p:nvPr/>
        </p:nvSpPr>
        <p:spPr>
          <a:xfrm>
            <a:off x="3063240" y="1078992"/>
            <a:ext cx="1234440" cy="228600"/>
          </a:xfrm>
          <a:prstGeom prst="rect">
            <a:avLst/>
          </a:prstGeom>
          <a:noFill/>
          <a:ln/>
        </p:spPr>
        <p:txBody>
          <a:bodyPr wrap="square" lIns="0" tIns="0" rIns="0" bIns="0" rtlCol="0" anchor="ctr"/>
          <a:lstStyle/>
          <a:p>
            <a:pPr algn="ctr" indent="0" marL="0">
              <a:buNone/>
            </a:pPr>
            <a:r>
              <a:rPr lang="en-US" sz="800" b="1" dirty="0">
                <a:solidFill>
                  <a:srgbClr val="AABBCC"/>
                </a:solidFill>
                <a:latin typeface="Calibri" pitchFamily="34" charset="0"/>
                <a:ea typeface="Calibri" pitchFamily="34" charset="-122"/>
                <a:cs typeface="Calibri" pitchFamily="34" charset="-120"/>
              </a:rPr>
              <a:t>PHASE 3</a:t>
            </a:r>
            <a:endParaRPr lang="en-US" sz="800" dirty="0"/>
          </a:p>
        </p:txBody>
      </p:sp>
      <p:sp>
        <p:nvSpPr>
          <p:cNvPr id="36" name="Text 32"/>
          <p:cNvSpPr/>
          <p:nvPr/>
        </p:nvSpPr>
        <p:spPr>
          <a:xfrm>
            <a:off x="3063240" y="1280160"/>
            <a:ext cx="123444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Glossary</a:t>
            </a:r>
            <a:endParaRPr lang="en-US" sz="1300" dirty="0"/>
          </a:p>
        </p:txBody>
      </p:sp>
      <p:sp>
        <p:nvSpPr>
          <p:cNvPr id="37" name="Text 33"/>
          <p:cNvSpPr/>
          <p:nvPr/>
        </p:nvSpPr>
        <p:spPr>
          <a:xfrm>
            <a:off x="3063240" y="1572768"/>
            <a:ext cx="1234440" cy="201168"/>
          </a:xfrm>
          <a:prstGeom prst="rect">
            <a:avLst/>
          </a:prstGeom>
          <a:noFill/>
          <a:ln/>
        </p:spPr>
        <p:txBody>
          <a:bodyPr wrap="square" lIns="0" tIns="0" rIns="0" bIns="0" rtlCol="0" anchor="ctr"/>
          <a:lstStyle/>
          <a:p>
            <a:pPr algn="ctr" indent="0" marL="0">
              <a:buNone/>
            </a:pPr>
            <a:r>
              <a:rPr lang="en-US" sz="800" dirty="0">
                <a:solidFill>
                  <a:srgbClr val="AABBCC"/>
                </a:solidFill>
                <a:latin typeface="Calibri" pitchFamily="34" charset="0"/>
                <a:ea typeface="Calibri" pitchFamily="34" charset="-122"/>
                <a:cs typeface="Calibri" pitchFamily="34" charset="-120"/>
              </a:rPr>
              <a:t>Wk 8-16</a:t>
            </a:r>
            <a:endParaRPr lang="en-US" sz="800" dirty="0"/>
          </a:p>
        </p:txBody>
      </p:sp>
      <p:sp>
        <p:nvSpPr>
          <p:cNvPr id="38" name="Shape 34"/>
          <p:cNvSpPr/>
          <p:nvPr/>
        </p:nvSpPr>
        <p:spPr>
          <a:xfrm>
            <a:off x="3118104" y="1901952"/>
            <a:ext cx="1124712" cy="292608"/>
          </a:xfrm>
          <a:prstGeom prst="rect">
            <a:avLst/>
          </a:prstGeom>
          <a:solidFill>
            <a:srgbClr val="FFFFFF">
              <a:alpha val="15000"/>
            </a:srgbClr>
          </a:solidFill>
          <a:ln/>
        </p:spPr>
      </p:sp>
      <p:sp>
        <p:nvSpPr>
          <p:cNvPr id="39" name="Text 35"/>
          <p:cNvSpPr/>
          <p:nvPr/>
        </p:nvSpPr>
        <p:spPr>
          <a:xfrm>
            <a:off x="3118104" y="1901952"/>
            <a:ext cx="1124712"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Gov. Domains</a:t>
            </a:r>
            <a:endParaRPr lang="en-US" sz="900" dirty="0"/>
          </a:p>
        </p:txBody>
      </p:sp>
      <p:sp>
        <p:nvSpPr>
          <p:cNvPr id="40" name="Shape 36"/>
          <p:cNvSpPr/>
          <p:nvPr/>
        </p:nvSpPr>
        <p:spPr>
          <a:xfrm>
            <a:off x="3118104" y="2286000"/>
            <a:ext cx="1124712" cy="292608"/>
          </a:xfrm>
          <a:prstGeom prst="rect">
            <a:avLst/>
          </a:prstGeom>
          <a:solidFill>
            <a:srgbClr val="FFFFFF">
              <a:alpha val="15000"/>
            </a:srgbClr>
          </a:solidFill>
          <a:ln/>
        </p:spPr>
      </p:sp>
      <p:sp>
        <p:nvSpPr>
          <p:cNvPr id="41" name="Text 37"/>
          <p:cNvSpPr/>
          <p:nvPr/>
        </p:nvSpPr>
        <p:spPr>
          <a:xfrm>
            <a:off x="3118104" y="2286000"/>
            <a:ext cx="1124712"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Glossary Terms</a:t>
            </a:r>
            <a:endParaRPr lang="en-US" sz="900" dirty="0"/>
          </a:p>
        </p:txBody>
      </p:sp>
      <p:sp>
        <p:nvSpPr>
          <p:cNvPr id="42" name="Shape 38"/>
          <p:cNvSpPr/>
          <p:nvPr/>
        </p:nvSpPr>
        <p:spPr>
          <a:xfrm>
            <a:off x="3118104" y="2670048"/>
            <a:ext cx="1124712" cy="292608"/>
          </a:xfrm>
          <a:prstGeom prst="rect">
            <a:avLst/>
          </a:prstGeom>
          <a:solidFill>
            <a:srgbClr val="FFFFFF">
              <a:alpha val="15000"/>
            </a:srgbClr>
          </a:solidFill>
          <a:ln/>
        </p:spPr>
      </p:sp>
      <p:sp>
        <p:nvSpPr>
          <p:cNvPr id="43" name="Text 39"/>
          <p:cNvSpPr/>
          <p:nvPr/>
        </p:nvSpPr>
        <p:spPr>
          <a:xfrm>
            <a:off x="3118104" y="2670048"/>
            <a:ext cx="1124712"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Asset Links</a:t>
            </a:r>
            <a:endParaRPr lang="en-US" sz="900" dirty="0"/>
          </a:p>
        </p:txBody>
      </p:sp>
      <p:sp>
        <p:nvSpPr>
          <p:cNvPr id="44" name="Shape 40"/>
          <p:cNvSpPr/>
          <p:nvPr/>
        </p:nvSpPr>
        <p:spPr>
          <a:xfrm>
            <a:off x="3118104" y="3054096"/>
            <a:ext cx="1124712" cy="292608"/>
          </a:xfrm>
          <a:prstGeom prst="rect">
            <a:avLst/>
          </a:prstGeom>
          <a:solidFill>
            <a:srgbClr val="FFFFFF">
              <a:alpha val="15000"/>
            </a:srgbClr>
          </a:solidFill>
          <a:ln/>
        </p:spPr>
      </p:sp>
      <p:sp>
        <p:nvSpPr>
          <p:cNvPr id="45" name="Text 41"/>
          <p:cNvSpPr/>
          <p:nvPr/>
        </p:nvSpPr>
        <p:spPr>
          <a:xfrm>
            <a:off x="3118104" y="3054096"/>
            <a:ext cx="1124712"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Roles</a:t>
            </a:r>
            <a:endParaRPr lang="en-US" sz="900" dirty="0"/>
          </a:p>
        </p:txBody>
      </p:sp>
      <p:sp>
        <p:nvSpPr>
          <p:cNvPr id="46" name="Shape 42"/>
          <p:cNvSpPr/>
          <p:nvPr/>
        </p:nvSpPr>
        <p:spPr>
          <a:xfrm>
            <a:off x="3118104" y="3566160"/>
            <a:ext cx="1124712" cy="201168"/>
          </a:xfrm>
          <a:prstGeom prst="rect">
            <a:avLst/>
          </a:prstGeom>
          <a:solidFill>
            <a:srgbClr val="D4740E"/>
          </a:solidFill>
          <a:ln/>
        </p:spPr>
      </p:sp>
      <p:sp>
        <p:nvSpPr>
          <p:cNvPr id="47" name="Text 43"/>
          <p:cNvSpPr/>
          <p:nvPr/>
        </p:nvSpPr>
        <p:spPr>
          <a:xfrm>
            <a:off x="3118104" y="3566160"/>
            <a:ext cx="1124712"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CONTEXT</a:t>
            </a:r>
            <a:endParaRPr lang="en-US" sz="700" dirty="0"/>
          </a:p>
        </p:txBody>
      </p:sp>
      <p:pic>
        <p:nvPicPr>
          <p:cNvPr id="48" name="Image 2" descr="preencoded.png"/>
          <p:cNvPicPr>
            <a:picLocks noChangeAspect="1"/>
          </p:cNvPicPr>
          <p:nvPr/>
        </p:nvPicPr>
        <p:blipFill>
          <a:blip r:embed="rId3"/>
          <a:stretch>
            <a:fillRect/>
          </a:stretch>
        </p:blipFill>
        <p:spPr>
          <a:xfrm>
            <a:off x="4306824" y="2286000"/>
            <a:ext cx="128016" cy="128016"/>
          </a:xfrm>
          <a:prstGeom prst="rect">
            <a:avLst/>
          </a:prstGeom>
        </p:spPr>
      </p:pic>
      <p:sp>
        <p:nvSpPr>
          <p:cNvPr id="49" name="Shape 44"/>
          <p:cNvSpPr/>
          <p:nvPr/>
        </p:nvSpPr>
        <p:spPr>
          <a:xfrm>
            <a:off x="4434840" y="1005840"/>
            <a:ext cx="1234440" cy="2926080"/>
          </a:xfrm>
          <a:prstGeom prst="rect">
            <a:avLst/>
          </a:prstGeom>
          <a:solidFill>
            <a:srgbClr val="0A6665"/>
          </a:solidFill>
          <a:ln/>
          <a:effectLst>
            <a:outerShdw sx="100000" sy="100000" kx="0" ky="0" algn="bl" rotWithShape="0" blurRad="76200" dist="25400" dir="8100000">
              <a:srgbClr val="000000">
                <a:alpha val="12000"/>
              </a:srgbClr>
            </a:outerShdw>
          </a:effectLst>
        </p:spPr>
      </p:sp>
      <p:sp>
        <p:nvSpPr>
          <p:cNvPr id="50" name="Text 45"/>
          <p:cNvSpPr/>
          <p:nvPr/>
        </p:nvSpPr>
        <p:spPr>
          <a:xfrm>
            <a:off x="4434840" y="1078992"/>
            <a:ext cx="1234440" cy="228600"/>
          </a:xfrm>
          <a:prstGeom prst="rect">
            <a:avLst/>
          </a:prstGeom>
          <a:noFill/>
          <a:ln/>
        </p:spPr>
        <p:txBody>
          <a:bodyPr wrap="square" lIns="0" tIns="0" rIns="0" bIns="0" rtlCol="0" anchor="ctr"/>
          <a:lstStyle/>
          <a:p>
            <a:pPr algn="ctr" indent="0" marL="0">
              <a:buNone/>
            </a:pPr>
            <a:r>
              <a:rPr lang="en-US" sz="800" b="1" dirty="0">
                <a:solidFill>
                  <a:srgbClr val="AABBCC"/>
                </a:solidFill>
                <a:latin typeface="Calibri" pitchFamily="34" charset="0"/>
                <a:ea typeface="Calibri" pitchFamily="34" charset="-122"/>
                <a:cs typeface="Calibri" pitchFamily="34" charset="-120"/>
              </a:rPr>
              <a:t>PHASE 4</a:t>
            </a:r>
            <a:endParaRPr lang="en-US" sz="800" dirty="0"/>
          </a:p>
        </p:txBody>
      </p:sp>
      <p:sp>
        <p:nvSpPr>
          <p:cNvPr id="51" name="Text 46"/>
          <p:cNvSpPr/>
          <p:nvPr/>
        </p:nvSpPr>
        <p:spPr>
          <a:xfrm>
            <a:off x="4434840" y="1280160"/>
            <a:ext cx="123444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Products</a:t>
            </a:r>
            <a:endParaRPr lang="en-US" sz="1300" dirty="0"/>
          </a:p>
        </p:txBody>
      </p:sp>
      <p:sp>
        <p:nvSpPr>
          <p:cNvPr id="52" name="Text 47"/>
          <p:cNvSpPr/>
          <p:nvPr/>
        </p:nvSpPr>
        <p:spPr>
          <a:xfrm>
            <a:off x="4434840" y="1572768"/>
            <a:ext cx="1234440" cy="201168"/>
          </a:xfrm>
          <a:prstGeom prst="rect">
            <a:avLst/>
          </a:prstGeom>
          <a:noFill/>
          <a:ln/>
        </p:spPr>
        <p:txBody>
          <a:bodyPr wrap="square" lIns="0" tIns="0" rIns="0" bIns="0" rtlCol="0" anchor="ctr"/>
          <a:lstStyle/>
          <a:p>
            <a:pPr algn="ctr" indent="0" marL="0">
              <a:buNone/>
            </a:pPr>
            <a:r>
              <a:rPr lang="en-US" sz="800" dirty="0">
                <a:solidFill>
                  <a:srgbClr val="AABBCC"/>
                </a:solidFill>
                <a:latin typeface="Calibri" pitchFamily="34" charset="0"/>
                <a:ea typeface="Calibri" pitchFamily="34" charset="-122"/>
                <a:cs typeface="Calibri" pitchFamily="34" charset="-120"/>
              </a:rPr>
              <a:t>Wk 14-22</a:t>
            </a:r>
            <a:endParaRPr lang="en-US" sz="800" dirty="0"/>
          </a:p>
        </p:txBody>
      </p:sp>
      <p:sp>
        <p:nvSpPr>
          <p:cNvPr id="53" name="Shape 48"/>
          <p:cNvSpPr/>
          <p:nvPr/>
        </p:nvSpPr>
        <p:spPr>
          <a:xfrm>
            <a:off x="4489704" y="1901952"/>
            <a:ext cx="1124712" cy="292608"/>
          </a:xfrm>
          <a:prstGeom prst="rect">
            <a:avLst/>
          </a:prstGeom>
          <a:solidFill>
            <a:srgbClr val="FFFFFF">
              <a:alpha val="15000"/>
            </a:srgbClr>
          </a:solidFill>
          <a:ln/>
        </p:spPr>
      </p:sp>
      <p:sp>
        <p:nvSpPr>
          <p:cNvPr id="54" name="Text 49"/>
          <p:cNvSpPr/>
          <p:nvPr/>
        </p:nvSpPr>
        <p:spPr>
          <a:xfrm>
            <a:off x="4489704" y="1901952"/>
            <a:ext cx="1124712"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Data Products</a:t>
            </a:r>
            <a:endParaRPr lang="en-US" sz="900" dirty="0"/>
          </a:p>
        </p:txBody>
      </p:sp>
      <p:sp>
        <p:nvSpPr>
          <p:cNvPr id="55" name="Shape 50"/>
          <p:cNvSpPr/>
          <p:nvPr/>
        </p:nvSpPr>
        <p:spPr>
          <a:xfrm>
            <a:off x="4489704" y="2286000"/>
            <a:ext cx="1124712" cy="292608"/>
          </a:xfrm>
          <a:prstGeom prst="rect">
            <a:avLst/>
          </a:prstGeom>
          <a:solidFill>
            <a:srgbClr val="FFFFFF">
              <a:alpha val="15000"/>
            </a:srgbClr>
          </a:solidFill>
          <a:ln/>
        </p:spPr>
      </p:sp>
      <p:sp>
        <p:nvSpPr>
          <p:cNvPr id="56" name="Text 51"/>
          <p:cNvSpPr/>
          <p:nvPr/>
        </p:nvSpPr>
        <p:spPr>
          <a:xfrm>
            <a:off x="4489704" y="2286000"/>
            <a:ext cx="1124712"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CDEs</a:t>
            </a:r>
            <a:endParaRPr lang="en-US" sz="900" dirty="0"/>
          </a:p>
        </p:txBody>
      </p:sp>
      <p:sp>
        <p:nvSpPr>
          <p:cNvPr id="57" name="Shape 52"/>
          <p:cNvSpPr/>
          <p:nvPr/>
        </p:nvSpPr>
        <p:spPr>
          <a:xfrm>
            <a:off x="4489704" y="2670048"/>
            <a:ext cx="1124712" cy="292608"/>
          </a:xfrm>
          <a:prstGeom prst="rect">
            <a:avLst/>
          </a:prstGeom>
          <a:solidFill>
            <a:srgbClr val="FFFFFF">
              <a:alpha val="15000"/>
            </a:srgbClr>
          </a:solidFill>
          <a:ln/>
        </p:spPr>
      </p:sp>
      <p:sp>
        <p:nvSpPr>
          <p:cNvPr id="58" name="Text 53"/>
          <p:cNvSpPr/>
          <p:nvPr/>
        </p:nvSpPr>
        <p:spPr>
          <a:xfrm>
            <a:off x="4489704" y="2670048"/>
            <a:ext cx="1124712"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Quality Rules</a:t>
            </a:r>
            <a:endParaRPr lang="en-US" sz="900" dirty="0"/>
          </a:p>
        </p:txBody>
      </p:sp>
      <p:sp>
        <p:nvSpPr>
          <p:cNvPr id="59" name="Shape 54"/>
          <p:cNvSpPr/>
          <p:nvPr/>
        </p:nvSpPr>
        <p:spPr>
          <a:xfrm>
            <a:off x="4489704" y="3054096"/>
            <a:ext cx="1124712" cy="292608"/>
          </a:xfrm>
          <a:prstGeom prst="rect">
            <a:avLst/>
          </a:prstGeom>
          <a:solidFill>
            <a:srgbClr val="FFFFFF">
              <a:alpha val="15000"/>
            </a:srgbClr>
          </a:solidFill>
          <a:ln/>
        </p:spPr>
      </p:sp>
      <p:sp>
        <p:nvSpPr>
          <p:cNvPr id="60" name="Text 55"/>
          <p:cNvSpPr/>
          <p:nvPr/>
        </p:nvSpPr>
        <p:spPr>
          <a:xfrm>
            <a:off x="4489704" y="3054096"/>
            <a:ext cx="1124712"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OKRs</a:t>
            </a:r>
            <a:endParaRPr lang="en-US" sz="900" dirty="0"/>
          </a:p>
        </p:txBody>
      </p:sp>
      <p:sp>
        <p:nvSpPr>
          <p:cNvPr id="61" name="Shape 56"/>
          <p:cNvSpPr/>
          <p:nvPr/>
        </p:nvSpPr>
        <p:spPr>
          <a:xfrm>
            <a:off x="4489704" y="3566160"/>
            <a:ext cx="1124712" cy="201168"/>
          </a:xfrm>
          <a:prstGeom prst="rect">
            <a:avLst/>
          </a:prstGeom>
          <a:solidFill>
            <a:srgbClr val="D4740E"/>
          </a:solidFill>
          <a:ln/>
        </p:spPr>
      </p:sp>
      <p:sp>
        <p:nvSpPr>
          <p:cNvPr id="62" name="Text 57"/>
          <p:cNvSpPr/>
          <p:nvPr/>
        </p:nvSpPr>
        <p:spPr>
          <a:xfrm>
            <a:off x="4489704" y="3566160"/>
            <a:ext cx="1124712"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VALUE</a:t>
            </a:r>
            <a:endParaRPr lang="en-US" sz="700" dirty="0"/>
          </a:p>
        </p:txBody>
      </p:sp>
      <p:pic>
        <p:nvPicPr>
          <p:cNvPr id="63" name="Image 3" descr="preencoded.png"/>
          <p:cNvPicPr>
            <a:picLocks noChangeAspect="1"/>
          </p:cNvPicPr>
          <p:nvPr/>
        </p:nvPicPr>
        <p:blipFill>
          <a:blip r:embed="rId4"/>
          <a:stretch>
            <a:fillRect/>
          </a:stretch>
        </p:blipFill>
        <p:spPr>
          <a:xfrm>
            <a:off x="5678424" y="2286000"/>
            <a:ext cx="128016" cy="128016"/>
          </a:xfrm>
          <a:prstGeom prst="rect">
            <a:avLst/>
          </a:prstGeom>
        </p:spPr>
      </p:pic>
      <p:sp>
        <p:nvSpPr>
          <p:cNvPr id="64" name="Shape 58"/>
          <p:cNvSpPr/>
          <p:nvPr/>
        </p:nvSpPr>
        <p:spPr>
          <a:xfrm>
            <a:off x="5806440" y="1005840"/>
            <a:ext cx="1234440" cy="2926080"/>
          </a:xfrm>
          <a:prstGeom prst="rect">
            <a:avLst/>
          </a:prstGeom>
          <a:solidFill>
            <a:srgbClr val="1B3A5C"/>
          </a:solidFill>
          <a:ln/>
          <a:effectLst>
            <a:outerShdw sx="100000" sy="100000" kx="0" ky="0" algn="bl" rotWithShape="0" blurRad="76200" dist="25400" dir="8100000">
              <a:srgbClr val="000000">
                <a:alpha val="12000"/>
              </a:srgbClr>
            </a:outerShdw>
          </a:effectLst>
        </p:spPr>
      </p:sp>
      <p:sp>
        <p:nvSpPr>
          <p:cNvPr id="65" name="Text 59"/>
          <p:cNvSpPr/>
          <p:nvPr/>
        </p:nvSpPr>
        <p:spPr>
          <a:xfrm>
            <a:off x="5806440" y="1078992"/>
            <a:ext cx="1234440" cy="228600"/>
          </a:xfrm>
          <a:prstGeom prst="rect">
            <a:avLst/>
          </a:prstGeom>
          <a:noFill/>
          <a:ln/>
        </p:spPr>
        <p:txBody>
          <a:bodyPr wrap="square" lIns="0" tIns="0" rIns="0" bIns="0" rtlCol="0" anchor="ctr"/>
          <a:lstStyle/>
          <a:p>
            <a:pPr algn="ctr" indent="0" marL="0">
              <a:buNone/>
            </a:pPr>
            <a:r>
              <a:rPr lang="en-US" sz="800" b="1" dirty="0">
                <a:solidFill>
                  <a:srgbClr val="AABBCC"/>
                </a:solidFill>
                <a:latin typeface="Calibri" pitchFamily="34" charset="0"/>
                <a:ea typeface="Calibri" pitchFamily="34" charset="-122"/>
                <a:cs typeface="Calibri" pitchFamily="34" charset="-120"/>
              </a:rPr>
              <a:t>PHASE 5</a:t>
            </a:r>
            <a:endParaRPr lang="en-US" sz="800" dirty="0"/>
          </a:p>
        </p:txBody>
      </p:sp>
      <p:sp>
        <p:nvSpPr>
          <p:cNvPr id="66" name="Text 60"/>
          <p:cNvSpPr/>
          <p:nvPr/>
        </p:nvSpPr>
        <p:spPr>
          <a:xfrm>
            <a:off x="5806440" y="1280160"/>
            <a:ext cx="123444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Security</a:t>
            </a:r>
            <a:endParaRPr lang="en-US" sz="1300" dirty="0"/>
          </a:p>
        </p:txBody>
      </p:sp>
      <p:sp>
        <p:nvSpPr>
          <p:cNvPr id="67" name="Text 61"/>
          <p:cNvSpPr/>
          <p:nvPr/>
        </p:nvSpPr>
        <p:spPr>
          <a:xfrm>
            <a:off x="5806440" y="1572768"/>
            <a:ext cx="1234440" cy="201168"/>
          </a:xfrm>
          <a:prstGeom prst="rect">
            <a:avLst/>
          </a:prstGeom>
          <a:noFill/>
          <a:ln/>
        </p:spPr>
        <p:txBody>
          <a:bodyPr wrap="square" lIns="0" tIns="0" rIns="0" bIns="0" rtlCol="0" anchor="ctr"/>
          <a:lstStyle/>
          <a:p>
            <a:pPr algn="ctr" indent="0" marL="0">
              <a:buNone/>
            </a:pPr>
            <a:r>
              <a:rPr lang="en-US" sz="800" dirty="0">
                <a:solidFill>
                  <a:srgbClr val="AABBCC"/>
                </a:solidFill>
                <a:latin typeface="Calibri" pitchFamily="34" charset="0"/>
                <a:ea typeface="Calibri" pitchFamily="34" charset="-122"/>
                <a:cs typeface="Calibri" pitchFamily="34" charset="-120"/>
              </a:rPr>
              <a:t>Wk 18-28</a:t>
            </a:r>
            <a:endParaRPr lang="en-US" sz="800" dirty="0"/>
          </a:p>
        </p:txBody>
      </p:sp>
      <p:sp>
        <p:nvSpPr>
          <p:cNvPr id="68" name="Shape 62"/>
          <p:cNvSpPr/>
          <p:nvPr/>
        </p:nvSpPr>
        <p:spPr>
          <a:xfrm>
            <a:off x="5861304" y="1901952"/>
            <a:ext cx="1124712" cy="292608"/>
          </a:xfrm>
          <a:prstGeom prst="rect">
            <a:avLst/>
          </a:prstGeom>
          <a:solidFill>
            <a:srgbClr val="FFFFFF">
              <a:alpha val="15000"/>
            </a:srgbClr>
          </a:solidFill>
          <a:ln/>
        </p:spPr>
      </p:sp>
      <p:sp>
        <p:nvSpPr>
          <p:cNvPr id="69" name="Text 63"/>
          <p:cNvSpPr/>
          <p:nvPr/>
        </p:nvSpPr>
        <p:spPr>
          <a:xfrm>
            <a:off x="5861304" y="1901952"/>
            <a:ext cx="1124712"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DLP</a:t>
            </a:r>
            <a:endParaRPr lang="en-US" sz="900" dirty="0"/>
          </a:p>
        </p:txBody>
      </p:sp>
      <p:sp>
        <p:nvSpPr>
          <p:cNvPr id="70" name="Shape 64"/>
          <p:cNvSpPr/>
          <p:nvPr/>
        </p:nvSpPr>
        <p:spPr>
          <a:xfrm>
            <a:off x="5861304" y="2286000"/>
            <a:ext cx="1124712" cy="292608"/>
          </a:xfrm>
          <a:prstGeom prst="rect">
            <a:avLst/>
          </a:prstGeom>
          <a:solidFill>
            <a:srgbClr val="FFFFFF">
              <a:alpha val="15000"/>
            </a:srgbClr>
          </a:solidFill>
          <a:ln/>
        </p:spPr>
      </p:sp>
      <p:sp>
        <p:nvSpPr>
          <p:cNvPr id="71" name="Text 65"/>
          <p:cNvSpPr/>
          <p:nvPr/>
        </p:nvSpPr>
        <p:spPr>
          <a:xfrm>
            <a:off x="5861304" y="2286000"/>
            <a:ext cx="1124712"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Insider Risk</a:t>
            </a:r>
            <a:endParaRPr lang="en-US" sz="900" dirty="0"/>
          </a:p>
        </p:txBody>
      </p:sp>
      <p:sp>
        <p:nvSpPr>
          <p:cNvPr id="72" name="Shape 66"/>
          <p:cNvSpPr/>
          <p:nvPr/>
        </p:nvSpPr>
        <p:spPr>
          <a:xfrm>
            <a:off x="5861304" y="2670048"/>
            <a:ext cx="1124712" cy="292608"/>
          </a:xfrm>
          <a:prstGeom prst="rect">
            <a:avLst/>
          </a:prstGeom>
          <a:solidFill>
            <a:srgbClr val="FFFFFF">
              <a:alpha val="15000"/>
            </a:srgbClr>
          </a:solidFill>
          <a:ln/>
        </p:spPr>
      </p:sp>
      <p:sp>
        <p:nvSpPr>
          <p:cNvPr id="73" name="Text 67"/>
          <p:cNvSpPr/>
          <p:nvPr/>
        </p:nvSpPr>
        <p:spPr>
          <a:xfrm>
            <a:off x="5861304" y="2670048"/>
            <a:ext cx="1124712"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DSPM</a:t>
            </a:r>
            <a:endParaRPr lang="en-US" sz="900" dirty="0"/>
          </a:p>
        </p:txBody>
      </p:sp>
      <p:sp>
        <p:nvSpPr>
          <p:cNvPr id="74" name="Shape 68"/>
          <p:cNvSpPr/>
          <p:nvPr/>
        </p:nvSpPr>
        <p:spPr>
          <a:xfrm>
            <a:off x="5861304" y="3054096"/>
            <a:ext cx="1124712" cy="292608"/>
          </a:xfrm>
          <a:prstGeom prst="rect">
            <a:avLst/>
          </a:prstGeom>
          <a:solidFill>
            <a:srgbClr val="FFFFFF">
              <a:alpha val="15000"/>
            </a:srgbClr>
          </a:solidFill>
          <a:ln/>
        </p:spPr>
      </p:sp>
      <p:sp>
        <p:nvSpPr>
          <p:cNvPr id="75" name="Text 69"/>
          <p:cNvSpPr/>
          <p:nvPr/>
        </p:nvSpPr>
        <p:spPr>
          <a:xfrm>
            <a:off x="5861304" y="3054096"/>
            <a:ext cx="1124712"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AI Obs.</a:t>
            </a:r>
            <a:endParaRPr lang="en-US" sz="900" dirty="0"/>
          </a:p>
        </p:txBody>
      </p:sp>
      <p:sp>
        <p:nvSpPr>
          <p:cNvPr id="76" name="Shape 70"/>
          <p:cNvSpPr/>
          <p:nvPr/>
        </p:nvSpPr>
        <p:spPr>
          <a:xfrm>
            <a:off x="5861304" y="3566160"/>
            <a:ext cx="1124712" cy="201168"/>
          </a:xfrm>
          <a:prstGeom prst="rect">
            <a:avLst/>
          </a:prstGeom>
          <a:solidFill>
            <a:srgbClr val="D4740E"/>
          </a:solidFill>
          <a:ln/>
        </p:spPr>
      </p:sp>
      <p:sp>
        <p:nvSpPr>
          <p:cNvPr id="77" name="Text 71"/>
          <p:cNvSpPr/>
          <p:nvPr/>
        </p:nvSpPr>
        <p:spPr>
          <a:xfrm>
            <a:off x="5861304" y="3566160"/>
            <a:ext cx="1124712"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ENFORCE</a:t>
            </a:r>
            <a:endParaRPr lang="en-US" sz="700" dirty="0"/>
          </a:p>
        </p:txBody>
      </p:sp>
      <p:pic>
        <p:nvPicPr>
          <p:cNvPr id="78" name="Image 4" descr="preencoded.png"/>
          <p:cNvPicPr>
            <a:picLocks noChangeAspect="1"/>
          </p:cNvPicPr>
          <p:nvPr/>
        </p:nvPicPr>
        <p:blipFill>
          <a:blip r:embed="rId5"/>
          <a:stretch>
            <a:fillRect/>
          </a:stretch>
        </p:blipFill>
        <p:spPr>
          <a:xfrm>
            <a:off x="7050024" y="2286000"/>
            <a:ext cx="128016" cy="128016"/>
          </a:xfrm>
          <a:prstGeom prst="rect">
            <a:avLst/>
          </a:prstGeom>
        </p:spPr>
      </p:pic>
      <p:sp>
        <p:nvSpPr>
          <p:cNvPr id="79" name="Shape 72"/>
          <p:cNvSpPr/>
          <p:nvPr/>
        </p:nvSpPr>
        <p:spPr>
          <a:xfrm>
            <a:off x="7178040" y="1005840"/>
            <a:ext cx="1234440" cy="2926080"/>
          </a:xfrm>
          <a:prstGeom prst="rect">
            <a:avLst/>
          </a:prstGeom>
          <a:solidFill>
            <a:srgbClr val="0A6665"/>
          </a:solidFill>
          <a:ln/>
          <a:effectLst>
            <a:outerShdw sx="100000" sy="100000" kx="0" ky="0" algn="bl" rotWithShape="0" blurRad="76200" dist="25400" dir="8100000">
              <a:srgbClr val="000000">
                <a:alpha val="12000"/>
              </a:srgbClr>
            </a:outerShdw>
          </a:effectLst>
        </p:spPr>
      </p:sp>
      <p:sp>
        <p:nvSpPr>
          <p:cNvPr id="80" name="Text 73"/>
          <p:cNvSpPr/>
          <p:nvPr/>
        </p:nvSpPr>
        <p:spPr>
          <a:xfrm>
            <a:off x="7178040" y="1078992"/>
            <a:ext cx="1234440" cy="228600"/>
          </a:xfrm>
          <a:prstGeom prst="rect">
            <a:avLst/>
          </a:prstGeom>
          <a:noFill/>
          <a:ln/>
        </p:spPr>
        <p:txBody>
          <a:bodyPr wrap="square" lIns="0" tIns="0" rIns="0" bIns="0" rtlCol="0" anchor="ctr"/>
          <a:lstStyle/>
          <a:p>
            <a:pPr algn="ctr" indent="0" marL="0">
              <a:buNone/>
            </a:pPr>
            <a:r>
              <a:rPr lang="en-US" sz="800" b="1" dirty="0">
                <a:solidFill>
                  <a:srgbClr val="AABBCC"/>
                </a:solidFill>
                <a:latin typeface="Calibri" pitchFamily="34" charset="0"/>
                <a:ea typeface="Calibri" pitchFamily="34" charset="-122"/>
                <a:cs typeface="Calibri" pitchFamily="34" charset="-120"/>
              </a:rPr>
              <a:t>PHASE 6</a:t>
            </a:r>
            <a:endParaRPr lang="en-US" sz="800" dirty="0"/>
          </a:p>
        </p:txBody>
      </p:sp>
      <p:sp>
        <p:nvSpPr>
          <p:cNvPr id="81" name="Text 74"/>
          <p:cNvSpPr/>
          <p:nvPr/>
        </p:nvSpPr>
        <p:spPr>
          <a:xfrm>
            <a:off x="7178040" y="1280160"/>
            <a:ext cx="123444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Compliance</a:t>
            </a:r>
            <a:endParaRPr lang="en-US" sz="1300" dirty="0"/>
          </a:p>
        </p:txBody>
      </p:sp>
      <p:sp>
        <p:nvSpPr>
          <p:cNvPr id="82" name="Text 75"/>
          <p:cNvSpPr/>
          <p:nvPr/>
        </p:nvSpPr>
        <p:spPr>
          <a:xfrm>
            <a:off x="7178040" y="1572768"/>
            <a:ext cx="1234440" cy="201168"/>
          </a:xfrm>
          <a:prstGeom prst="rect">
            <a:avLst/>
          </a:prstGeom>
          <a:noFill/>
          <a:ln/>
        </p:spPr>
        <p:txBody>
          <a:bodyPr wrap="square" lIns="0" tIns="0" rIns="0" bIns="0" rtlCol="0" anchor="ctr"/>
          <a:lstStyle/>
          <a:p>
            <a:pPr algn="ctr" indent="0" marL="0">
              <a:buNone/>
            </a:pPr>
            <a:r>
              <a:rPr lang="en-US" sz="800" dirty="0">
                <a:solidFill>
                  <a:srgbClr val="AABBCC"/>
                </a:solidFill>
                <a:latin typeface="Calibri" pitchFamily="34" charset="0"/>
                <a:ea typeface="Calibri" pitchFamily="34" charset="-122"/>
                <a:cs typeface="Calibri" pitchFamily="34" charset="-120"/>
              </a:rPr>
              <a:t>Wk 24-36+</a:t>
            </a:r>
            <a:endParaRPr lang="en-US" sz="800" dirty="0"/>
          </a:p>
        </p:txBody>
      </p:sp>
      <p:sp>
        <p:nvSpPr>
          <p:cNvPr id="83" name="Shape 76"/>
          <p:cNvSpPr/>
          <p:nvPr/>
        </p:nvSpPr>
        <p:spPr>
          <a:xfrm>
            <a:off x="7232904" y="1901952"/>
            <a:ext cx="1124712" cy="292608"/>
          </a:xfrm>
          <a:prstGeom prst="rect">
            <a:avLst/>
          </a:prstGeom>
          <a:solidFill>
            <a:srgbClr val="FFFFFF">
              <a:alpha val="15000"/>
            </a:srgbClr>
          </a:solidFill>
          <a:ln/>
        </p:spPr>
      </p:sp>
      <p:sp>
        <p:nvSpPr>
          <p:cNvPr id="84" name="Text 77"/>
          <p:cNvSpPr/>
          <p:nvPr/>
        </p:nvSpPr>
        <p:spPr>
          <a:xfrm>
            <a:off x="7232904" y="1901952"/>
            <a:ext cx="1124712"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Comp. Mgr</a:t>
            </a:r>
            <a:endParaRPr lang="en-US" sz="900" dirty="0"/>
          </a:p>
        </p:txBody>
      </p:sp>
      <p:sp>
        <p:nvSpPr>
          <p:cNvPr id="85" name="Shape 78"/>
          <p:cNvSpPr/>
          <p:nvPr/>
        </p:nvSpPr>
        <p:spPr>
          <a:xfrm>
            <a:off x="7232904" y="2286000"/>
            <a:ext cx="1124712" cy="292608"/>
          </a:xfrm>
          <a:prstGeom prst="rect">
            <a:avLst/>
          </a:prstGeom>
          <a:solidFill>
            <a:srgbClr val="FFFFFF">
              <a:alpha val="15000"/>
            </a:srgbClr>
          </a:solidFill>
          <a:ln/>
        </p:spPr>
      </p:sp>
      <p:sp>
        <p:nvSpPr>
          <p:cNvPr id="86" name="Text 79"/>
          <p:cNvSpPr/>
          <p:nvPr/>
        </p:nvSpPr>
        <p:spPr>
          <a:xfrm>
            <a:off x="7232904" y="2286000"/>
            <a:ext cx="1124712"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Lifecycle</a:t>
            </a:r>
            <a:endParaRPr lang="en-US" sz="900" dirty="0"/>
          </a:p>
        </p:txBody>
      </p:sp>
      <p:sp>
        <p:nvSpPr>
          <p:cNvPr id="87" name="Shape 80"/>
          <p:cNvSpPr/>
          <p:nvPr/>
        </p:nvSpPr>
        <p:spPr>
          <a:xfrm>
            <a:off x="7232904" y="2670048"/>
            <a:ext cx="1124712" cy="292608"/>
          </a:xfrm>
          <a:prstGeom prst="rect">
            <a:avLst/>
          </a:prstGeom>
          <a:solidFill>
            <a:srgbClr val="FFFFFF">
              <a:alpha val="15000"/>
            </a:srgbClr>
          </a:solidFill>
          <a:ln/>
        </p:spPr>
      </p:sp>
      <p:sp>
        <p:nvSpPr>
          <p:cNvPr id="88" name="Text 81"/>
          <p:cNvSpPr/>
          <p:nvPr/>
        </p:nvSpPr>
        <p:spPr>
          <a:xfrm>
            <a:off x="7232904" y="2670048"/>
            <a:ext cx="1124712"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Records</a:t>
            </a:r>
            <a:endParaRPr lang="en-US" sz="900" dirty="0"/>
          </a:p>
        </p:txBody>
      </p:sp>
      <p:sp>
        <p:nvSpPr>
          <p:cNvPr id="89" name="Shape 82"/>
          <p:cNvSpPr/>
          <p:nvPr/>
        </p:nvSpPr>
        <p:spPr>
          <a:xfrm>
            <a:off x="7232904" y="3054096"/>
            <a:ext cx="1124712" cy="292608"/>
          </a:xfrm>
          <a:prstGeom prst="rect">
            <a:avLst/>
          </a:prstGeom>
          <a:solidFill>
            <a:srgbClr val="FFFFFF">
              <a:alpha val="15000"/>
            </a:srgbClr>
          </a:solidFill>
          <a:ln/>
        </p:spPr>
      </p:sp>
      <p:sp>
        <p:nvSpPr>
          <p:cNvPr id="90" name="Text 83"/>
          <p:cNvSpPr/>
          <p:nvPr/>
        </p:nvSpPr>
        <p:spPr>
          <a:xfrm>
            <a:off x="7232904" y="3054096"/>
            <a:ext cx="1124712"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Health</a:t>
            </a:r>
            <a:endParaRPr lang="en-US" sz="900" dirty="0"/>
          </a:p>
        </p:txBody>
      </p:sp>
      <p:sp>
        <p:nvSpPr>
          <p:cNvPr id="91" name="Shape 84"/>
          <p:cNvSpPr/>
          <p:nvPr/>
        </p:nvSpPr>
        <p:spPr>
          <a:xfrm>
            <a:off x="7232904" y="3566160"/>
            <a:ext cx="1124712" cy="201168"/>
          </a:xfrm>
          <a:prstGeom prst="rect">
            <a:avLst/>
          </a:prstGeom>
          <a:solidFill>
            <a:srgbClr val="D4740E"/>
          </a:solidFill>
          <a:ln/>
        </p:spPr>
      </p:sp>
      <p:sp>
        <p:nvSpPr>
          <p:cNvPr id="92" name="Text 85"/>
          <p:cNvSpPr/>
          <p:nvPr/>
        </p:nvSpPr>
        <p:spPr>
          <a:xfrm>
            <a:off x="7232904" y="3566160"/>
            <a:ext cx="1124712"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SUSTAIN</a:t>
            </a:r>
            <a:endParaRPr lang="en-US" sz="700" dirty="0"/>
          </a:p>
        </p:txBody>
      </p:sp>
      <p:sp>
        <p:nvSpPr>
          <p:cNvPr id="93" name="Shape 86"/>
          <p:cNvSpPr/>
          <p:nvPr/>
        </p:nvSpPr>
        <p:spPr>
          <a:xfrm>
            <a:off x="320040" y="4114800"/>
            <a:ext cx="8503920" cy="777240"/>
          </a:xfrm>
          <a:prstGeom prst="rect">
            <a:avLst/>
          </a:prstGeom>
          <a:solidFill>
            <a:srgbClr val="E8EEF4"/>
          </a:solidFill>
          <a:ln/>
        </p:spPr>
      </p:sp>
      <p:sp>
        <p:nvSpPr>
          <p:cNvPr id="94" name="Text 87"/>
          <p:cNvSpPr/>
          <p:nvPr/>
        </p:nvSpPr>
        <p:spPr>
          <a:xfrm>
            <a:off x="457200" y="4133088"/>
            <a:ext cx="2743200" cy="201168"/>
          </a:xfrm>
          <a:prstGeom prst="rect">
            <a:avLst/>
          </a:prstGeom>
          <a:noFill/>
          <a:ln/>
        </p:spPr>
        <p:txBody>
          <a:bodyPr wrap="square" lIns="0" tIns="0" rIns="0" bIns="0" rtlCol="0" anchor="ctr"/>
          <a:lstStyle/>
          <a:p>
            <a:pPr indent="0" marL="0">
              <a:buNone/>
            </a:pPr>
            <a:r>
              <a:rPr lang="en-US" sz="900" b="1" dirty="0">
                <a:solidFill>
                  <a:srgbClr val="1B3A5C"/>
                </a:solidFill>
                <a:latin typeface="Calibri" pitchFamily="34" charset="0"/>
                <a:ea typeface="Calibri" pitchFamily="34" charset="-122"/>
                <a:cs typeface="Calibri" pitchFamily="34" charset="-120"/>
              </a:rPr>
              <a:t>Parallel Execution Windows</a:t>
            </a:r>
            <a:endParaRPr lang="en-US" sz="900" dirty="0"/>
          </a:p>
        </p:txBody>
      </p:sp>
      <p:sp>
        <p:nvSpPr>
          <p:cNvPr id="95" name="Shape 88"/>
          <p:cNvSpPr/>
          <p:nvPr/>
        </p:nvSpPr>
        <p:spPr>
          <a:xfrm>
            <a:off x="640080" y="4370832"/>
            <a:ext cx="1227221" cy="155448"/>
          </a:xfrm>
          <a:prstGeom prst="rect">
            <a:avLst/>
          </a:prstGeom>
          <a:solidFill>
            <a:srgbClr val="1B3A5C"/>
          </a:solidFill>
          <a:ln/>
        </p:spPr>
      </p:sp>
      <p:sp>
        <p:nvSpPr>
          <p:cNvPr id="96" name="Text 89"/>
          <p:cNvSpPr/>
          <p:nvPr/>
        </p:nvSpPr>
        <p:spPr>
          <a:xfrm>
            <a:off x="640080" y="4370832"/>
            <a:ext cx="1227221" cy="15544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P1</a:t>
            </a:r>
            <a:endParaRPr lang="en-US" sz="700" dirty="0"/>
          </a:p>
        </p:txBody>
      </p:sp>
      <p:sp>
        <p:nvSpPr>
          <p:cNvPr id="97" name="Shape 90"/>
          <p:cNvSpPr/>
          <p:nvPr/>
        </p:nvSpPr>
        <p:spPr>
          <a:xfrm>
            <a:off x="1458227" y="4572000"/>
            <a:ext cx="1227221" cy="155448"/>
          </a:xfrm>
          <a:prstGeom prst="rect">
            <a:avLst/>
          </a:prstGeom>
          <a:solidFill>
            <a:srgbClr val="0A6665"/>
          </a:solidFill>
          <a:ln/>
        </p:spPr>
      </p:sp>
      <p:sp>
        <p:nvSpPr>
          <p:cNvPr id="98" name="Text 91"/>
          <p:cNvSpPr/>
          <p:nvPr/>
        </p:nvSpPr>
        <p:spPr>
          <a:xfrm>
            <a:off x="1458227" y="4572000"/>
            <a:ext cx="1227221" cy="15544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P2</a:t>
            </a:r>
            <a:endParaRPr lang="en-US" sz="700" dirty="0"/>
          </a:p>
        </p:txBody>
      </p:sp>
      <p:sp>
        <p:nvSpPr>
          <p:cNvPr id="99" name="Shape 92"/>
          <p:cNvSpPr/>
          <p:nvPr/>
        </p:nvSpPr>
        <p:spPr>
          <a:xfrm>
            <a:off x="2276375" y="4370832"/>
            <a:ext cx="1636295" cy="155448"/>
          </a:xfrm>
          <a:prstGeom prst="rect">
            <a:avLst/>
          </a:prstGeom>
          <a:solidFill>
            <a:srgbClr val="1B3A5C"/>
          </a:solidFill>
          <a:ln/>
        </p:spPr>
      </p:sp>
      <p:sp>
        <p:nvSpPr>
          <p:cNvPr id="100" name="Text 93"/>
          <p:cNvSpPr/>
          <p:nvPr/>
        </p:nvSpPr>
        <p:spPr>
          <a:xfrm>
            <a:off x="2276375" y="4370832"/>
            <a:ext cx="1636295" cy="15544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P3</a:t>
            </a:r>
            <a:endParaRPr lang="en-US" sz="700" dirty="0"/>
          </a:p>
        </p:txBody>
      </p:sp>
      <p:sp>
        <p:nvSpPr>
          <p:cNvPr id="101" name="Shape 94"/>
          <p:cNvSpPr/>
          <p:nvPr/>
        </p:nvSpPr>
        <p:spPr>
          <a:xfrm>
            <a:off x="3503596" y="4572000"/>
            <a:ext cx="1636295" cy="155448"/>
          </a:xfrm>
          <a:prstGeom prst="rect">
            <a:avLst/>
          </a:prstGeom>
          <a:solidFill>
            <a:srgbClr val="0A6665"/>
          </a:solidFill>
          <a:ln/>
        </p:spPr>
      </p:sp>
      <p:sp>
        <p:nvSpPr>
          <p:cNvPr id="102" name="Text 95"/>
          <p:cNvSpPr/>
          <p:nvPr/>
        </p:nvSpPr>
        <p:spPr>
          <a:xfrm>
            <a:off x="3503596" y="4572000"/>
            <a:ext cx="1636295" cy="15544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P4</a:t>
            </a:r>
            <a:endParaRPr lang="en-US" sz="700" dirty="0"/>
          </a:p>
        </p:txBody>
      </p:sp>
      <p:sp>
        <p:nvSpPr>
          <p:cNvPr id="103" name="Shape 96"/>
          <p:cNvSpPr/>
          <p:nvPr/>
        </p:nvSpPr>
        <p:spPr>
          <a:xfrm>
            <a:off x="4321743" y="4370832"/>
            <a:ext cx="2045368" cy="155448"/>
          </a:xfrm>
          <a:prstGeom prst="rect">
            <a:avLst/>
          </a:prstGeom>
          <a:solidFill>
            <a:srgbClr val="1B3A5C"/>
          </a:solidFill>
          <a:ln/>
        </p:spPr>
      </p:sp>
      <p:sp>
        <p:nvSpPr>
          <p:cNvPr id="104" name="Text 97"/>
          <p:cNvSpPr/>
          <p:nvPr/>
        </p:nvSpPr>
        <p:spPr>
          <a:xfrm>
            <a:off x="4321743" y="4370832"/>
            <a:ext cx="2045368" cy="15544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P5</a:t>
            </a:r>
            <a:endParaRPr lang="en-US" sz="700" dirty="0"/>
          </a:p>
        </p:txBody>
      </p:sp>
      <p:sp>
        <p:nvSpPr>
          <p:cNvPr id="105" name="Shape 98"/>
          <p:cNvSpPr/>
          <p:nvPr/>
        </p:nvSpPr>
        <p:spPr>
          <a:xfrm>
            <a:off x="5548964" y="4572000"/>
            <a:ext cx="2863516" cy="155448"/>
          </a:xfrm>
          <a:prstGeom prst="rect">
            <a:avLst/>
          </a:prstGeom>
          <a:solidFill>
            <a:srgbClr val="0A6665"/>
          </a:solidFill>
          <a:ln/>
        </p:spPr>
      </p:sp>
      <p:sp>
        <p:nvSpPr>
          <p:cNvPr id="106" name="Text 99"/>
          <p:cNvSpPr/>
          <p:nvPr/>
        </p:nvSpPr>
        <p:spPr>
          <a:xfrm>
            <a:off x="5548964" y="4572000"/>
            <a:ext cx="2863516" cy="15544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P6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B"/>
        </a:solidFill>
      </p:bgPr>
    </p:bg>
    <p:spTree>
      <p:nvGrpSpPr>
        <p:cNvPr id="1" name=""/>
        <p:cNvGrpSpPr/>
        <p:nvPr/>
      </p:nvGrpSpPr>
      <p:grpSpPr>
        <a:xfrm>
          <a:off x="0" y="0"/>
          <a:ext cx="0" cy="0"/>
          <a:chOff x="0" y="0"/>
          <a:chExt cx="0" cy="0"/>
        </a:xfrm>
      </p:grpSpPr>
      <p:sp>
        <p:nvSpPr>
          <p:cNvPr id="2" name="Shape 0"/>
          <p:cNvSpPr/>
          <p:nvPr/>
        </p:nvSpPr>
        <p:spPr>
          <a:xfrm>
            <a:off x="0" y="0"/>
            <a:ext cx="1097280" cy="822960"/>
          </a:xfrm>
          <a:prstGeom prst="rect">
            <a:avLst/>
          </a:prstGeom>
          <a:solidFill>
            <a:srgbClr val="1B3A5C"/>
          </a:solidFill>
          <a:ln/>
        </p:spPr>
      </p:sp>
      <p:sp>
        <p:nvSpPr>
          <p:cNvPr id="3" name="Text 1"/>
          <p:cNvSpPr/>
          <p:nvPr/>
        </p:nvSpPr>
        <p:spPr>
          <a:xfrm>
            <a:off x="0" y="137160"/>
            <a:ext cx="1097280" cy="54864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Trebuchet MS" pitchFamily="34" charset="0"/>
                <a:ea typeface="Trebuchet MS" pitchFamily="34" charset="-122"/>
                <a:cs typeface="Trebuchet MS" pitchFamily="34" charset="-120"/>
              </a:rPr>
              <a:t>P H A S E  1</a:t>
            </a:r>
            <a:endParaRPr lang="en-US" sz="1400" dirty="0"/>
          </a:p>
        </p:txBody>
      </p:sp>
      <p:sp>
        <p:nvSpPr>
          <p:cNvPr id="4" name="Shape 2"/>
          <p:cNvSpPr/>
          <p:nvPr/>
        </p:nvSpPr>
        <p:spPr>
          <a:xfrm>
            <a:off x="1097280" y="0"/>
            <a:ext cx="8046720" cy="822960"/>
          </a:xfrm>
          <a:prstGeom prst="rect">
            <a:avLst/>
          </a:prstGeom>
          <a:solidFill>
            <a:srgbClr val="1B3A5C"/>
          </a:solidFill>
          <a:ln/>
        </p:spPr>
      </p:sp>
      <p:sp>
        <p:nvSpPr>
          <p:cNvPr id="5" name="Text 3"/>
          <p:cNvSpPr/>
          <p:nvPr/>
        </p:nvSpPr>
        <p:spPr>
          <a:xfrm>
            <a:off x="1280160" y="73152"/>
            <a:ext cx="6400800" cy="384048"/>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Foundation – Data Map &amp; Source Registration</a:t>
            </a:r>
            <a:endParaRPr lang="en-US" sz="1800" dirty="0"/>
          </a:p>
        </p:txBody>
      </p:sp>
      <p:sp>
        <p:nvSpPr>
          <p:cNvPr id="6" name="Text 4"/>
          <p:cNvSpPr/>
          <p:nvPr/>
        </p:nvSpPr>
        <p:spPr>
          <a:xfrm>
            <a:off x="1280160" y="457200"/>
            <a:ext cx="4572000" cy="274320"/>
          </a:xfrm>
          <a:prstGeom prst="rect">
            <a:avLst/>
          </a:prstGeom>
          <a:noFill/>
          <a:ln/>
        </p:spPr>
        <p:txBody>
          <a:bodyPr wrap="square" lIns="0" tIns="0" rIns="0" bIns="0" rtlCol="0" anchor="ctr"/>
          <a:lstStyle/>
          <a:p>
            <a:pPr indent="0" marL="0">
              <a:buNone/>
            </a:pPr>
            <a:r>
              <a:rPr lang="en-US" sz="1000" i="1" dirty="0">
                <a:solidFill>
                  <a:srgbClr val="CCDDEE"/>
                </a:solidFill>
                <a:latin typeface="Calibri" pitchFamily="34" charset="0"/>
                <a:ea typeface="Calibri" pitchFamily="34" charset="-122"/>
                <a:cs typeface="Calibri" pitchFamily="34" charset="-120"/>
              </a:rPr>
              <a:t>"See everything before you govern anything"</a:t>
            </a:r>
            <a:endParaRPr lang="en-US" sz="1000" dirty="0"/>
          </a:p>
        </p:txBody>
      </p:sp>
      <p:sp>
        <p:nvSpPr>
          <p:cNvPr id="7" name="Text 5"/>
          <p:cNvSpPr/>
          <p:nvPr/>
        </p:nvSpPr>
        <p:spPr>
          <a:xfrm>
            <a:off x="6898080" y="228600"/>
            <a:ext cx="137160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Weeks 1–6</a:t>
            </a:r>
            <a:endParaRPr lang="en-US" sz="1100" dirty="0"/>
          </a:p>
        </p:txBody>
      </p:sp>
      <p:pic>
        <p:nvPicPr>
          <p:cNvPr id="8" name="Image 0" descr="preencoded.png"/>
          <p:cNvPicPr>
            <a:picLocks noChangeAspect="1"/>
          </p:cNvPicPr>
          <p:nvPr/>
        </p:nvPicPr>
        <p:blipFill>
          <a:blip r:embed="rId1"/>
          <a:stretch>
            <a:fillRect/>
          </a:stretch>
        </p:blipFill>
        <p:spPr>
          <a:xfrm>
            <a:off x="8412480" y="182880"/>
            <a:ext cx="365760" cy="365760"/>
          </a:xfrm>
          <a:prstGeom prst="rect">
            <a:avLst/>
          </a:prstGeom>
        </p:spPr>
      </p:pic>
      <p:sp>
        <p:nvSpPr>
          <p:cNvPr id="9" name="Text 6"/>
          <p:cNvSpPr/>
          <p:nvPr/>
        </p:nvSpPr>
        <p:spPr>
          <a:xfrm>
            <a:off x="457200" y="1005840"/>
            <a:ext cx="3657600" cy="320040"/>
          </a:xfrm>
          <a:prstGeom prst="rect">
            <a:avLst/>
          </a:prstGeom>
          <a:noFill/>
          <a:ln/>
        </p:spPr>
        <p:txBody>
          <a:bodyPr wrap="square" lIns="0" tIns="0" rIns="0" bIns="0" rtlCol="0" anchor="ctr"/>
          <a:lstStyle/>
          <a:p>
            <a:pPr indent="0" marL="0">
              <a:buNone/>
            </a:pPr>
            <a:r>
              <a:rPr lang="en-US" sz="1400" b="1" dirty="0">
                <a:solidFill>
                  <a:srgbClr val="1B3A5C"/>
                </a:solidFill>
                <a:latin typeface="Trebuchet MS" pitchFamily="34" charset="0"/>
                <a:ea typeface="Trebuchet MS" pitchFamily="34" charset="-122"/>
                <a:cs typeface="Trebuchet MS" pitchFamily="34" charset="-120"/>
              </a:rPr>
              <a:t>Key Activities</a:t>
            </a:r>
            <a:endParaRPr lang="en-US" sz="1400" dirty="0"/>
          </a:p>
        </p:txBody>
      </p:sp>
      <p:sp>
        <p:nvSpPr>
          <p:cNvPr id="10" name="Text 7"/>
          <p:cNvSpPr/>
          <p:nvPr/>
        </p:nvSpPr>
        <p:spPr>
          <a:xfrm>
            <a:off x="457200" y="1371600"/>
            <a:ext cx="8229600" cy="3474720"/>
          </a:xfrm>
          <a:prstGeom prst="rect">
            <a:avLst/>
          </a:prstGeom>
          <a:noFill/>
          <a:ln/>
        </p:spPr>
        <p:txBody>
          <a:bodyPr wrap="square" lIns="0" tIns="0" rIns="0" bIns="0" rtlCol="0" anchor="t"/>
          <a:lstStyle/>
          <a:p>
            <a:pPr indent="0" marL="0">
              <a:spcAft>
                <a:spcPts val="600"/>
              </a:spcAft>
              <a:buNone/>
            </a:pPr>
            <a:r>
              <a:rPr lang="en-US" sz="1000" dirty="0">
                <a:solidFill>
                  <a:srgbClr val="333333"/>
                </a:solidFill>
                <a:latin typeface="Calibri" pitchFamily="34" charset="0"/>
                <a:ea typeface="Calibri" pitchFamily="34" charset="-122"/>
                <a:cs typeface="Calibri" pitchFamily="34" charset="-120"/>
              </a:rPr>
              <a:t>1.  Provision Purview Enterprise instance &amp; assign Data Governance Admin role</a:t>
            </a:r>
            <a:endParaRPr lang="en-US" sz="1000" dirty="0"/>
          </a:p>
          <a:p>
            <a:pPr indent="0" marL="0">
              <a:spcAft>
                <a:spcPts val="600"/>
              </a:spcAft>
              <a:buNone/>
            </a:pPr>
            <a:r>
              <a:rPr lang="en-US" sz="1000" dirty="0">
                <a:solidFill>
                  <a:srgbClr val="333333"/>
                </a:solidFill>
                <a:latin typeface="Calibri" pitchFamily="34" charset="0"/>
                <a:ea typeface="Calibri" pitchFamily="34" charset="-122"/>
                <a:cs typeface="Calibri" pitchFamily="34" charset="-120"/>
              </a:rPr>
              <a:t>2.  Inventory data sources across Azure, on-prem, AWS, Snowflake, Google Cloud, SaaS</a:t>
            </a:r>
            <a:endParaRPr lang="en-US" sz="1000" dirty="0"/>
          </a:p>
          <a:p>
            <a:pPr indent="0" marL="0">
              <a:spcAft>
                <a:spcPts val="600"/>
              </a:spcAft>
              <a:buNone/>
            </a:pPr>
            <a:r>
              <a:rPr lang="en-US" sz="1000" dirty="0">
                <a:solidFill>
                  <a:srgbClr val="333333"/>
                </a:solidFill>
                <a:latin typeface="Calibri" pitchFamily="34" charset="0"/>
                <a:ea typeface="Calibri" pitchFamily="34" charset="-122"/>
                <a:cs typeface="Calibri" pitchFamily="34" charset="-120"/>
              </a:rPr>
              <a:t>3.  Register &amp; scan highest-value sources: Power BI, Azure SQL, ADLS Gen2</a:t>
            </a:r>
            <a:endParaRPr lang="en-US" sz="1000" dirty="0"/>
          </a:p>
          <a:p>
            <a:pPr indent="0" marL="0">
              <a:spcAft>
                <a:spcPts val="600"/>
              </a:spcAft>
              <a:buNone/>
            </a:pPr>
            <a:r>
              <a:rPr lang="en-US" sz="1000" dirty="0">
                <a:solidFill>
                  <a:srgbClr val="333333"/>
                </a:solidFill>
                <a:latin typeface="Calibri" pitchFamily="34" charset="0"/>
                <a:ea typeface="Calibri" pitchFamily="34" charset="-122"/>
                <a:cs typeface="Calibri" pitchFamily="34" charset="-120"/>
              </a:rPr>
              <a:t>4.  Configure scan levels (L1 metadata, L2 schema, L3 schema + classification)</a:t>
            </a:r>
            <a:endParaRPr lang="en-US" sz="1000" dirty="0"/>
          </a:p>
          <a:p>
            <a:pPr indent="0" marL="0">
              <a:spcAft>
                <a:spcPts val="600"/>
              </a:spcAft>
              <a:buNone/>
            </a:pPr>
            <a:r>
              <a:rPr lang="en-US" sz="1000" dirty="0">
                <a:solidFill>
                  <a:srgbClr val="333333"/>
                </a:solidFill>
                <a:latin typeface="Calibri" pitchFamily="34" charset="0"/>
                <a:ea typeface="Calibri" pitchFamily="34" charset="-122"/>
                <a:cs typeface="Calibri" pitchFamily="34" charset="-120"/>
              </a:rPr>
              <a:t>5.  Review scan outputs, validate classifications, assign initial asset owners</a:t>
            </a:r>
            <a:endParaRPr lang="en-US" sz="1000" dirty="0"/>
          </a:p>
          <a:p>
            <a:pPr indent="0" marL="0">
              <a:spcAft>
                <a:spcPts val="600"/>
              </a:spcAft>
              <a:buNone/>
            </a:pPr>
            <a:r>
              <a:rPr lang="en-US" sz="1000" dirty="0">
                <a:solidFill>
                  <a:srgbClr val="333333"/>
                </a:solidFill>
                <a:latin typeface="Calibri" pitchFamily="34" charset="0"/>
                <a:ea typeface="Calibri" pitchFamily="34" charset="-122"/>
                <a:cs typeface="Calibri" pitchFamily="34" charset="-120"/>
              </a:rPr>
              <a:t>6.  Establish platform domains (collections) in Data Map for technical grouping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B"/>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B3A5C"/>
          </a:solidFill>
          <a:ln/>
        </p:spPr>
      </p:sp>
      <p:sp>
        <p:nvSpPr>
          <p:cNvPr id="3" name="Text 1"/>
          <p:cNvSpPr/>
          <p:nvPr/>
        </p:nvSpPr>
        <p:spPr>
          <a:xfrm>
            <a:off x="548640" y="91440"/>
            <a:ext cx="7315200" cy="365760"/>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Phase 1 – Key Activities &amp; Dependencies</a:t>
            </a:r>
            <a:endParaRPr lang="en-US" sz="1600" dirty="0"/>
          </a:p>
        </p:txBody>
      </p:sp>
      <p:sp>
        <p:nvSpPr>
          <p:cNvPr id="4" name="Shape 2"/>
          <p:cNvSpPr/>
          <p:nvPr/>
        </p:nvSpPr>
        <p:spPr>
          <a:xfrm>
            <a:off x="457200" y="777240"/>
            <a:ext cx="3931920" cy="25603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457200" y="777240"/>
            <a:ext cx="3931920" cy="320040"/>
          </a:xfrm>
          <a:prstGeom prst="rect">
            <a:avLst/>
          </a:prstGeom>
          <a:solidFill>
            <a:srgbClr val="0E7C7B"/>
          </a:solidFill>
          <a:ln/>
        </p:spPr>
      </p:sp>
      <p:sp>
        <p:nvSpPr>
          <p:cNvPr id="6" name="Text 4"/>
          <p:cNvSpPr/>
          <p:nvPr/>
        </p:nvSpPr>
        <p:spPr>
          <a:xfrm>
            <a:off x="548640" y="795528"/>
            <a:ext cx="365760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Outputs &amp; Deliverables</a:t>
            </a:r>
            <a:endParaRPr lang="en-US" sz="1100" dirty="0"/>
          </a:p>
        </p:txBody>
      </p:sp>
      <p:sp>
        <p:nvSpPr>
          <p:cNvPr id="7" name="Text 5"/>
          <p:cNvSpPr/>
          <p:nvPr/>
        </p:nvSpPr>
        <p:spPr>
          <a:xfrm>
            <a:off x="640080" y="1234440"/>
            <a:ext cx="3566160" cy="1920240"/>
          </a:xfrm>
          <a:prstGeom prst="rect">
            <a:avLst/>
          </a:prstGeom>
          <a:noFill/>
          <a:ln/>
        </p:spPr>
        <p:txBody>
          <a:bodyPr wrap="square" lIns="0" tIns="0" rIns="0" bIns="0" rtlCol="0" anchor="t"/>
          <a:lstStyle/>
          <a:p>
            <a:pPr marL="342900" indent="-342900">
              <a:spcAft>
                <a:spcPts val="800"/>
              </a:spcAft>
              <a:buSzPct val="100000"/>
              <a:buChar char="•"/>
            </a:pPr>
            <a:r>
              <a:rPr lang="en-US" sz="1000" dirty="0">
                <a:solidFill>
                  <a:srgbClr val="333333"/>
                </a:solidFill>
                <a:latin typeface="Calibri" pitchFamily="34" charset="0"/>
                <a:ea typeface="Calibri" pitchFamily="34" charset="-122"/>
                <a:cs typeface="Calibri" pitchFamily="34" charset="-120"/>
              </a:rPr>
              <a:t>Populated Data Map with metadata from priority sources</a:t>
            </a:r>
            <a:endParaRPr lang="en-US" sz="1000" dirty="0"/>
          </a:p>
          <a:p>
            <a:pPr marL="342900" indent="-342900">
              <a:spcAft>
                <a:spcPts val="800"/>
              </a:spcAft>
              <a:buSzPct val="100000"/>
              <a:buChar char="•"/>
            </a:pPr>
            <a:r>
              <a:rPr lang="en-US" sz="1000" dirty="0">
                <a:solidFill>
                  <a:srgbClr val="333333"/>
                </a:solidFill>
                <a:latin typeface="Calibri" pitchFamily="34" charset="0"/>
                <a:ea typeface="Calibri" pitchFamily="34" charset="-122"/>
                <a:cs typeface="Calibri" pitchFamily="34" charset="-120"/>
              </a:rPr>
              <a:t>Initial automated classifications applied</a:t>
            </a:r>
            <a:endParaRPr lang="en-US" sz="1000" dirty="0"/>
          </a:p>
          <a:p>
            <a:pPr marL="342900" indent="-342900">
              <a:spcAft>
                <a:spcPts val="800"/>
              </a:spcAft>
              <a:buSzPct val="100000"/>
              <a:buChar char="•"/>
            </a:pPr>
            <a:r>
              <a:rPr lang="en-US" sz="1000" dirty="0">
                <a:solidFill>
                  <a:srgbClr val="333333"/>
                </a:solidFill>
                <a:latin typeface="Calibri" pitchFamily="34" charset="0"/>
                <a:ea typeface="Calibri" pitchFamily="34" charset="-122"/>
                <a:cs typeface="Calibri" pitchFamily="34" charset="-120"/>
              </a:rPr>
              <a:t>Scan schedules configured for freshness</a:t>
            </a:r>
            <a:endParaRPr lang="en-US" sz="1000" dirty="0"/>
          </a:p>
          <a:p>
            <a:pPr marL="342900" indent="-342900">
              <a:spcAft>
                <a:spcPts val="800"/>
              </a:spcAft>
              <a:buSzPct val="100000"/>
              <a:buChar char="•"/>
            </a:pPr>
            <a:r>
              <a:rPr lang="en-US" sz="1000" dirty="0">
                <a:solidFill>
                  <a:srgbClr val="333333"/>
                </a:solidFill>
                <a:latin typeface="Calibri" pitchFamily="34" charset="0"/>
                <a:ea typeface="Calibri" pitchFamily="34" charset="-122"/>
                <a:cs typeface="Calibri" pitchFamily="34" charset="-120"/>
              </a:rPr>
              <a:t>Platform domain structure &amp; ownership defined</a:t>
            </a:r>
            <a:endParaRPr lang="en-US" sz="1000" dirty="0"/>
          </a:p>
        </p:txBody>
      </p:sp>
      <p:sp>
        <p:nvSpPr>
          <p:cNvPr id="8" name="Shape 6"/>
          <p:cNvSpPr/>
          <p:nvPr/>
        </p:nvSpPr>
        <p:spPr>
          <a:xfrm>
            <a:off x="4754880" y="777240"/>
            <a:ext cx="3931920" cy="25603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Shape 7"/>
          <p:cNvSpPr/>
          <p:nvPr/>
        </p:nvSpPr>
        <p:spPr>
          <a:xfrm>
            <a:off x="4754880" y="777240"/>
            <a:ext cx="3931920" cy="320040"/>
          </a:xfrm>
          <a:prstGeom prst="rect">
            <a:avLst/>
          </a:prstGeom>
          <a:solidFill>
            <a:srgbClr val="1B3A5C"/>
          </a:solidFill>
          <a:ln/>
        </p:spPr>
      </p:sp>
      <p:sp>
        <p:nvSpPr>
          <p:cNvPr id="10" name="Text 8"/>
          <p:cNvSpPr/>
          <p:nvPr/>
        </p:nvSpPr>
        <p:spPr>
          <a:xfrm>
            <a:off x="4846320" y="795528"/>
            <a:ext cx="365760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Dependencies &amp; Linkages</a:t>
            </a:r>
            <a:endParaRPr lang="en-US" sz="1100" dirty="0"/>
          </a:p>
        </p:txBody>
      </p:sp>
      <p:sp>
        <p:nvSpPr>
          <p:cNvPr id="11" name="Text 9"/>
          <p:cNvSpPr/>
          <p:nvPr/>
        </p:nvSpPr>
        <p:spPr>
          <a:xfrm>
            <a:off x="4937760" y="1234440"/>
            <a:ext cx="3566160" cy="1920240"/>
          </a:xfrm>
          <a:prstGeom prst="rect">
            <a:avLst/>
          </a:prstGeom>
          <a:noFill/>
          <a:ln/>
        </p:spPr>
        <p:txBody>
          <a:bodyPr wrap="square" lIns="0" tIns="0" rIns="0" bIns="0" rtlCol="0" anchor="t"/>
          <a:lstStyle/>
          <a:p>
            <a:pPr indent="0" marL="0">
              <a:buNone/>
            </a:pPr>
            <a:r>
              <a:rPr lang="en-US" sz="1000" b="1" dirty="0">
                <a:solidFill>
                  <a:srgbClr val="0E7C7B"/>
                </a:solidFill>
                <a:latin typeface="Calibri" pitchFamily="34" charset="0"/>
                <a:ea typeface="Calibri" pitchFamily="34" charset="-122"/>
                <a:cs typeface="Calibri" pitchFamily="34" charset="-120"/>
              </a:rPr>
              <a:t xml:space="preserve">Feeds Phase 2: </a:t>
            </a:r>
            <a:pPr indent="0" marL="0">
              <a:spcAft>
                <a:spcPts val="1000"/>
              </a:spcAft>
              <a:buNone/>
            </a:pPr>
            <a:r>
              <a:rPr lang="en-US" sz="1000" dirty="0">
                <a:solidFill>
                  <a:srgbClr val="333333"/>
                </a:solidFill>
                <a:latin typeface="Calibri" pitchFamily="34" charset="0"/>
                <a:ea typeface="Calibri" pitchFamily="34" charset="-122"/>
                <a:cs typeface="Calibri" pitchFamily="34" charset="-120"/>
              </a:rPr>
              <a:t>Scanned assets become input for labelling</a:t>
            </a:r>
            <a:endParaRPr lang="en-US" sz="1000" dirty="0"/>
          </a:p>
          <a:p>
            <a:pPr indent="0" marL="0">
              <a:buNone/>
            </a:pPr>
            <a:r>
              <a:rPr lang="en-US" sz="1000" b="1" dirty="0">
                <a:solidFill>
                  <a:srgbClr val="0E7C7B"/>
                </a:solidFill>
                <a:latin typeface="Calibri" pitchFamily="34" charset="0"/>
                <a:ea typeface="Calibri" pitchFamily="34" charset="-122"/>
                <a:cs typeface="Calibri" pitchFamily="34" charset="-120"/>
              </a:rPr>
              <a:t xml:space="preserve">Feeds Phase 3: </a:t>
            </a:r>
            <a:pPr indent="0" marL="0">
              <a:spcAft>
                <a:spcPts val="1000"/>
              </a:spcAft>
              <a:buNone/>
            </a:pPr>
            <a:r>
              <a:rPr lang="en-US" sz="1000" dirty="0">
                <a:solidFill>
                  <a:srgbClr val="333333"/>
                </a:solidFill>
                <a:latin typeface="Calibri" pitchFamily="34" charset="0"/>
                <a:ea typeface="Calibri" pitchFamily="34" charset="-122"/>
                <a:cs typeface="Calibri" pitchFamily="34" charset="-120"/>
              </a:rPr>
              <a:t>Assets are raw material for domains &amp; glossary</a:t>
            </a:r>
            <a:endParaRPr lang="en-US" sz="1000" dirty="0"/>
          </a:p>
          <a:p>
            <a:pPr indent="0" marL="0">
              <a:buNone/>
            </a:pPr>
            <a:r>
              <a:rPr lang="en-US" sz="1000" b="1" dirty="0">
                <a:solidFill>
                  <a:srgbClr val="0E7C7B"/>
                </a:solidFill>
                <a:latin typeface="Calibri" pitchFamily="34" charset="0"/>
                <a:ea typeface="Calibri" pitchFamily="34" charset="-122"/>
                <a:cs typeface="Calibri" pitchFamily="34" charset="-120"/>
              </a:rPr>
              <a:t xml:space="preserve">Feeds Phase 5: </a:t>
            </a:r>
            <a:pPr indent="0" marL="0">
              <a:spcAft>
                <a:spcPts val="1000"/>
              </a:spcAft>
              <a:buNone/>
            </a:pPr>
            <a:r>
              <a:rPr lang="en-US" sz="1000" dirty="0">
                <a:solidFill>
                  <a:srgbClr val="333333"/>
                </a:solidFill>
                <a:latin typeface="Calibri" pitchFamily="34" charset="0"/>
                <a:ea typeface="Calibri" pitchFamily="34" charset="-122"/>
                <a:cs typeface="Calibri" pitchFamily="34" charset="-120"/>
              </a:rPr>
              <a:t>Asset visibility enables DLP scoping</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B"/>
        </a:solidFill>
      </p:bgPr>
    </p:bg>
    <p:spTree>
      <p:nvGrpSpPr>
        <p:cNvPr id="1" name=""/>
        <p:cNvGrpSpPr/>
        <p:nvPr/>
      </p:nvGrpSpPr>
      <p:grpSpPr>
        <a:xfrm>
          <a:off x="0" y="0"/>
          <a:ext cx="0" cy="0"/>
          <a:chOff x="0" y="0"/>
          <a:chExt cx="0" cy="0"/>
        </a:xfrm>
      </p:grpSpPr>
      <p:sp>
        <p:nvSpPr>
          <p:cNvPr id="2" name="Shape 0"/>
          <p:cNvSpPr/>
          <p:nvPr/>
        </p:nvSpPr>
        <p:spPr>
          <a:xfrm>
            <a:off x="0" y="0"/>
            <a:ext cx="1097280" cy="822960"/>
          </a:xfrm>
          <a:prstGeom prst="rect">
            <a:avLst/>
          </a:prstGeom>
          <a:solidFill>
            <a:srgbClr val="1B3A5C"/>
          </a:solidFill>
          <a:ln/>
        </p:spPr>
      </p:sp>
      <p:sp>
        <p:nvSpPr>
          <p:cNvPr id="3" name="Text 1"/>
          <p:cNvSpPr/>
          <p:nvPr/>
        </p:nvSpPr>
        <p:spPr>
          <a:xfrm>
            <a:off x="0" y="137160"/>
            <a:ext cx="1097280" cy="54864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Trebuchet MS" pitchFamily="34" charset="0"/>
                <a:ea typeface="Trebuchet MS" pitchFamily="34" charset="-122"/>
                <a:cs typeface="Trebuchet MS" pitchFamily="34" charset="-120"/>
              </a:rPr>
              <a:t>P H A S E  2</a:t>
            </a:r>
            <a:endParaRPr lang="en-US" sz="1400" dirty="0"/>
          </a:p>
        </p:txBody>
      </p:sp>
      <p:sp>
        <p:nvSpPr>
          <p:cNvPr id="4" name="Shape 2"/>
          <p:cNvSpPr/>
          <p:nvPr/>
        </p:nvSpPr>
        <p:spPr>
          <a:xfrm>
            <a:off x="1097280" y="0"/>
            <a:ext cx="8046720" cy="822960"/>
          </a:xfrm>
          <a:prstGeom prst="rect">
            <a:avLst/>
          </a:prstGeom>
          <a:solidFill>
            <a:srgbClr val="0A6665"/>
          </a:solidFill>
          <a:ln/>
        </p:spPr>
      </p:sp>
      <p:sp>
        <p:nvSpPr>
          <p:cNvPr id="5" name="Text 3"/>
          <p:cNvSpPr/>
          <p:nvPr/>
        </p:nvSpPr>
        <p:spPr>
          <a:xfrm>
            <a:off x="1280160" y="73152"/>
            <a:ext cx="6400800" cy="384048"/>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Classification, Labels &amp; Info Protection</a:t>
            </a:r>
            <a:endParaRPr lang="en-US" sz="1800" dirty="0"/>
          </a:p>
        </p:txBody>
      </p:sp>
      <p:sp>
        <p:nvSpPr>
          <p:cNvPr id="6" name="Text 4"/>
          <p:cNvSpPr/>
          <p:nvPr/>
        </p:nvSpPr>
        <p:spPr>
          <a:xfrm>
            <a:off x="1280160" y="457200"/>
            <a:ext cx="4572000" cy="274320"/>
          </a:xfrm>
          <a:prstGeom prst="rect">
            <a:avLst/>
          </a:prstGeom>
          <a:noFill/>
          <a:ln/>
        </p:spPr>
        <p:txBody>
          <a:bodyPr wrap="square" lIns="0" tIns="0" rIns="0" bIns="0" rtlCol="0" anchor="ctr"/>
          <a:lstStyle/>
          <a:p>
            <a:pPr indent="0" marL="0">
              <a:buNone/>
            </a:pPr>
            <a:r>
              <a:rPr lang="en-US" sz="1000" i="1" dirty="0">
                <a:solidFill>
                  <a:srgbClr val="CCDDEE"/>
                </a:solidFill>
                <a:latin typeface="Calibri" pitchFamily="34" charset="0"/>
                <a:ea typeface="Calibri" pitchFamily="34" charset="-122"/>
                <a:cs typeface="Calibri" pitchFamily="34" charset="-120"/>
              </a:rPr>
              <a:t>"Label what matters, protect what’s sensitive"</a:t>
            </a:r>
            <a:endParaRPr lang="en-US" sz="1000" dirty="0"/>
          </a:p>
        </p:txBody>
      </p:sp>
      <p:sp>
        <p:nvSpPr>
          <p:cNvPr id="7" name="Text 5"/>
          <p:cNvSpPr/>
          <p:nvPr/>
        </p:nvSpPr>
        <p:spPr>
          <a:xfrm>
            <a:off x="6898080" y="228600"/>
            <a:ext cx="137160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Weeks 4–10</a:t>
            </a:r>
            <a:endParaRPr lang="en-US" sz="1100" dirty="0"/>
          </a:p>
        </p:txBody>
      </p:sp>
      <p:pic>
        <p:nvPicPr>
          <p:cNvPr id="8" name="Image 0" descr="preencoded.png"/>
          <p:cNvPicPr>
            <a:picLocks noChangeAspect="1"/>
          </p:cNvPicPr>
          <p:nvPr/>
        </p:nvPicPr>
        <p:blipFill>
          <a:blip r:embed="rId1"/>
          <a:stretch>
            <a:fillRect/>
          </a:stretch>
        </p:blipFill>
        <p:spPr>
          <a:xfrm>
            <a:off x="8412480" y="182880"/>
            <a:ext cx="365760" cy="365760"/>
          </a:xfrm>
          <a:prstGeom prst="rect">
            <a:avLst/>
          </a:prstGeom>
        </p:spPr>
      </p:pic>
      <p:sp>
        <p:nvSpPr>
          <p:cNvPr id="9" name="Text 6"/>
          <p:cNvSpPr/>
          <p:nvPr/>
        </p:nvSpPr>
        <p:spPr>
          <a:xfrm>
            <a:off x="457200" y="1005840"/>
            <a:ext cx="3657600" cy="320040"/>
          </a:xfrm>
          <a:prstGeom prst="rect">
            <a:avLst/>
          </a:prstGeom>
          <a:noFill/>
          <a:ln/>
        </p:spPr>
        <p:txBody>
          <a:bodyPr wrap="square" lIns="0" tIns="0" rIns="0" bIns="0" rtlCol="0" anchor="ctr"/>
          <a:lstStyle/>
          <a:p>
            <a:pPr indent="0" marL="0">
              <a:buNone/>
            </a:pPr>
            <a:r>
              <a:rPr lang="en-US" sz="1400" b="1" dirty="0">
                <a:solidFill>
                  <a:srgbClr val="1B3A5C"/>
                </a:solidFill>
                <a:latin typeface="Trebuchet MS" pitchFamily="34" charset="0"/>
                <a:ea typeface="Trebuchet MS" pitchFamily="34" charset="-122"/>
                <a:cs typeface="Trebuchet MS" pitchFamily="34" charset="-120"/>
              </a:rPr>
              <a:t>Key Activities</a:t>
            </a:r>
            <a:endParaRPr lang="en-US" sz="1400" dirty="0"/>
          </a:p>
        </p:txBody>
      </p:sp>
      <p:sp>
        <p:nvSpPr>
          <p:cNvPr id="10" name="Text 7"/>
          <p:cNvSpPr/>
          <p:nvPr/>
        </p:nvSpPr>
        <p:spPr>
          <a:xfrm>
            <a:off x="457200" y="1371600"/>
            <a:ext cx="8229600" cy="3474720"/>
          </a:xfrm>
          <a:prstGeom prst="rect">
            <a:avLst/>
          </a:prstGeom>
          <a:noFill/>
          <a:ln/>
        </p:spPr>
        <p:txBody>
          <a:bodyPr wrap="square" lIns="0" tIns="0" rIns="0" bIns="0" rtlCol="0" anchor="t"/>
          <a:lstStyle/>
          <a:p>
            <a:pPr indent="0" marL="0">
              <a:spcAft>
                <a:spcPts val="600"/>
              </a:spcAft>
              <a:buNone/>
            </a:pPr>
            <a:r>
              <a:rPr lang="en-US" sz="1000" dirty="0">
                <a:solidFill>
                  <a:srgbClr val="333333"/>
                </a:solidFill>
                <a:latin typeface="Calibri" pitchFamily="34" charset="0"/>
                <a:ea typeface="Calibri" pitchFamily="34" charset="-122"/>
                <a:cs typeface="Calibri" pitchFamily="34" charset="-120"/>
              </a:rPr>
              <a:t>1.  Review &amp; refine 300+ built-in SITs; create custom org-specific patterns</a:t>
            </a:r>
            <a:endParaRPr lang="en-US" sz="1000" dirty="0"/>
          </a:p>
          <a:p>
            <a:pPr indent="0" marL="0">
              <a:spcAft>
                <a:spcPts val="600"/>
              </a:spcAft>
              <a:buNone/>
            </a:pPr>
            <a:r>
              <a:rPr lang="en-US" sz="1000" dirty="0">
                <a:solidFill>
                  <a:srgbClr val="333333"/>
                </a:solidFill>
                <a:latin typeface="Calibri" pitchFamily="34" charset="0"/>
                <a:ea typeface="Calibri" pitchFamily="34" charset="-122"/>
                <a:cs typeface="Calibri" pitchFamily="34" charset="-120"/>
              </a:rPr>
              <a:t>2.  Design hierarchical label taxonomy (Public &gt; Internal &gt; Confidential &gt; Highly Confidential)</a:t>
            </a:r>
            <a:endParaRPr lang="en-US" sz="1000" dirty="0"/>
          </a:p>
          <a:p>
            <a:pPr indent="0" marL="0">
              <a:spcAft>
                <a:spcPts val="600"/>
              </a:spcAft>
              <a:buNone/>
            </a:pPr>
            <a:r>
              <a:rPr lang="en-US" sz="1000" dirty="0">
                <a:solidFill>
                  <a:srgbClr val="333333"/>
                </a:solidFill>
                <a:latin typeface="Calibri" pitchFamily="34" charset="0"/>
                <a:ea typeface="Calibri" pitchFamily="34" charset="-122"/>
                <a:cs typeface="Calibri" pitchFamily="34" charset="-120"/>
              </a:rPr>
              <a:t>3.  Configure label actions: markings, encryption (Azure RMS), access restrictions</a:t>
            </a:r>
            <a:endParaRPr lang="en-US" sz="1000" dirty="0"/>
          </a:p>
          <a:p>
            <a:pPr indent="0" marL="0">
              <a:spcAft>
                <a:spcPts val="600"/>
              </a:spcAft>
              <a:buNone/>
            </a:pPr>
            <a:r>
              <a:rPr lang="en-US" sz="1000" dirty="0">
                <a:solidFill>
                  <a:srgbClr val="333333"/>
                </a:solidFill>
                <a:latin typeface="Calibri" pitchFamily="34" charset="0"/>
                <a:ea typeface="Calibri" pitchFamily="34" charset="-122"/>
                <a:cs typeface="Calibri" pitchFamily="34" charset="-120"/>
              </a:rPr>
              <a:t>4.  Deploy auto-labelling in simulation mode, then enforce after validation</a:t>
            </a:r>
            <a:endParaRPr lang="en-US" sz="1000" dirty="0"/>
          </a:p>
          <a:p>
            <a:pPr indent="0" marL="0">
              <a:spcAft>
                <a:spcPts val="600"/>
              </a:spcAft>
              <a:buNone/>
            </a:pPr>
            <a:r>
              <a:rPr lang="en-US" sz="1000" dirty="0">
                <a:solidFill>
                  <a:srgbClr val="333333"/>
                </a:solidFill>
                <a:latin typeface="Calibri" pitchFamily="34" charset="0"/>
                <a:ea typeface="Calibri" pitchFamily="34" charset="-122"/>
                <a:cs typeface="Calibri" pitchFamily="34" charset="-120"/>
              </a:rPr>
              <a:t>5.  Publish labels to pilot groups with training; extend to structured data</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B"/>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A6665"/>
          </a:solidFill>
          <a:ln/>
        </p:spPr>
      </p:sp>
      <p:sp>
        <p:nvSpPr>
          <p:cNvPr id="3" name="Text 1"/>
          <p:cNvSpPr/>
          <p:nvPr/>
        </p:nvSpPr>
        <p:spPr>
          <a:xfrm>
            <a:off x="548640" y="91440"/>
            <a:ext cx="7315200" cy="365760"/>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Phase 2 – Key Activities &amp; Dependencies</a:t>
            </a:r>
            <a:endParaRPr lang="en-US" sz="1600" dirty="0"/>
          </a:p>
        </p:txBody>
      </p:sp>
      <p:sp>
        <p:nvSpPr>
          <p:cNvPr id="4" name="Shape 2"/>
          <p:cNvSpPr/>
          <p:nvPr/>
        </p:nvSpPr>
        <p:spPr>
          <a:xfrm>
            <a:off x="457200" y="777240"/>
            <a:ext cx="3931920" cy="25603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457200" y="777240"/>
            <a:ext cx="3931920" cy="320040"/>
          </a:xfrm>
          <a:prstGeom prst="rect">
            <a:avLst/>
          </a:prstGeom>
          <a:solidFill>
            <a:srgbClr val="0E7C7B"/>
          </a:solidFill>
          <a:ln/>
        </p:spPr>
      </p:sp>
      <p:sp>
        <p:nvSpPr>
          <p:cNvPr id="6" name="Text 4"/>
          <p:cNvSpPr/>
          <p:nvPr/>
        </p:nvSpPr>
        <p:spPr>
          <a:xfrm>
            <a:off x="548640" y="795528"/>
            <a:ext cx="365760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Outputs &amp; Deliverables</a:t>
            </a:r>
            <a:endParaRPr lang="en-US" sz="1100" dirty="0"/>
          </a:p>
        </p:txBody>
      </p:sp>
      <p:sp>
        <p:nvSpPr>
          <p:cNvPr id="7" name="Text 5"/>
          <p:cNvSpPr/>
          <p:nvPr/>
        </p:nvSpPr>
        <p:spPr>
          <a:xfrm>
            <a:off x="640080" y="1234440"/>
            <a:ext cx="3566160" cy="1920240"/>
          </a:xfrm>
          <a:prstGeom prst="rect">
            <a:avLst/>
          </a:prstGeom>
          <a:noFill/>
          <a:ln/>
        </p:spPr>
        <p:txBody>
          <a:bodyPr wrap="square" lIns="0" tIns="0" rIns="0" bIns="0" rtlCol="0" anchor="t"/>
          <a:lstStyle/>
          <a:p>
            <a:pPr marL="342900" indent="-342900">
              <a:spcAft>
                <a:spcPts val="800"/>
              </a:spcAft>
              <a:buSzPct val="100000"/>
              <a:buChar char="•"/>
            </a:pPr>
            <a:r>
              <a:rPr lang="en-US" sz="1000" dirty="0">
                <a:solidFill>
                  <a:srgbClr val="333333"/>
                </a:solidFill>
                <a:latin typeface="Calibri" pitchFamily="34" charset="0"/>
                <a:ea typeface="Calibri" pitchFamily="34" charset="-122"/>
                <a:cs typeface="Calibri" pitchFamily="34" charset="-120"/>
              </a:rPr>
              <a:t>Sensitivity label taxonomy deployed across M365</a:t>
            </a:r>
            <a:endParaRPr lang="en-US" sz="1000" dirty="0"/>
          </a:p>
          <a:p>
            <a:pPr marL="342900" indent="-342900">
              <a:spcAft>
                <a:spcPts val="800"/>
              </a:spcAft>
              <a:buSzPct val="100000"/>
              <a:buChar char="•"/>
            </a:pPr>
            <a:r>
              <a:rPr lang="en-US" sz="1000" dirty="0">
                <a:solidFill>
                  <a:srgbClr val="333333"/>
                </a:solidFill>
                <a:latin typeface="Calibri" pitchFamily="34" charset="0"/>
                <a:ea typeface="Calibri" pitchFamily="34" charset="-122"/>
                <a:cs typeface="Calibri" pitchFamily="34" charset="-120"/>
              </a:rPr>
              <a:t>Auto-labelling running in simulation or enforcement</a:t>
            </a:r>
            <a:endParaRPr lang="en-US" sz="1000" dirty="0"/>
          </a:p>
          <a:p>
            <a:pPr marL="342900" indent="-342900">
              <a:spcAft>
                <a:spcPts val="800"/>
              </a:spcAft>
              <a:buSzPct val="100000"/>
              <a:buChar char="•"/>
            </a:pPr>
            <a:r>
              <a:rPr lang="en-US" sz="1000" dirty="0">
                <a:solidFill>
                  <a:srgbClr val="333333"/>
                </a:solidFill>
                <a:latin typeface="Calibri" pitchFamily="34" charset="0"/>
                <a:ea typeface="Calibri" pitchFamily="34" charset="-122"/>
                <a:cs typeface="Calibri" pitchFamily="34" charset="-120"/>
              </a:rPr>
              <a:t>Custom SITs for org-specific patterns</a:t>
            </a:r>
            <a:endParaRPr lang="en-US" sz="1000" dirty="0"/>
          </a:p>
          <a:p>
            <a:pPr marL="342900" indent="-342900">
              <a:spcAft>
                <a:spcPts val="800"/>
              </a:spcAft>
              <a:buSzPct val="100000"/>
              <a:buChar char="•"/>
            </a:pPr>
            <a:r>
              <a:rPr lang="en-US" sz="1000" dirty="0">
                <a:solidFill>
                  <a:srgbClr val="333333"/>
                </a:solidFill>
                <a:latin typeface="Calibri" pitchFamily="34" charset="0"/>
                <a:ea typeface="Calibri" pitchFamily="34" charset="-122"/>
                <a:cs typeface="Calibri" pitchFamily="34" charset="-120"/>
              </a:rPr>
              <a:t>Labels extended to structured data assets</a:t>
            </a:r>
            <a:endParaRPr lang="en-US" sz="1000" dirty="0"/>
          </a:p>
        </p:txBody>
      </p:sp>
      <p:sp>
        <p:nvSpPr>
          <p:cNvPr id="8" name="Shape 6"/>
          <p:cNvSpPr/>
          <p:nvPr/>
        </p:nvSpPr>
        <p:spPr>
          <a:xfrm>
            <a:off x="4754880" y="777240"/>
            <a:ext cx="3931920" cy="25603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Shape 7"/>
          <p:cNvSpPr/>
          <p:nvPr/>
        </p:nvSpPr>
        <p:spPr>
          <a:xfrm>
            <a:off x="4754880" y="777240"/>
            <a:ext cx="3931920" cy="320040"/>
          </a:xfrm>
          <a:prstGeom prst="rect">
            <a:avLst/>
          </a:prstGeom>
          <a:solidFill>
            <a:srgbClr val="1B3A5C"/>
          </a:solidFill>
          <a:ln/>
        </p:spPr>
      </p:sp>
      <p:sp>
        <p:nvSpPr>
          <p:cNvPr id="10" name="Text 8"/>
          <p:cNvSpPr/>
          <p:nvPr/>
        </p:nvSpPr>
        <p:spPr>
          <a:xfrm>
            <a:off x="4846320" y="795528"/>
            <a:ext cx="365760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Dependencies &amp; Linkages</a:t>
            </a:r>
            <a:endParaRPr lang="en-US" sz="1100" dirty="0"/>
          </a:p>
        </p:txBody>
      </p:sp>
      <p:sp>
        <p:nvSpPr>
          <p:cNvPr id="11" name="Text 9"/>
          <p:cNvSpPr/>
          <p:nvPr/>
        </p:nvSpPr>
        <p:spPr>
          <a:xfrm>
            <a:off x="4937760" y="1234440"/>
            <a:ext cx="3566160" cy="1920240"/>
          </a:xfrm>
          <a:prstGeom prst="rect">
            <a:avLst/>
          </a:prstGeom>
          <a:noFill/>
          <a:ln/>
        </p:spPr>
        <p:txBody>
          <a:bodyPr wrap="square" lIns="0" tIns="0" rIns="0" bIns="0" rtlCol="0" anchor="t"/>
          <a:lstStyle/>
          <a:p>
            <a:pPr indent="0" marL="0">
              <a:buNone/>
            </a:pPr>
            <a:r>
              <a:rPr lang="en-US" sz="1000" b="1" dirty="0">
                <a:solidFill>
                  <a:srgbClr val="0E7C7B"/>
                </a:solidFill>
                <a:latin typeface="Calibri" pitchFamily="34" charset="0"/>
                <a:ea typeface="Calibri" pitchFamily="34" charset="-122"/>
                <a:cs typeface="Calibri" pitchFamily="34" charset="-120"/>
              </a:rPr>
              <a:t xml:space="preserve">Feeds Phase 3: </a:t>
            </a:r>
            <a:pPr indent="0" marL="0">
              <a:spcAft>
                <a:spcPts val="1000"/>
              </a:spcAft>
              <a:buNone/>
            </a:pPr>
            <a:r>
              <a:rPr lang="en-US" sz="1000" dirty="0">
                <a:solidFill>
                  <a:srgbClr val="333333"/>
                </a:solidFill>
                <a:latin typeface="Calibri" pitchFamily="34" charset="0"/>
                <a:ea typeface="Calibri" pitchFamily="34" charset="-122"/>
                <a:cs typeface="Calibri" pitchFamily="34" charset="-120"/>
              </a:rPr>
              <a:t>Glossary terms can carry label policies</a:t>
            </a:r>
            <a:endParaRPr lang="en-US" sz="1000" dirty="0"/>
          </a:p>
          <a:p>
            <a:pPr indent="0" marL="0">
              <a:buNone/>
            </a:pPr>
            <a:r>
              <a:rPr lang="en-US" sz="1000" b="1" dirty="0">
                <a:solidFill>
                  <a:srgbClr val="0E7C7B"/>
                </a:solidFill>
                <a:latin typeface="Calibri" pitchFamily="34" charset="0"/>
                <a:ea typeface="Calibri" pitchFamily="34" charset="-122"/>
                <a:cs typeface="Calibri" pitchFamily="34" charset="-120"/>
              </a:rPr>
              <a:t xml:space="preserve">Feeds Phase 5: </a:t>
            </a:r>
            <a:pPr indent="0" marL="0">
              <a:spcAft>
                <a:spcPts val="1000"/>
              </a:spcAft>
              <a:buNone/>
            </a:pPr>
            <a:r>
              <a:rPr lang="en-US" sz="1000" dirty="0">
                <a:solidFill>
                  <a:srgbClr val="333333"/>
                </a:solidFill>
                <a:latin typeface="Calibri" pitchFamily="34" charset="0"/>
                <a:ea typeface="Calibri" pitchFamily="34" charset="-122"/>
                <a:cs typeface="Calibri" pitchFamily="34" charset="-120"/>
              </a:rPr>
              <a:t>DLP built on labels; no labels = blind DLP</a:t>
            </a:r>
            <a:endParaRPr lang="en-US" sz="1000" dirty="0"/>
          </a:p>
          <a:p>
            <a:pPr indent="0" marL="0">
              <a:buNone/>
            </a:pPr>
            <a:r>
              <a:rPr lang="en-US" sz="1000" b="1" dirty="0">
                <a:solidFill>
                  <a:srgbClr val="0E7C7B"/>
                </a:solidFill>
                <a:latin typeface="Calibri" pitchFamily="34" charset="0"/>
                <a:ea typeface="Calibri" pitchFamily="34" charset="-122"/>
                <a:cs typeface="Calibri" pitchFamily="34" charset="-120"/>
              </a:rPr>
              <a:t xml:space="preserve">Feeds Phase 6: </a:t>
            </a:r>
            <a:pPr indent="0" marL="0">
              <a:spcAft>
                <a:spcPts val="1000"/>
              </a:spcAft>
              <a:buNone/>
            </a:pPr>
            <a:r>
              <a:rPr lang="en-US" sz="1000" dirty="0">
                <a:solidFill>
                  <a:srgbClr val="333333"/>
                </a:solidFill>
                <a:latin typeface="Calibri" pitchFamily="34" charset="0"/>
                <a:ea typeface="Calibri" pitchFamily="34" charset="-122"/>
                <a:cs typeface="Calibri" pitchFamily="34" charset="-120"/>
              </a:rPr>
              <a:t>Compliance Manager references label coverage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B"/>
        </a:solidFill>
      </p:bgPr>
    </p:bg>
    <p:spTree>
      <p:nvGrpSpPr>
        <p:cNvPr id="1" name=""/>
        <p:cNvGrpSpPr/>
        <p:nvPr/>
      </p:nvGrpSpPr>
      <p:grpSpPr>
        <a:xfrm>
          <a:off x="0" y="0"/>
          <a:ext cx="0" cy="0"/>
          <a:chOff x="0" y="0"/>
          <a:chExt cx="0" cy="0"/>
        </a:xfrm>
      </p:grpSpPr>
      <p:sp>
        <p:nvSpPr>
          <p:cNvPr id="2" name="Shape 0"/>
          <p:cNvSpPr/>
          <p:nvPr/>
        </p:nvSpPr>
        <p:spPr>
          <a:xfrm>
            <a:off x="0" y="0"/>
            <a:ext cx="1097280" cy="822960"/>
          </a:xfrm>
          <a:prstGeom prst="rect">
            <a:avLst/>
          </a:prstGeom>
          <a:solidFill>
            <a:srgbClr val="1B3A5C"/>
          </a:solidFill>
          <a:ln/>
        </p:spPr>
      </p:sp>
      <p:sp>
        <p:nvSpPr>
          <p:cNvPr id="3" name="Text 1"/>
          <p:cNvSpPr/>
          <p:nvPr/>
        </p:nvSpPr>
        <p:spPr>
          <a:xfrm>
            <a:off x="0" y="137160"/>
            <a:ext cx="1097280" cy="54864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Trebuchet MS" pitchFamily="34" charset="0"/>
                <a:ea typeface="Trebuchet MS" pitchFamily="34" charset="-122"/>
                <a:cs typeface="Trebuchet MS" pitchFamily="34" charset="-120"/>
              </a:rPr>
              <a:t>P H A S E  3</a:t>
            </a:r>
            <a:endParaRPr lang="en-US" sz="1400" dirty="0"/>
          </a:p>
        </p:txBody>
      </p:sp>
      <p:sp>
        <p:nvSpPr>
          <p:cNvPr id="4" name="Shape 2"/>
          <p:cNvSpPr/>
          <p:nvPr/>
        </p:nvSpPr>
        <p:spPr>
          <a:xfrm>
            <a:off x="1097280" y="0"/>
            <a:ext cx="8046720" cy="822960"/>
          </a:xfrm>
          <a:prstGeom prst="rect">
            <a:avLst/>
          </a:prstGeom>
          <a:solidFill>
            <a:srgbClr val="1B3A5C"/>
          </a:solidFill>
          <a:ln/>
        </p:spPr>
      </p:sp>
      <p:sp>
        <p:nvSpPr>
          <p:cNvPr id="5" name="Text 3"/>
          <p:cNvSpPr/>
          <p:nvPr/>
        </p:nvSpPr>
        <p:spPr>
          <a:xfrm>
            <a:off x="1280160" y="73152"/>
            <a:ext cx="6400800" cy="384048"/>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Enterprise Glossary, Domains &amp; Catalog</a:t>
            </a:r>
            <a:endParaRPr lang="en-US" sz="1800" dirty="0"/>
          </a:p>
        </p:txBody>
      </p:sp>
      <p:sp>
        <p:nvSpPr>
          <p:cNvPr id="6" name="Text 4"/>
          <p:cNvSpPr/>
          <p:nvPr/>
        </p:nvSpPr>
        <p:spPr>
          <a:xfrm>
            <a:off x="1280160" y="457200"/>
            <a:ext cx="4572000" cy="274320"/>
          </a:xfrm>
          <a:prstGeom prst="rect">
            <a:avLst/>
          </a:prstGeom>
          <a:noFill/>
          <a:ln/>
        </p:spPr>
        <p:txBody>
          <a:bodyPr wrap="square" lIns="0" tIns="0" rIns="0" bIns="0" rtlCol="0" anchor="ctr"/>
          <a:lstStyle/>
          <a:p>
            <a:pPr indent="0" marL="0">
              <a:buNone/>
            </a:pPr>
            <a:r>
              <a:rPr lang="en-US" sz="1000" i="1" dirty="0">
                <a:solidFill>
                  <a:srgbClr val="CCDDEE"/>
                </a:solidFill>
                <a:latin typeface="Calibri" pitchFamily="34" charset="0"/>
                <a:ea typeface="Calibri" pitchFamily="34" charset="-122"/>
                <a:cs typeface="Calibri" pitchFamily="34" charset="-120"/>
              </a:rPr>
              <a:t>"Give data business meaning and ownership"</a:t>
            </a:r>
            <a:endParaRPr lang="en-US" sz="1000" dirty="0"/>
          </a:p>
        </p:txBody>
      </p:sp>
      <p:sp>
        <p:nvSpPr>
          <p:cNvPr id="7" name="Text 5"/>
          <p:cNvSpPr/>
          <p:nvPr/>
        </p:nvSpPr>
        <p:spPr>
          <a:xfrm>
            <a:off x="6898080" y="228600"/>
            <a:ext cx="137160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Weeks 8–16</a:t>
            </a:r>
            <a:endParaRPr lang="en-US" sz="1100" dirty="0"/>
          </a:p>
        </p:txBody>
      </p:sp>
      <p:pic>
        <p:nvPicPr>
          <p:cNvPr id="8" name="Image 0" descr="preencoded.png"/>
          <p:cNvPicPr>
            <a:picLocks noChangeAspect="1"/>
          </p:cNvPicPr>
          <p:nvPr/>
        </p:nvPicPr>
        <p:blipFill>
          <a:blip r:embed="rId1"/>
          <a:stretch>
            <a:fillRect/>
          </a:stretch>
        </p:blipFill>
        <p:spPr>
          <a:xfrm>
            <a:off x="8412480" y="182880"/>
            <a:ext cx="365760" cy="365760"/>
          </a:xfrm>
          <a:prstGeom prst="rect">
            <a:avLst/>
          </a:prstGeom>
        </p:spPr>
      </p:pic>
      <p:sp>
        <p:nvSpPr>
          <p:cNvPr id="9" name="Text 6"/>
          <p:cNvSpPr/>
          <p:nvPr/>
        </p:nvSpPr>
        <p:spPr>
          <a:xfrm>
            <a:off x="457200" y="1005840"/>
            <a:ext cx="3657600" cy="320040"/>
          </a:xfrm>
          <a:prstGeom prst="rect">
            <a:avLst/>
          </a:prstGeom>
          <a:noFill/>
          <a:ln/>
        </p:spPr>
        <p:txBody>
          <a:bodyPr wrap="square" lIns="0" tIns="0" rIns="0" bIns="0" rtlCol="0" anchor="ctr"/>
          <a:lstStyle/>
          <a:p>
            <a:pPr indent="0" marL="0">
              <a:buNone/>
            </a:pPr>
            <a:r>
              <a:rPr lang="en-US" sz="1400" b="1" dirty="0">
                <a:solidFill>
                  <a:srgbClr val="1B3A5C"/>
                </a:solidFill>
                <a:latin typeface="Trebuchet MS" pitchFamily="34" charset="0"/>
                <a:ea typeface="Trebuchet MS" pitchFamily="34" charset="-122"/>
                <a:cs typeface="Trebuchet MS" pitchFamily="34" charset="-120"/>
              </a:rPr>
              <a:t>Key Activities</a:t>
            </a:r>
            <a:endParaRPr lang="en-US" sz="1400" dirty="0"/>
          </a:p>
        </p:txBody>
      </p:sp>
      <p:sp>
        <p:nvSpPr>
          <p:cNvPr id="10" name="Text 7"/>
          <p:cNvSpPr/>
          <p:nvPr/>
        </p:nvSpPr>
        <p:spPr>
          <a:xfrm>
            <a:off x="457200" y="1371600"/>
            <a:ext cx="8229600" cy="3474720"/>
          </a:xfrm>
          <a:prstGeom prst="rect">
            <a:avLst/>
          </a:prstGeom>
          <a:noFill/>
          <a:ln/>
        </p:spPr>
        <p:txBody>
          <a:bodyPr wrap="square" lIns="0" tIns="0" rIns="0" bIns="0" rtlCol="0" anchor="t"/>
          <a:lstStyle/>
          <a:p>
            <a:pPr indent="0" marL="0">
              <a:spcAft>
                <a:spcPts val="600"/>
              </a:spcAft>
              <a:buNone/>
            </a:pPr>
            <a:r>
              <a:rPr lang="en-US" sz="1000" dirty="0">
                <a:solidFill>
                  <a:srgbClr val="333333"/>
                </a:solidFill>
                <a:latin typeface="Calibri" pitchFamily="34" charset="0"/>
                <a:ea typeface="Calibri" pitchFamily="34" charset="-122"/>
                <a:cs typeface="Calibri" pitchFamily="34" charset="-120"/>
              </a:rPr>
              <a:t>1.  Create 3-5 governance domains aligned to business functions</a:t>
            </a:r>
            <a:endParaRPr lang="en-US" sz="1000" dirty="0"/>
          </a:p>
          <a:p>
            <a:pPr indent="0" marL="0">
              <a:spcAft>
                <a:spcPts val="600"/>
              </a:spcAft>
              <a:buNone/>
            </a:pPr>
            <a:r>
              <a:rPr lang="en-US" sz="1000" dirty="0">
                <a:solidFill>
                  <a:srgbClr val="333333"/>
                </a:solidFill>
                <a:latin typeface="Calibri" pitchFamily="34" charset="0"/>
                <a:ea typeface="Calibri" pitchFamily="34" charset="-122"/>
                <a:cs typeface="Calibri" pitchFamily="34" charset="-120"/>
              </a:rPr>
              <a:t>2.  Assign domain owners, data stewards &amp; data product owners</a:t>
            </a:r>
            <a:endParaRPr lang="en-US" sz="1000" dirty="0"/>
          </a:p>
          <a:p>
            <a:pPr indent="0" marL="0">
              <a:spcAft>
                <a:spcPts val="600"/>
              </a:spcAft>
              <a:buNone/>
            </a:pPr>
            <a:r>
              <a:rPr lang="en-US" sz="1000" dirty="0">
                <a:solidFill>
                  <a:srgbClr val="333333"/>
                </a:solidFill>
                <a:latin typeface="Calibri" pitchFamily="34" charset="0"/>
                <a:ea typeface="Calibri" pitchFamily="34" charset="-122"/>
                <a:cs typeface="Calibri" pitchFamily="34" charset="-120"/>
              </a:rPr>
              <a:t>3.  Build enterprise glossary from existing team vocabularies</a:t>
            </a:r>
            <a:endParaRPr lang="en-US" sz="1000" dirty="0"/>
          </a:p>
          <a:p>
            <a:pPr indent="0" marL="0">
              <a:spcAft>
                <a:spcPts val="600"/>
              </a:spcAft>
              <a:buNone/>
            </a:pPr>
            <a:r>
              <a:rPr lang="en-US" sz="1000" dirty="0">
                <a:solidFill>
                  <a:srgbClr val="333333"/>
                </a:solidFill>
                <a:latin typeface="Calibri" pitchFamily="34" charset="0"/>
                <a:ea typeface="Calibri" pitchFamily="34" charset="-122"/>
                <a:cs typeface="Calibri" pitchFamily="34" charset="-120"/>
              </a:rPr>
              <a:t>4.  Create catalog style guide for consistent term definitions</a:t>
            </a:r>
            <a:endParaRPr lang="en-US" sz="1000" dirty="0"/>
          </a:p>
          <a:p>
            <a:pPr indent="0" marL="0">
              <a:spcAft>
                <a:spcPts val="600"/>
              </a:spcAft>
              <a:buNone/>
            </a:pPr>
            <a:r>
              <a:rPr lang="en-US" sz="1000" dirty="0">
                <a:solidFill>
                  <a:srgbClr val="333333"/>
                </a:solidFill>
                <a:latin typeface="Calibri" pitchFamily="34" charset="0"/>
                <a:ea typeface="Calibri" pitchFamily="34" charset="-122"/>
                <a:cs typeface="Calibri" pitchFamily="34" charset="-120"/>
              </a:rPr>
              <a:t>5.  Link glossary terms to Data Map assets (bidirectional)</a:t>
            </a:r>
            <a:endParaRPr lang="en-US" sz="1000" dirty="0"/>
          </a:p>
          <a:p>
            <a:pPr indent="0" marL="0">
              <a:spcAft>
                <a:spcPts val="600"/>
              </a:spcAft>
              <a:buNone/>
            </a:pPr>
            <a:r>
              <a:rPr lang="en-US" sz="1000" dirty="0">
                <a:solidFill>
                  <a:srgbClr val="333333"/>
                </a:solidFill>
                <a:latin typeface="Calibri" pitchFamily="34" charset="0"/>
                <a:ea typeface="Calibri" pitchFamily="34" charset="-122"/>
                <a:cs typeface="Calibri" pitchFamily="34" charset="-120"/>
              </a:rPr>
              <a:t>6.  Publish initial glossary; grant catalog access to contributing teams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9FB"/>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B3A5C"/>
          </a:solidFill>
          <a:ln/>
        </p:spPr>
      </p:sp>
      <p:sp>
        <p:nvSpPr>
          <p:cNvPr id="3" name="Text 1"/>
          <p:cNvSpPr/>
          <p:nvPr/>
        </p:nvSpPr>
        <p:spPr>
          <a:xfrm>
            <a:off x="548640" y="91440"/>
            <a:ext cx="7315200" cy="365760"/>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Phase 3 – Key Activities &amp; Dependencies</a:t>
            </a:r>
            <a:endParaRPr lang="en-US" sz="1600" dirty="0"/>
          </a:p>
        </p:txBody>
      </p:sp>
      <p:sp>
        <p:nvSpPr>
          <p:cNvPr id="4" name="Shape 2"/>
          <p:cNvSpPr/>
          <p:nvPr/>
        </p:nvSpPr>
        <p:spPr>
          <a:xfrm>
            <a:off x="457200" y="777240"/>
            <a:ext cx="3931920" cy="25603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457200" y="777240"/>
            <a:ext cx="3931920" cy="320040"/>
          </a:xfrm>
          <a:prstGeom prst="rect">
            <a:avLst/>
          </a:prstGeom>
          <a:solidFill>
            <a:srgbClr val="0E7C7B"/>
          </a:solidFill>
          <a:ln/>
        </p:spPr>
      </p:sp>
      <p:sp>
        <p:nvSpPr>
          <p:cNvPr id="6" name="Text 4"/>
          <p:cNvSpPr/>
          <p:nvPr/>
        </p:nvSpPr>
        <p:spPr>
          <a:xfrm>
            <a:off x="548640" y="795528"/>
            <a:ext cx="365760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Outputs &amp; Deliverables</a:t>
            </a:r>
            <a:endParaRPr lang="en-US" sz="1100" dirty="0"/>
          </a:p>
        </p:txBody>
      </p:sp>
      <p:sp>
        <p:nvSpPr>
          <p:cNvPr id="7" name="Text 5"/>
          <p:cNvSpPr/>
          <p:nvPr/>
        </p:nvSpPr>
        <p:spPr>
          <a:xfrm>
            <a:off x="640080" y="1234440"/>
            <a:ext cx="3566160" cy="1920240"/>
          </a:xfrm>
          <a:prstGeom prst="rect">
            <a:avLst/>
          </a:prstGeom>
          <a:noFill/>
          <a:ln/>
        </p:spPr>
        <p:txBody>
          <a:bodyPr wrap="square" lIns="0" tIns="0" rIns="0" bIns="0" rtlCol="0" anchor="t"/>
          <a:lstStyle/>
          <a:p>
            <a:pPr marL="342900" indent="-342900">
              <a:spcAft>
                <a:spcPts val="800"/>
              </a:spcAft>
              <a:buSzPct val="100000"/>
              <a:buChar char="•"/>
            </a:pPr>
            <a:r>
              <a:rPr lang="en-US" sz="1000" dirty="0">
                <a:solidFill>
                  <a:srgbClr val="333333"/>
                </a:solidFill>
                <a:latin typeface="Calibri" pitchFamily="34" charset="0"/>
                <a:ea typeface="Calibri" pitchFamily="34" charset="-122"/>
                <a:cs typeface="Calibri" pitchFamily="34" charset="-120"/>
              </a:rPr>
              <a:t>Governance domains with ownership established</a:t>
            </a:r>
            <a:endParaRPr lang="en-US" sz="1000" dirty="0"/>
          </a:p>
          <a:p>
            <a:pPr marL="342900" indent="-342900">
              <a:spcAft>
                <a:spcPts val="800"/>
              </a:spcAft>
              <a:buSzPct val="100000"/>
              <a:buChar char="•"/>
            </a:pPr>
            <a:r>
              <a:rPr lang="en-US" sz="1000" dirty="0">
                <a:solidFill>
                  <a:srgbClr val="333333"/>
                </a:solidFill>
                <a:latin typeface="Calibri" pitchFamily="34" charset="0"/>
                <a:ea typeface="Calibri" pitchFamily="34" charset="-122"/>
                <a:cs typeface="Calibri" pitchFamily="34" charset="-120"/>
              </a:rPr>
              <a:t>Enterprise glossary with linked assets published</a:t>
            </a:r>
            <a:endParaRPr lang="en-US" sz="1000" dirty="0"/>
          </a:p>
          <a:p>
            <a:pPr marL="342900" indent="-342900">
              <a:spcAft>
                <a:spcPts val="800"/>
              </a:spcAft>
              <a:buSzPct val="100000"/>
              <a:buChar char="•"/>
            </a:pPr>
            <a:r>
              <a:rPr lang="en-US" sz="1000" dirty="0">
                <a:solidFill>
                  <a:srgbClr val="333333"/>
                </a:solidFill>
                <a:latin typeface="Calibri" pitchFamily="34" charset="0"/>
                <a:ea typeface="Calibri" pitchFamily="34" charset="-122"/>
                <a:cs typeface="Calibri" pitchFamily="34" charset="-120"/>
              </a:rPr>
              <a:t>Catalog style guide documented</a:t>
            </a:r>
            <a:endParaRPr lang="en-US" sz="1000" dirty="0"/>
          </a:p>
          <a:p>
            <a:pPr marL="342900" indent="-342900">
              <a:spcAft>
                <a:spcPts val="800"/>
              </a:spcAft>
              <a:buSzPct val="100000"/>
              <a:buChar char="•"/>
            </a:pPr>
            <a:r>
              <a:rPr lang="en-US" sz="1000" dirty="0">
                <a:solidFill>
                  <a:srgbClr val="333333"/>
                </a:solidFill>
                <a:latin typeface="Calibri" pitchFamily="34" charset="0"/>
                <a:ea typeface="Calibri" pitchFamily="34" charset="-122"/>
                <a:cs typeface="Calibri" pitchFamily="34" charset="-120"/>
              </a:rPr>
              <a:t>Initial Unified Catalog access granted</a:t>
            </a:r>
            <a:endParaRPr lang="en-US" sz="1000" dirty="0"/>
          </a:p>
        </p:txBody>
      </p:sp>
      <p:sp>
        <p:nvSpPr>
          <p:cNvPr id="8" name="Shape 6"/>
          <p:cNvSpPr/>
          <p:nvPr/>
        </p:nvSpPr>
        <p:spPr>
          <a:xfrm>
            <a:off x="4754880" y="777240"/>
            <a:ext cx="3931920" cy="25603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Shape 7"/>
          <p:cNvSpPr/>
          <p:nvPr/>
        </p:nvSpPr>
        <p:spPr>
          <a:xfrm>
            <a:off x="4754880" y="777240"/>
            <a:ext cx="3931920" cy="320040"/>
          </a:xfrm>
          <a:prstGeom prst="rect">
            <a:avLst/>
          </a:prstGeom>
          <a:solidFill>
            <a:srgbClr val="1B3A5C"/>
          </a:solidFill>
          <a:ln/>
        </p:spPr>
      </p:sp>
      <p:sp>
        <p:nvSpPr>
          <p:cNvPr id="10" name="Text 8"/>
          <p:cNvSpPr/>
          <p:nvPr/>
        </p:nvSpPr>
        <p:spPr>
          <a:xfrm>
            <a:off x="4846320" y="795528"/>
            <a:ext cx="365760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Dependencies &amp; Linkages</a:t>
            </a:r>
            <a:endParaRPr lang="en-US" sz="1100" dirty="0"/>
          </a:p>
        </p:txBody>
      </p:sp>
      <p:sp>
        <p:nvSpPr>
          <p:cNvPr id="11" name="Text 9"/>
          <p:cNvSpPr/>
          <p:nvPr/>
        </p:nvSpPr>
        <p:spPr>
          <a:xfrm>
            <a:off x="4937760" y="1234440"/>
            <a:ext cx="3566160" cy="1920240"/>
          </a:xfrm>
          <a:prstGeom prst="rect">
            <a:avLst/>
          </a:prstGeom>
          <a:noFill/>
          <a:ln/>
        </p:spPr>
        <p:txBody>
          <a:bodyPr wrap="square" lIns="0" tIns="0" rIns="0" bIns="0" rtlCol="0" anchor="t"/>
          <a:lstStyle/>
          <a:p>
            <a:pPr indent="0" marL="0">
              <a:buNone/>
            </a:pPr>
            <a:r>
              <a:rPr lang="en-US" sz="1000" b="1" dirty="0">
                <a:solidFill>
                  <a:srgbClr val="0E7C7B"/>
                </a:solidFill>
                <a:latin typeface="Calibri" pitchFamily="34" charset="0"/>
                <a:ea typeface="Calibri" pitchFamily="34" charset="-122"/>
                <a:cs typeface="Calibri" pitchFamily="34" charset="-120"/>
              </a:rPr>
              <a:t xml:space="preserve">Requires Phase 1: </a:t>
            </a:r>
            <a:pPr indent="0" marL="0">
              <a:spcAft>
                <a:spcPts val="1000"/>
              </a:spcAft>
              <a:buNone/>
            </a:pPr>
            <a:r>
              <a:rPr lang="en-US" sz="1000" dirty="0">
                <a:solidFill>
                  <a:srgbClr val="333333"/>
                </a:solidFill>
                <a:latin typeface="Calibri" pitchFamily="34" charset="0"/>
                <a:ea typeface="Calibri" pitchFamily="34" charset="-122"/>
                <a:cs typeface="Calibri" pitchFamily="34" charset="-120"/>
              </a:rPr>
              <a:t>Domains scoped against scanned assets</a:t>
            </a:r>
            <a:endParaRPr lang="en-US" sz="1000" dirty="0"/>
          </a:p>
          <a:p>
            <a:pPr indent="0" marL="0">
              <a:buNone/>
            </a:pPr>
            <a:r>
              <a:rPr lang="en-US" sz="1000" b="1" dirty="0">
                <a:solidFill>
                  <a:srgbClr val="0E7C7B"/>
                </a:solidFill>
                <a:latin typeface="Calibri" pitchFamily="34" charset="0"/>
                <a:ea typeface="Calibri" pitchFamily="34" charset="-122"/>
                <a:cs typeface="Calibri" pitchFamily="34" charset="-120"/>
              </a:rPr>
              <a:t xml:space="preserve">Requires Phase 2: </a:t>
            </a:r>
            <a:pPr indent="0" marL="0">
              <a:spcAft>
                <a:spcPts val="1000"/>
              </a:spcAft>
              <a:buNone/>
            </a:pPr>
            <a:r>
              <a:rPr lang="en-US" sz="1000" dirty="0">
                <a:solidFill>
                  <a:srgbClr val="333333"/>
                </a:solidFill>
                <a:latin typeface="Calibri" pitchFamily="34" charset="0"/>
                <a:ea typeface="Calibri" pitchFamily="34" charset="-122"/>
                <a:cs typeface="Calibri" pitchFamily="34" charset="-120"/>
              </a:rPr>
              <a:t>Terms carry label-referenced policies</a:t>
            </a:r>
            <a:endParaRPr lang="en-US" sz="1000" dirty="0"/>
          </a:p>
          <a:p>
            <a:pPr indent="0" marL="0">
              <a:buNone/>
            </a:pPr>
            <a:r>
              <a:rPr lang="en-US" sz="1000" b="1" dirty="0">
                <a:solidFill>
                  <a:srgbClr val="0E7C7B"/>
                </a:solidFill>
                <a:latin typeface="Calibri" pitchFamily="34" charset="0"/>
                <a:ea typeface="Calibri" pitchFamily="34" charset="-122"/>
                <a:cs typeface="Calibri" pitchFamily="34" charset="-120"/>
              </a:rPr>
              <a:t xml:space="preserve">Into Phase 4: </a:t>
            </a:r>
            <a:pPr indent="0" marL="0">
              <a:spcAft>
                <a:spcPts val="1000"/>
              </a:spcAft>
              <a:buNone/>
            </a:pPr>
            <a:r>
              <a:rPr lang="en-US" sz="1000" dirty="0">
                <a:solidFill>
                  <a:srgbClr val="333333"/>
                </a:solidFill>
                <a:latin typeface="Calibri" pitchFamily="34" charset="0"/>
                <a:ea typeface="Calibri" pitchFamily="34" charset="-122"/>
                <a:cs typeface="Calibri" pitchFamily="34" charset="-120"/>
              </a:rPr>
              <a:t>Glossary must exist before product curation</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9FB"/>
        </a:solidFill>
      </p:bgPr>
    </p:bg>
    <p:spTree>
      <p:nvGrpSpPr>
        <p:cNvPr id="1" name=""/>
        <p:cNvGrpSpPr/>
        <p:nvPr/>
      </p:nvGrpSpPr>
      <p:grpSpPr>
        <a:xfrm>
          <a:off x="0" y="0"/>
          <a:ext cx="0" cy="0"/>
          <a:chOff x="0" y="0"/>
          <a:chExt cx="0" cy="0"/>
        </a:xfrm>
      </p:grpSpPr>
      <p:sp>
        <p:nvSpPr>
          <p:cNvPr id="2" name="Shape 0"/>
          <p:cNvSpPr/>
          <p:nvPr/>
        </p:nvSpPr>
        <p:spPr>
          <a:xfrm>
            <a:off x="0" y="0"/>
            <a:ext cx="1097280" cy="822960"/>
          </a:xfrm>
          <a:prstGeom prst="rect">
            <a:avLst/>
          </a:prstGeom>
          <a:solidFill>
            <a:srgbClr val="1B3A5C"/>
          </a:solidFill>
          <a:ln/>
        </p:spPr>
      </p:sp>
      <p:sp>
        <p:nvSpPr>
          <p:cNvPr id="3" name="Text 1"/>
          <p:cNvSpPr/>
          <p:nvPr/>
        </p:nvSpPr>
        <p:spPr>
          <a:xfrm>
            <a:off x="0" y="137160"/>
            <a:ext cx="1097280" cy="54864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Trebuchet MS" pitchFamily="34" charset="0"/>
                <a:ea typeface="Trebuchet MS" pitchFamily="34" charset="-122"/>
                <a:cs typeface="Trebuchet MS" pitchFamily="34" charset="-120"/>
              </a:rPr>
              <a:t>P H A S E  4</a:t>
            </a:r>
            <a:endParaRPr lang="en-US" sz="1400" dirty="0"/>
          </a:p>
        </p:txBody>
      </p:sp>
      <p:sp>
        <p:nvSpPr>
          <p:cNvPr id="4" name="Shape 2"/>
          <p:cNvSpPr/>
          <p:nvPr/>
        </p:nvSpPr>
        <p:spPr>
          <a:xfrm>
            <a:off x="1097280" y="0"/>
            <a:ext cx="8046720" cy="822960"/>
          </a:xfrm>
          <a:prstGeom prst="rect">
            <a:avLst/>
          </a:prstGeom>
          <a:solidFill>
            <a:srgbClr val="0A6665"/>
          </a:solidFill>
          <a:ln/>
        </p:spPr>
      </p:sp>
      <p:sp>
        <p:nvSpPr>
          <p:cNvPr id="5" name="Text 3"/>
          <p:cNvSpPr/>
          <p:nvPr/>
        </p:nvSpPr>
        <p:spPr>
          <a:xfrm>
            <a:off x="1280160" y="73152"/>
            <a:ext cx="6400800" cy="384048"/>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Data Products, OKRs &amp; Data Quality</a:t>
            </a:r>
            <a:endParaRPr lang="en-US" sz="1800" dirty="0"/>
          </a:p>
        </p:txBody>
      </p:sp>
      <p:sp>
        <p:nvSpPr>
          <p:cNvPr id="6" name="Text 4"/>
          <p:cNvSpPr/>
          <p:nvPr/>
        </p:nvSpPr>
        <p:spPr>
          <a:xfrm>
            <a:off x="1280160" y="457200"/>
            <a:ext cx="4572000" cy="274320"/>
          </a:xfrm>
          <a:prstGeom prst="rect">
            <a:avLst/>
          </a:prstGeom>
          <a:noFill/>
          <a:ln/>
        </p:spPr>
        <p:txBody>
          <a:bodyPr wrap="square" lIns="0" tIns="0" rIns="0" bIns="0" rtlCol="0" anchor="ctr"/>
          <a:lstStyle/>
          <a:p>
            <a:pPr indent="0" marL="0">
              <a:buNone/>
            </a:pPr>
            <a:r>
              <a:rPr lang="en-US" sz="1000" i="1" dirty="0">
                <a:solidFill>
                  <a:srgbClr val="CCDDEE"/>
                </a:solidFill>
                <a:latin typeface="Calibri" pitchFamily="34" charset="0"/>
                <a:ea typeface="Calibri" pitchFamily="34" charset="-122"/>
                <a:cs typeface="Calibri" pitchFamily="34" charset="-120"/>
              </a:rPr>
              <a:t>"Package data for consumption"</a:t>
            </a:r>
            <a:endParaRPr lang="en-US" sz="1000" dirty="0"/>
          </a:p>
        </p:txBody>
      </p:sp>
      <p:sp>
        <p:nvSpPr>
          <p:cNvPr id="7" name="Text 5"/>
          <p:cNvSpPr/>
          <p:nvPr/>
        </p:nvSpPr>
        <p:spPr>
          <a:xfrm>
            <a:off x="6898080" y="228600"/>
            <a:ext cx="137160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Weeks 14–22</a:t>
            </a:r>
            <a:endParaRPr lang="en-US" sz="1100" dirty="0"/>
          </a:p>
        </p:txBody>
      </p:sp>
      <p:pic>
        <p:nvPicPr>
          <p:cNvPr id="8" name="Image 0" descr="preencoded.png"/>
          <p:cNvPicPr>
            <a:picLocks noChangeAspect="1"/>
          </p:cNvPicPr>
          <p:nvPr/>
        </p:nvPicPr>
        <p:blipFill>
          <a:blip r:embed="rId1"/>
          <a:stretch>
            <a:fillRect/>
          </a:stretch>
        </p:blipFill>
        <p:spPr>
          <a:xfrm>
            <a:off x="8412480" y="182880"/>
            <a:ext cx="365760" cy="365760"/>
          </a:xfrm>
          <a:prstGeom prst="rect">
            <a:avLst/>
          </a:prstGeom>
        </p:spPr>
      </p:pic>
      <p:sp>
        <p:nvSpPr>
          <p:cNvPr id="9" name="Text 6"/>
          <p:cNvSpPr/>
          <p:nvPr/>
        </p:nvSpPr>
        <p:spPr>
          <a:xfrm>
            <a:off x="457200" y="1005840"/>
            <a:ext cx="3657600" cy="320040"/>
          </a:xfrm>
          <a:prstGeom prst="rect">
            <a:avLst/>
          </a:prstGeom>
          <a:noFill/>
          <a:ln/>
        </p:spPr>
        <p:txBody>
          <a:bodyPr wrap="square" lIns="0" tIns="0" rIns="0" bIns="0" rtlCol="0" anchor="ctr"/>
          <a:lstStyle/>
          <a:p>
            <a:pPr indent="0" marL="0">
              <a:buNone/>
            </a:pPr>
            <a:r>
              <a:rPr lang="en-US" sz="1400" b="1" dirty="0">
                <a:solidFill>
                  <a:srgbClr val="1B3A5C"/>
                </a:solidFill>
                <a:latin typeface="Trebuchet MS" pitchFamily="34" charset="0"/>
                <a:ea typeface="Trebuchet MS" pitchFamily="34" charset="-122"/>
                <a:cs typeface="Trebuchet MS" pitchFamily="34" charset="-120"/>
              </a:rPr>
              <a:t>Key Activities</a:t>
            </a:r>
            <a:endParaRPr lang="en-US" sz="1400" dirty="0"/>
          </a:p>
        </p:txBody>
      </p:sp>
      <p:sp>
        <p:nvSpPr>
          <p:cNvPr id="10" name="Text 7"/>
          <p:cNvSpPr/>
          <p:nvPr/>
        </p:nvSpPr>
        <p:spPr>
          <a:xfrm>
            <a:off x="457200" y="1371600"/>
            <a:ext cx="8229600" cy="3474720"/>
          </a:xfrm>
          <a:prstGeom prst="rect">
            <a:avLst/>
          </a:prstGeom>
          <a:noFill/>
          <a:ln/>
        </p:spPr>
        <p:txBody>
          <a:bodyPr wrap="square" lIns="0" tIns="0" rIns="0" bIns="0" rtlCol="0" anchor="t"/>
          <a:lstStyle/>
          <a:p>
            <a:pPr indent="0" marL="0">
              <a:spcAft>
                <a:spcPts val="600"/>
              </a:spcAft>
              <a:buNone/>
            </a:pPr>
            <a:r>
              <a:rPr lang="en-US" sz="1000" dirty="0">
                <a:solidFill>
                  <a:srgbClr val="333333"/>
                </a:solidFill>
                <a:latin typeface="Calibri" pitchFamily="34" charset="0"/>
                <a:ea typeface="Calibri" pitchFamily="34" charset="-122"/>
                <a:cs typeface="Calibri" pitchFamily="34" charset="-120"/>
              </a:rPr>
              <a:t>1.  Create data products bundling assets under defined use cases</a:t>
            </a:r>
            <a:endParaRPr lang="en-US" sz="1000" dirty="0"/>
          </a:p>
          <a:p>
            <a:pPr indent="0" marL="0">
              <a:spcAft>
                <a:spcPts val="600"/>
              </a:spcAft>
              <a:buNone/>
            </a:pPr>
            <a:r>
              <a:rPr lang="en-US" sz="1000" dirty="0">
                <a:solidFill>
                  <a:srgbClr val="333333"/>
                </a:solidFill>
                <a:latin typeface="Calibri" pitchFamily="34" charset="0"/>
                <a:ea typeface="Calibri" pitchFamily="34" charset="-122"/>
                <a:cs typeface="Calibri" pitchFamily="34" charset="-120"/>
              </a:rPr>
              <a:t>2.  Link glossary terms to products for business discoverability</a:t>
            </a:r>
            <a:endParaRPr lang="en-US" sz="1000" dirty="0"/>
          </a:p>
          <a:p>
            <a:pPr indent="0" marL="0">
              <a:spcAft>
                <a:spcPts val="600"/>
              </a:spcAft>
              <a:buNone/>
            </a:pPr>
            <a:r>
              <a:rPr lang="en-US" sz="1000" dirty="0">
                <a:solidFill>
                  <a:srgbClr val="333333"/>
                </a:solidFill>
                <a:latin typeface="Calibri" pitchFamily="34" charset="0"/>
                <a:ea typeface="Calibri" pitchFamily="34" charset="-122"/>
                <a:cs typeface="Calibri" pitchFamily="34" charset="-120"/>
              </a:rPr>
              <a:t>3.  Define CDEs to group synonymous columns across systems</a:t>
            </a:r>
            <a:endParaRPr lang="en-US" sz="1000" dirty="0"/>
          </a:p>
          <a:p>
            <a:pPr indent="0" marL="0">
              <a:spcAft>
                <a:spcPts val="600"/>
              </a:spcAft>
              <a:buNone/>
            </a:pPr>
            <a:r>
              <a:rPr lang="en-US" sz="1000" dirty="0">
                <a:solidFill>
                  <a:srgbClr val="333333"/>
                </a:solidFill>
                <a:latin typeface="Calibri" pitchFamily="34" charset="0"/>
                <a:ea typeface="Calibri" pitchFamily="34" charset="-122"/>
                <a:cs typeface="Calibri" pitchFamily="34" charset="-120"/>
              </a:rPr>
              <a:t>4.  Deploy data quality rules using Data Quality scanner</a:t>
            </a:r>
            <a:endParaRPr lang="en-US" sz="1000" dirty="0"/>
          </a:p>
          <a:p>
            <a:pPr indent="0" marL="0">
              <a:spcAft>
                <a:spcPts val="600"/>
              </a:spcAft>
              <a:buNone/>
            </a:pPr>
            <a:r>
              <a:rPr lang="en-US" sz="1000" dirty="0">
                <a:solidFill>
                  <a:srgbClr val="333333"/>
                </a:solidFill>
                <a:latin typeface="Calibri" pitchFamily="34" charset="0"/>
                <a:ea typeface="Calibri" pitchFamily="34" charset="-122"/>
                <a:cs typeface="Calibri" pitchFamily="34" charset="-120"/>
              </a:rPr>
              <a:t>5.  Create OKRs linking governance to business outcomes</a:t>
            </a:r>
            <a:endParaRPr lang="en-US" sz="1000" dirty="0"/>
          </a:p>
          <a:p>
            <a:pPr indent="0" marL="0">
              <a:spcAft>
                <a:spcPts val="600"/>
              </a:spcAft>
              <a:buNone/>
            </a:pPr>
            <a:r>
              <a:rPr lang="en-US" sz="1000" dirty="0">
                <a:solidFill>
                  <a:srgbClr val="333333"/>
                </a:solidFill>
                <a:latin typeface="Calibri" pitchFamily="34" charset="0"/>
                <a:ea typeface="Calibri" pitchFamily="34" charset="-122"/>
                <a:cs typeface="Calibri" pitchFamily="34" charset="-120"/>
              </a:rPr>
              <a:t>6.  Configure self-service access with automated workflows</a:t>
            </a:r>
            <a:endParaRPr lang="en-US" sz="1000" dirty="0"/>
          </a:p>
          <a:p>
            <a:pPr indent="0" marL="0">
              <a:spcAft>
                <a:spcPts val="600"/>
              </a:spcAft>
              <a:buNone/>
            </a:pPr>
            <a:r>
              <a:rPr lang="en-US" sz="1000" dirty="0">
                <a:solidFill>
                  <a:srgbClr val="333333"/>
                </a:solidFill>
                <a:latin typeface="Calibri" pitchFamily="34" charset="0"/>
                <a:ea typeface="Calibri" pitchFamily="34" charset="-122"/>
                <a:cs typeface="Calibri" pitchFamily="34" charset="-120"/>
              </a:rPr>
              <a:t>7.  Endorse certified products; expand Catalog access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9FB"/>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A6665"/>
          </a:solidFill>
          <a:ln/>
        </p:spPr>
      </p:sp>
      <p:sp>
        <p:nvSpPr>
          <p:cNvPr id="3" name="Text 1"/>
          <p:cNvSpPr/>
          <p:nvPr/>
        </p:nvSpPr>
        <p:spPr>
          <a:xfrm>
            <a:off x="548640" y="91440"/>
            <a:ext cx="7315200" cy="365760"/>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Phase 4 – Key Activities &amp; Dependencies</a:t>
            </a:r>
            <a:endParaRPr lang="en-US" sz="1600" dirty="0"/>
          </a:p>
        </p:txBody>
      </p:sp>
      <p:sp>
        <p:nvSpPr>
          <p:cNvPr id="4" name="Shape 2"/>
          <p:cNvSpPr/>
          <p:nvPr/>
        </p:nvSpPr>
        <p:spPr>
          <a:xfrm>
            <a:off x="457200" y="777240"/>
            <a:ext cx="3931920" cy="25603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457200" y="777240"/>
            <a:ext cx="3931920" cy="320040"/>
          </a:xfrm>
          <a:prstGeom prst="rect">
            <a:avLst/>
          </a:prstGeom>
          <a:solidFill>
            <a:srgbClr val="0E7C7B"/>
          </a:solidFill>
          <a:ln/>
        </p:spPr>
      </p:sp>
      <p:sp>
        <p:nvSpPr>
          <p:cNvPr id="6" name="Text 4"/>
          <p:cNvSpPr/>
          <p:nvPr/>
        </p:nvSpPr>
        <p:spPr>
          <a:xfrm>
            <a:off x="548640" y="795528"/>
            <a:ext cx="365760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Outputs &amp; Deliverables</a:t>
            </a:r>
            <a:endParaRPr lang="en-US" sz="1100" dirty="0"/>
          </a:p>
        </p:txBody>
      </p:sp>
      <p:sp>
        <p:nvSpPr>
          <p:cNvPr id="7" name="Text 5"/>
          <p:cNvSpPr/>
          <p:nvPr/>
        </p:nvSpPr>
        <p:spPr>
          <a:xfrm>
            <a:off x="640080" y="1234440"/>
            <a:ext cx="3566160" cy="1920240"/>
          </a:xfrm>
          <a:prstGeom prst="rect">
            <a:avLst/>
          </a:prstGeom>
          <a:noFill/>
          <a:ln/>
        </p:spPr>
        <p:txBody>
          <a:bodyPr wrap="square" lIns="0" tIns="0" rIns="0" bIns="0" rtlCol="0" anchor="t"/>
          <a:lstStyle/>
          <a:p>
            <a:pPr marL="342900" indent="-342900">
              <a:spcAft>
                <a:spcPts val="800"/>
              </a:spcAft>
              <a:buSzPct val="100000"/>
              <a:buChar char="•"/>
            </a:pPr>
            <a:r>
              <a:rPr lang="en-US" sz="1000" dirty="0">
                <a:solidFill>
                  <a:srgbClr val="333333"/>
                </a:solidFill>
                <a:latin typeface="Calibri" pitchFamily="34" charset="0"/>
                <a:ea typeface="Calibri" pitchFamily="34" charset="-122"/>
                <a:cs typeface="Calibri" pitchFamily="34" charset="-120"/>
              </a:rPr>
              <a:t>Data products published with quality scores</a:t>
            </a:r>
            <a:endParaRPr lang="en-US" sz="1000" dirty="0"/>
          </a:p>
          <a:p>
            <a:pPr marL="342900" indent="-342900">
              <a:spcAft>
                <a:spcPts val="800"/>
              </a:spcAft>
              <a:buSzPct val="100000"/>
              <a:buChar char="•"/>
            </a:pPr>
            <a:r>
              <a:rPr lang="en-US" sz="1000" dirty="0">
                <a:solidFill>
                  <a:srgbClr val="333333"/>
                </a:solidFill>
                <a:latin typeface="Calibri" pitchFamily="34" charset="0"/>
                <a:ea typeface="Calibri" pitchFamily="34" charset="-122"/>
                <a:cs typeface="Calibri" pitchFamily="34" charset="-120"/>
              </a:rPr>
              <a:t>CDEs standardising key entities across systems</a:t>
            </a:r>
            <a:endParaRPr lang="en-US" sz="1000" dirty="0"/>
          </a:p>
          <a:p>
            <a:pPr marL="342900" indent="-342900">
              <a:spcAft>
                <a:spcPts val="800"/>
              </a:spcAft>
              <a:buSzPct val="100000"/>
              <a:buChar char="•"/>
            </a:pPr>
            <a:r>
              <a:rPr lang="en-US" sz="1000" dirty="0">
                <a:solidFill>
                  <a:srgbClr val="333333"/>
                </a:solidFill>
                <a:latin typeface="Calibri" pitchFamily="34" charset="0"/>
                <a:ea typeface="Calibri" pitchFamily="34" charset="-122"/>
                <a:cs typeface="Calibri" pitchFamily="34" charset="-120"/>
              </a:rPr>
              <a:t>OKRs connecting governance to business metrics</a:t>
            </a:r>
            <a:endParaRPr lang="en-US" sz="1000" dirty="0"/>
          </a:p>
          <a:p>
            <a:pPr marL="342900" indent="-342900">
              <a:spcAft>
                <a:spcPts val="800"/>
              </a:spcAft>
              <a:buSzPct val="100000"/>
              <a:buChar char="•"/>
            </a:pPr>
            <a:r>
              <a:rPr lang="en-US" sz="1000" dirty="0">
                <a:solidFill>
                  <a:srgbClr val="333333"/>
                </a:solidFill>
                <a:latin typeface="Calibri" pitchFamily="34" charset="0"/>
                <a:ea typeface="Calibri" pitchFamily="34" charset="-122"/>
                <a:cs typeface="Calibri" pitchFamily="34" charset="-120"/>
              </a:rPr>
              <a:t>Self-service access workflows operational</a:t>
            </a:r>
            <a:endParaRPr lang="en-US" sz="1000" dirty="0"/>
          </a:p>
        </p:txBody>
      </p:sp>
      <p:sp>
        <p:nvSpPr>
          <p:cNvPr id="8" name="Shape 6"/>
          <p:cNvSpPr/>
          <p:nvPr/>
        </p:nvSpPr>
        <p:spPr>
          <a:xfrm>
            <a:off x="4754880" y="777240"/>
            <a:ext cx="3931920" cy="25603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Shape 7"/>
          <p:cNvSpPr/>
          <p:nvPr/>
        </p:nvSpPr>
        <p:spPr>
          <a:xfrm>
            <a:off x="4754880" y="777240"/>
            <a:ext cx="3931920" cy="320040"/>
          </a:xfrm>
          <a:prstGeom prst="rect">
            <a:avLst/>
          </a:prstGeom>
          <a:solidFill>
            <a:srgbClr val="1B3A5C"/>
          </a:solidFill>
          <a:ln/>
        </p:spPr>
      </p:sp>
      <p:sp>
        <p:nvSpPr>
          <p:cNvPr id="10" name="Text 8"/>
          <p:cNvSpPr/>
          <p:nvPr/>
        </p:nvSpPr>
        <p:spPr>
          <a:xfrm>
            <a:off x="4846320" y="795528"/>
            <a:ext cx="365760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Dependencies &amp; Linkages</a:t>
            </a:r>
            <a:endParaRPr lang="en-US" sz="1100" dirty="0"/>
          </a:p>
        </p:txBody>
      </p:sp>
      <p:sp>
        <p:nvSpPr>
          <p:cNvPr id="11" name="Text 9"/>
          <p:cNvSpPr/>
          <p:nvPr/>
        </p:nvSpPr>
        <p:spPr>
          <a:xfrm>
            <a:off x="4937760" y="1234440"/>
            <a:ext cx="3566160" cy="1920240"/>
          </a:xfrm>
          <a:prstGeom prst="rect">
            <a:avLst/>
          </a:prstGeom>
          <a:noFill/>
          <a:ln/>
        </p:spPr>
        <p:txBody>
          <a:bodyPr wrap="square" lIns="0" tIns="0" rIns="0" bIns="0" rtlCol="0" anchor="t"/>
          <a:lstStyle/>
          <a:p>
            <a:pPr indent="0" marL="0">
              <a:buNone/>
            </a:pPr>
            <a:r>
              <a:rPr lang="en-US" sz="1000" b="1" dirty="0">
                <a:solidFill>
                  <a:srgbClr val="0E7C7B"/>
                </a:solidFill>
                <a:latin typeface="Calibri" pitchFamily="34" charset="0"/>
                <a:ea typeface="Calibri" pitchFamily="34" charset="-122"/>
                <a:cs typeface="Calibri" pitchFamily="34" charset="-120"/>
              </a:rPr>
              <a:t xml:space="preserve">Requires Phase 1: </a:t>
            </a:r>
            <a:pPr indent="0" marL="0">
              <a:spcAft>
                <a:spcPts val="1000"/>
              </a:spcAft>
              <a:buNone/>
            </a:pPr>
            <a:r>
              <a:rPr lang="en-US" sz="1000" dirty="0">
                <a:solidFill>
                  <a:srgbClr val="333333"/>
                </a:solidFill>
                <a:latin typeface="Calibri" pitchFamily="34" charset="0"/>
                <a:ea typeface="Calibri" pitchFamily="34" charset="-122"/>
                <a:cs typeface="Calibri" pitchFamily="34" charset="-120"/>
              </a:rPr>
              <a:t>Products built from Data Map assets</a:t>
            </a:r>
            <a:endParaRPr lang="en-US" sz="1000" dirty="0"/>
          </a:p>
          <a:p>
            <a:pPr indent="0" marL="0">
              <a:buNone/>
            </a:pPr>
            <a:r>
              <a:rPr lang="en-US" sz="1000" b="1" dirty="0">
                <a:solidFill>
                  <a:srgbClr val="0E7C7B"/>
                </a:solidFill>
                <a:latin typeface="Calibri" pitchFamily="34" charset="0"/>
                <a:ea typeface="Calibri" pitchFamily="34" charset="-122"/>
                <a:cs typeface="Calibri" pitchFamily="34" charset="-120"/>
              </a:rPr>
              <a:t xml:space="preserve">Requires Phase 3: </a:t>
            </a:r>
            <a:pPr indent="0" marL="0">
              <a:spcAft>
                <a:spcPts val="1000"/>
              </a:spcAft>
              <a:buNone/>
            </a:pPr>
            <a:r>
              <a:rPr lang="en-US" sz="1000" dirty="0">
                <a:solidFill>
                  <a:srgbClr val="333333"/>
                </a:solidFill>
                <a:latin typeface="Calibri" pitchFamily="34" charset="0"/>
                <a:ea typeface="Calibri" pitchFamily="34" charset="-122"/>
                <a:cs typeface="Calibri" pitchFamily="34" charset="-120"/>
              </a:rPr>
              <a:t>Glossary &amp; domains are prerequisites</a:t>
            </a:r>
            <a:endParaRPr lang="en-US" sz="1000" dirty="0"/>
          </a:p>
          <a:p>
            <a:pPr indent="0" marL="0">
              <a:buNone/>
            </a:pPr>
            <a:r>
              <a:rPr lang="en-US" sz="1000" b="1" dirty="0">
                <a:solidFill>
                  <a:srgbClr val="0E7C7B"/>
                </a:solidFill>
                <a:latin typeface="Calibri" pitchFamily="34" charset="0"/>
                <a:ea typeface="Calibri" pitchFamily="34" charset="-122"/>
                <a:cs typeface="Calibri" pitchFamily="34" charset="-120"/>
              </a:rPr>
              <a:t xml:space="preserve">Feeds Phase 5: </a:t>
            </a:r>
            <a:pPr indent="0" marL="0">
              <a:spcAft>
                <a:spcPts val="1000"/>
              </a:spcAft>
              <a:buNone/>
            </a:pPr>
            <a:r>
              <a:rPr lang="en-US" sz="1000" dirty="0">
                <a:solidFill>
                  <a:srgbClr val="333333"/>
                </a:solidFill>
                <a:latin typeface="Calibri" pitchFamily="34" charset="0"/>
                <a:ea typeface="Calibri" pitchFamily="34" charset="-122"/>
                <a:cs typeface="Calibri" pitchFamily="34" charset="-120"/>
              </a:rPr>
              <a:t>Quality scores inform DSPM risk posture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9FB"/>
        </a:solidFill>
      </p:bgPr>
    </p:bg>
    <p:spTree>
      <p:nvGrpSpPr>
        <p:cNvPr id="1" name=""/>
        <p:cNvGrpSpPr/>
        <p:nvPr/>
      </p:nvGrpSpPr>
      <p:grpSpPr>
        <a:xfrm>
          <a:off x="0" y="0"/>
          <a:ext cx="0" cy="0"/>
          <a:chOff x="0" y="0"/>
          <a:chExt cx="0" cy="0"/>
        </a:xfrm>
      </p:grpSpPr>
      <p:sp>
        <p:nvSpPr>
          <p:cNvPr id="2" name="Shape 0"/>
          <p:cNvSpPr/>
          <p:nvPr/>
        </p:nvSpPr>
        <p:spPr>
          <a:xfrm>
            <a:off x="0" y="0"/>
            <a:ext cx="1097280" cy="822960"/>
          </a:xfrm>
          <a:prstGeom prst="rect">
            <a:avLst/>
          </a:prstGeom>
          <a:solidFill>
            <a:srgbClr val="1B3A5C"/>
          </a:solidFill>
          <a:ln/>
        </p:spPr>
      </p:sp>
      <p:sp>
        <p:nvSpPr>
          <p:cNvPr id="3" name="Text 1"/>
          <p:cNvSpPr/>
          <p:nvPr/>
        </p:nvSpPr>
        <p:spPr>
          <a:xfrm>
            <a:off x="0" y="137160"/>
            <a:ext cx="1097280" cy="54864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Trebuchet MS" pitchFamily="34" charset="0"/>
                <a:ea typeface="Trebuchet MS" pitchFamily="34" charset="-122"/>
                <a:cs typeface="Trebuchet MS" pitchFamily="34" charset="-120"/>
              </a:rPr>
              <a:t>P H A S E  5</a:t>
            </a:r>
            <a:endParaRPr lang="en-US" sz="1400" dirty="0"/>
          </a:p>
        </p:txBody>
      </p:sp>
      <p:sp>
        <p:nvSpPr>
          <p:cNvPr id="4" name="Shape 2"/>
          <p:cNvSpPr/>
          <p:nvPr/>
        </p:nvSpPr>
        <p:spPr>
          <a:xfrm>
            <a:off x="1097280" y="0"/>
            <a:ext cx="8046720" cy="822960"/>
          </a:xfrm>
          <a:prstGeom prst="rect">
            <a:avLst/>
          </a:prstGeom>
          <a:solidFill>
            <a:srgbClr val="1B3A5C"/>
          </a:solidFill>
          <a:ln/>
        </p:spPr>
      </p:sp>
      <p:sp>
        <p:nvSpPr>
          <p:cNvPr id="5" name="Text 3"/>
          <p:cNvSpPr/>
          <p:nvPr/>
        </p:nvSpPr>
        <p:spPr>
          <a:xfrm>
            <a:off x="1280160" y="73152"/>
            <a:ext cx="6400800" cy="384048"/>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Data Security – DLP, Insider Risk &amp; DSPM</a:t>
            </a:r>
            <a:endParaRPr lang="en-US" sz="1800" dirty="0"/>
          </a:p>
        </p:txBody>
      </p:sp>
      <p:sp>
        <p:nvSpPr>
          <p:cNvPr id="6" name="Text 4"/>
          <p:cNvSpPr/>
          <p:nvPr/>
        </p:nvSpPr>
        <p:spPr>
          <a:xfrm>
            <a:off x="1280160" y="457200"/>
            <a:ext cx="4572000" cy="274320"/>
          </a:xfrm>
          <a:prstGeom prst="rect">
            <a:avLst/>
          </a:prstGeom>
          <a:noFill/>
          <a:ln/>
        </p:spPr>
        <p:txBody>
          <a:bodyPr wrap="square" lIns="0" tIns="0" rIns="0" bIns="0" rtlCol="0" anchor="ctr"/>
          <a:lstStyle/>
          <a:p>
            <a:pPr indent="0" marL="0">
              <a:buNone/>
            </a:pPr>
            <a:r>
              <a:rPr lang="en-US" sz="1000" i="1" dirty="0">
                <a:solidFill>
                  <a:srgbClr val="CCDDEE"/>
                </a:solidFill>
                <a:latin typeface="Calibri" pitchFamily="34" charset="0"/>
                <a:ea typeface="Calibri" pitchFamily="34" charset="-122"/>
                <a:cs typeface="Calibri" pitchFamily="34" charset="-120"/>
              </a:rPr>
              <a:t>"Enforce protection across the lifecycle"</a:t>
            </a:r>
            <a:endParaRPr lang="en-US" sz="1000" dirty="0"/>
          </a:p>
        </p:txBody>
      </p:sp>
      <p:sp>
        <p:nvSpPr>
          <p:cNvPr id="7" name="Text 5"/>
          <p:cNvSpPr/>
          <p:nvPr/>
        </p:nvSpPr>
        <p:spPr>
          <a:xfrm>
            <a:off x="6898080" y="228600"/>
            <a:ext cx="137160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Weeks 18–28</a:t>
            </a:r>
            <a:endParaRPr lang="en-US" sz="1100" dirty="0"/>
          </a:p>
        </p:txBody>
      </p:sp>
      <p:pic>
        <p:nvPicPr>
          <p:cNvPr id="8" name="Image 0" descr="preencoded.png"/>
          <p:cNvPicPr>
            <a:picLocks noChangeAspect="1"/>
          </p:cNvPicPr>
          <p:nvPr/>
        </p:nvPicPr>
        <p:blipFill>
          <a:blip r:embed="rId1"/>
          <a:stretch>
            <a:fillRect/>
          </a:stretch>
        </p:blipFill>
        <p:spPr>
          <a:xfrm>
            <a:off x="8412480" y="182880"/>
            <a:ext cx="365760" cy="365760"/>
          </a:xfrm>
          <a:prstGeom prst="rect">
            <a:avLst/>
          </a:prstGeom>
        </p:spPr>
      </p:pic>
      <p:sp>
        <p:nvSpPr>
          <p:cNvPr id="9" name="Text 6"/>
          <p:cNvSpPr/>
          <p:nvPr/>
        </p:nvSpPr>
        <p:spPr>
          <a:xfrm>
            <a:off x="457200" y="1005840"/>
            <a:ext cx="3657600" cy="320040"/>
          </a:xfrm>
          <a:prstGeom prst="rect">
            <a:avLst/>
          </a:prstGeom>
          <a:noFill/>
          <a:ln/>
        </p:spPr>
        <p:txBody>
          <a:bodyPr wrap="square" lIns="0" tIns="0" rIns="0" bIns="0" rtlCol="0" anchor="ctr"/>
          <a:lstStyle/>
          <a:p>
            <a:pPr indent="0" marL="0">
              <a:buNone/>
            </a:pPr>
            <a:r>
              <a:rPr lang="en-US" sz="1400" b="1" dirty="0">
                <a:solidFill>
                  <a:srgbClr val="1B3A5C"/>
                </a:solidFill>
                <a:latin typeface="Trebuchet MS" pitchFamily="34" charset="0"/>
                <a:ea typeface="Trebuchet MS" pitchFamily="34" charset="-122"/>
                <a:cs typeface="Trebuchet MS" pitchFamily="34" charset="-120"/>
              </a:rPr>
              <a:t>Key Activities</a:t>
            </a:r>
            <a:endParaRPr lang="en-US" sz="1400" dirty="0"/>
          </a:p>
        </p:txBody>
      </p:sp>
      <p:sp>
        <p:nvSpPr>
          <p:cNvPr id="10" name="Text 7"/>
          <p:cNvSpPr/>
          <p:nvPr/>
        </p:nvSpPr>
        <p:spPr>
          <a:xfrm>
            <a:off x="457200" y="1371600"/>
            <a:ext cx="8229600" cy="3474720"/>
          </a:xfrm>
          <a:prstGeom prst="rect">
            <a:avLst/>
          </a:prstGeom>
          <a:noFill/>
          <a:ln/>
        </p:spPr>
        <p:txBody>
          <a:bodyPr wrap="square" lIns="0" tIns="0" rIns="0" bIns="0" rtlCol="0" anchor="t"/>
          <a:lstStyle/>
          <a:p>
            <a:pPr indent="0" marL="0">
              <a:spcAft>
                <a:spcPts val="600"/>
              </a:spcAft>
              <a:buNone/>
            </a:pPr>
            <a:r>
              <a:rPr lang="en-US" sz="1000" dirty="0">
                <a:solidFill>
                  <a:srgbClr val="333333"/>
                </a:solidFill>
                <a:latin typeface="Calibri" pitchFamily="34" charset="0"/>
                <a:ea typeface="Calibri" pitchFamily="34" charset="-122"/>
                <a:cs typeface="Calibri" pitchFamily="34" charset="-120"/>
              </a:rPr>
              <a:t>1.  Deploy DLP policies using labels as conditions across M365</a:t>
            </a:r>
            <a:endParaRPr lang="en-US" sz="1000" dirty="0"/>
          </a:p>
          <a:p>
            <a:pPr indent="0" marL="0">
              <a:spcAft>
                <a:spcPts val="600"/>
              </a:spcAft>
              <a:buNone/>
            </a:pPr>
            <a:r>
              <a:rPr lang="en-US" sz="1000" dirty="0">
                <a:solidFill>
                  <a:srgbClr val="333333"/>
                </a:solidFill>
                <a:latin typeface="Calibri" pitchFamily="34" charset="0"/>
                <a:ea typeface="Calibri" pitchFamily="34" charset="-122"/>
                <a:cs typeface="Calibri" pitchFamily="34" charset="-120"/>
              </a:rPr>
              <a:t>2.  Extend DLP to endpoints and network (Shadow AI prevention)</a:t>
            </a:r>
            <a:endParaRPr lang="en-US" sz="1000" dirty="0"/>
          </a:p>
          <a:p>
            <a:pPr indent="0" marL="0">
              <a:spcAft>
                <a:spcPts val="600"/>
              </a:spcAft>
              <a:buNone/>
            </a:pPr>
            <a:r>
              <a:rPr lang="en-US" sz="1000" dirty="0">
                <a:solidFill>
                  <a:srgbClr val="333333"/>
                </a:solidFill>
                <a:latin typeface="Calibri" pitchFamily="34" charset="0"/>
                <a:ea typeface="Calibri" pitchFamily="34" charset="-122"/>
                <a:cs typeface="Calibri" pitchFamily="34" charset="-120"/>
              </a:rPr>
              <a:t>3.  Configure Insider Risk: data theft, leaks, Risky Agents for AI</a:t>
            </a:r>
            <a:endParaRPr lang="en-US" sz="1000" dirty="0"/>
          </a:p>
          <a:p>
            <a:pPr indent="0" marL="0">
              <a:spcAft>
                <a:spcPts val="600"/>
              </a:spcAft>
              <a:buNone/>
            </a:pPr>
            <a:r>
              <a:rPr lang="en-US" sz="1000" dirty="0">
                <a:solidFill>
                  <a:srgbClr val="333333"/>
                </a:solidFill>
                <a:latin typeface="Calibri" pitchFamily="34" charset="0"/>
                <a:ea typeface="Calibri" pitchFamily="34" charset="-122"/>
                <a:cs typeface="Calibri" pitchFamily="34" charset="-120"/>
              </a:rPr>
              <a:t>4.  Activate Adaptive Protection linking DLP to user risk scores</a:t>
            </a:r>
            <a:endParaRPr lang="en-US" sz="1000" dirty="0"/>
          </a:p>
          <a:p>
            <a:pPr indent="0" marL="0">
              <a:spcAft>
                <a:spcPts val="600"/>
              </a:spcAft>
              <a:buNone/>
            </a:pPr>
            <a:r>
              <a:rPr lang="en-US" sz="1000" dirty="0">
                <a:solidFill>
                  <a:srgbClr val="333333"/>
                </a:solidFill>
                <a:latin typeface="Calibri" pitchFamily="34" charset="0"/>
                <a:ea typeface="Calibri" pitchFamily="34" charset="-122"/>
                <a:cs typeface="Calibri" pitchFamily="34" charset="-120"/>
              </a:rPr>
              <a:t>5.  Set up DSPM consolidating DLP, Insider Risk &amp; Info Protection</a:t>
            </a:r>
            <a:endParaRPr lang="en-US" sz="1000" dirty="0"/>
          </a:p>
          <a:p>
            <a:pPr indent="0" marL="0">
              <a:spcAft>
                <a:spcPts val="600"/>
              </a:spcAft>
              <a:buNone/>
            </a:pPr>
            <a:r>
              <a:rPr lang="en-US" sz="1000" dirty="0">
                <a:solidFill>
                  <a:srgbClr val="333333"/>
                </a:solidFill>
                <a:latin typeface="Calibri" pitchFamily="34" charset="0"/>
                <a:ea typeface="Calibri" pitchFamily="34" charset="-122"/>
                <a:cs typeface="Calibri" pitchFamily="34" charset="-120"/>
              </a:rPr>
              <a:t>6.  Enable AI observability for Copilot &amp; third-party agents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9FB"/>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B3A5C"/>
          </a:solidFill>
          <a:ln/>
        </p:spPr>
      </p:sp>
      <p:sp>
        <p:nvSpPr>
          <p:cNvPr id="3" name="Text 1"/>
          <p:cNvSpPr/>
          <p:nvPr/>
        </p:nvSpPr>
        <p:spPr>
          <a:xfrm>
            <a:off x="548640" y="91440"/>
            <a:ext cx="7315200" cy="365760"/>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Phase 5 – Key Activities &amp; Dependencies</a:t>
            </a:r>
            <a:endParaRPr lang="en-US" sz="1600" dirty="0"/>
          </a:p>
        </p:txBody>
      </p:sp>
      <p:sp>
        <p:nvSpPr>
          <p:cNvPr id="4" name="Shape 2"/>
          <p:cNvSpPr/>
          <p:nvPr/>
        </p:nvSpPr>
        <p:spPr>
          <a:xfrm>
            <a:off x="457200" y="777240"/>
            <a:ext cx="3931920" cy="25603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457200" y="777240"/>
            <a:ext cx="3931920" cy="320040"/>
          </a:xfrm>
          <a:prstGeom prst="rect">
            <a:avLst/>
          </a:prstGeom>
          <a:solidFill>
            <a:srgbClr val="0E7C7B"/>
          </a:solidFill>
          <a:ln/>
        </p:spPr>
      </p:sp>
      <p:sp>
        <p:nvSpPr>
          <p:cNvPr id="6" name="Text 4"/>
          <p:cNvSpPr/>
          <p:nvPr/>
        </p:nvSpPr>
        <p:spPr>
          <a:xfrm>
            <a:off x="548640" y="795528"/>
            <a:ext cx="365760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Outputs &amp; Deliverables</a:t>
            </a:r>
            <a:endParaRPr lang="en-US" sz="1100" dirty="0"/>
          </a:p>
        </p:txBody>
      </p:sp>
      <p:sp>
        <p:nvSpPr>
          <p:cNvPr id="7" name="Text 5"/>
          <p:cNvSpPr/>
          <p:nvPr/>
        </p:nvSpPr>
        <p:spPr>
          <a:xfrm>
            <a:off x="640080" y="1234440"/>
            <a:ext cx="3566160" cy="1920240"/>
          </a:xfrm>
          <a:prstGeom prst="rect">
            <a:avLst/>
          </a:prstGeom>
          <a:noFill/>
          <a:ln/>
        </p:spPr>
        <p:txBody>
          <a:bodyPr wrap="square" lIns="0" tIns="0" rIns="0" bIns="0" rtlCol="0" anchor="t"/>
          <a:lstStyle/>
          <a:p>
            <a:pPr marL="342900" indent="-342900">
              <a:spcAft>
                <a:spcPts val="800"/>
              </a:spcAft>
              <a:buSzPct val="100000"/>
              <a:buChar char="•"/>
            </a:pPr>
            <a:r>
              <a:rPr lang="en-US" sz="1000" dirty="0">
                <a:solidFill>
                  <a:srgbClr val="333333"/>
                </a:solidFill>
                <a:latin typeface="Calibri" pitchFamily="34" charset="0"/>
                <a:ea typeface="Calibri" pitchFamily="34" charset="-122"/>
                <a:cs typeface="Calibri" pitchFamily="34" charset="-120"/>
              </a:rPr>
              <a:t>DLP enforcing across M365 and endpoints</a:t>
            </a:r>
            <a:endParaRPr lang="en-US" sz="1000" dirty="0"/>
          </a:p>
          <a:p>
            <a:pPr marL="342900" indent="-342900">
              <a:spcAft>
                <a:spcPts val="800"/>
              </a:spcAft>
              <a:buSzPct val="100000"/>
              <a:buChar char="•"/>
            </a:pPr>
            <a:r>
              <a:rPr lang="en-US" sz="1000" dirty="0">
                <a:solidFill>
                  <a:srgbClr val="333333"/>
                </a:solidFill>
                <a:latin typeface="Calibri" pitchFamily="34" charset="0"/>
                <a:ea typeface="Calibri" pitchFamily="34" charset="-122"/>
                <a:cs typeface="Calibri" pitchFamily="34" charset="-120"/>
              </a:rPr>
              <a:t>Insider Risk detecting anomalous behaviours</a:t>
            </a:r>
            <a:endParaRPr lang="en-US" sz="1000" dirty="0"/>
          </a:p>
          <a:p>
            <a:pPr marL="342900" indent="-342900">
              <a:spcAft>
                <a:spcPts val="800"/>
              </a:spcAft>
              <a:buSzPct val="100000"/>
              <a:buChar char="•"/>
            </a:pPr>
            <a:r>
              <a:rPr lang="en-US" sz="1000" dirty="0">
                <a:solidFill>
                  <a:srgbClr val="333333"/>
                </a:solidFill>
                <a:latin typeface="Calibri" pitchFamily="34" charset="0"/>
                <a:ea typeface="Calibri" pitchFamily="34" charset="-122"/>
                <a:cs typeface="Calibri" pitchFamily="34" charset="-120"/>
              </a:rPr>
              <a:t>DSPM dashboard with unified risk visibility</a:t>
            </a:r>
            <a:endParaRPr lang="en-US" sz="1000" dirty="0"/>
          </a:p>
          <a:p>
            <a:pPr marL="342900" indent="-342900">
              <a:spcAft>
                <a:spcPts val="800"/>
              </a:spcAft>
              <a:buSzPct val="100000"/>
              <a:buChar char="•"/>
            </a:pPr>
            <a:r>
              <a:rPr lang="en-US" sz="1000" dirty="0">
                <a:solidFill>
                  <a:srgbClr val="333333"/>
                </a:solidFill>
                <a:latin typeface="Calibri" pitchFamily="34" charset="0"/>
                <a:ea typeface="Calibri" pitchFamily="34" charset="-122"/>
                <a:cs typeface="Calibri" pitchFamily="34" charset="-120"/>
              </a:rPr>
              <a:t>AI observability monitoring Copilot</a:t>
            </a:r>
            <a:endParaRPr lang="en-US" sz="1000" dirty="0"/>
          </a:p>
        </p:txBody>
      </p:sp>
      <p:sp>
        <p:nvSpPr>
          <p:cNvPr id="8" name="Shape 6"/>
          <p:cNvSpPr/>
          <p:nvPr/>
        </p:nvSpPr>
        <p:spPr>
          <a:xfrm>
            <a:off x="4754880" y="777240"/>
            <a:ext cx="3931920" cy="25603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Shape 7"/>
          <p:cNvSpPr/>
          <p:nvPr/>
        </p:nvSpPr>
        <p:spPr>
          <a:xfrm>
            <a:off x="4754880" y="777240"/>
            <a:ext cx="3931920" cy="320040"/>
          </a:xfrm>
          <a:prstGeom prst="rect">
            <a:avLst/>
          </a:prstGeom>
          <a:solidFill>
            <a:srgbClr val="1B3A5C"/>
          </a:solidFill>
          <a:ln/>
        </p:spPr>
      </p:sp>
      <p:sp>
        <p:nvSpPr>
          <p:cNvPr id="10" name="Text 8"/>
          <p:cNvSpPr/>
          <p:nvPr/>
        </p:nvSpPr>
        <p:spPr>
          <a:xfrm>
            <a:off x="4846320" y="795528"/>
            <a:ext cx="365760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Dependencies &amp; Linkages</a:t>
            </a:r>
            <a:endParaRPr lang="en-US" sz="1100" dirty="0"/>
          </a:p>
        </p:txBody>
      </p:sp>
      <p:sp>
        <p:nvSpPr>
          <p:cNvPr id="11" name="Text 9"/>
          <p:cNvSpPr/>
          <p:nvPr/>
        </p:nvSpPr>
        <p:spPr>
          <a:xfrm>
            <a:off x="4937760" y="1234440"/>
            <a:ext cx="3566160" cy="1920240"/>
          </a:xfrm>
          <a:prstGeom prst="rect">
            <a:avLst/>
          </a:prstGeom>
          <a:noFill/>
          <a:ln/>
        </p:spPr>
        <p:txBody>
          <a:bodyPr wrap="square" lIns="0" tIns="0" rIns="0" bIns="0" rtlCol="0" anchor="t"/>
          <a:lstStyle/>
          <a:p>
            <a:pPr indent="0" marL="0">
              <a:buNone/>
            </a:pPr>
            <a:r>
              <a:rPr lang="en-US" sz="1000" b="1" dirty="0">
                <a:solidFill>
                  <a:srgbClr val="0E7C7B"/>
                </a:solidFill>
                <a:latin typeface="Calibri" pitchFamily="34" charset="0"/>
                <a:ea typeface="Calibri" pitchFamily="34" charset="-122"/>
                <a:cs typeface="Calibri" pitchFamily="34" charset="-120"/>
              </a:rPr>
              <a:t xml:space="preserve">Requires Phase 2: </a:t>
            </a:r>
            <a:pPr indent="0" marL="0">
              <a:spcAft>
                <a:spcPts val="1000"/>
              </a:spcAft>
              <a:buNone/>
            </a:pPr>
            <a:r>
              <a:rPr lang="en-US" sz="1000" dirty="0">
                <a:solidFill>
                  <a:srgbClr val="333333"/>
                </a:solidFill>
                <a:latin typeface="Calibri" pitchFamily="34" charset="0"/>
                <a:ea typeface="Calibri" pitchFamily="34" charset="-122"/>
                <a:cs typeface="Calibri" pitchFamily="34" charset="-120"/>
              </a:rPr>
              <a:t>DLP conditioned on sensitivity labels</a:t>
            </a:r>
            <a:endParaRPr lang="en-US" sz="1000" dirty="0"/>
          </a:p>
          <a:p>
            <a:pPr indent="0" marL="0">
              <a:buNone/>
            </a:pPr>
            <a:r>
              <a:rPr lang="en-US" sz="1000" b="1" dirty="0">
                <a:solidFill>
                  <a:srgbClr val="0E7C7B"/>
                </a:solidFill>
                <a:latin typeface="Calibri" pitchFamily="34" charset="0"/>
                <a:ea typeface="Calibri" pitchFamily="34" charset="-122"/>
                <a:cs typeface="Calibri" pitchFamily="34" charset="-120"/>
              </a:rPr>
              <a:t xml:space="preserve">Enriched by Phase 4: </a:t>
            </a:r>
            <a:pPr indent="0" marL="0">
              <a:spcAft>
                <a:spcPts val="1000"/>
              </a:spcAft>
              <a:buNone/>
            </a:pPr>
            <a:r>
              <a:rPr lang="en-US" sz="1000" dirty="0">
                <a:solidFill>
                  <a:srgbClr val="333333"/>
                </a:solidFill>
                <a:latin typeface="Calibri" pitchFamily="34" charset="0"/>
                <a:ea typeface="Calibri" pitchFamily="34" charset="-122"/>
                <a:cs typeface="Calibri" pitchFamily="34" charset="-120"/>
              </a:rPr>
              <a:t>Quality &amp; access patterns signal risk</a:t>
            </a:r>
            <a:endParaRPr lang="en-US" sz="1000" dirty="0"/>
          </a:p>
          <a:p>
            <a:pPr indent="0" marL="0">
              <a:buNone/>
            </a:pPr>
            <a:r>
              <a:rPr lang="en-US" sz="1000" b="1" dirty="0">
                <a:solidFill>
                  <a:srgbClr val="0E7C7B"/>
                </a:solidFill>
                <a:latin typeface="Calibri" pitchFamily="34" charset="0"/>
                <a:ea typeface="Calibri" pitchFamily="34" charset="-122"/>
                <a:cs typeface="Calibri" pitchFamily="34" charset="-120"/>
              </a:rPr>
              <a:t xml:space="preserve">Feeds Phase 6: </a:t>
            </a:r>
            <a:pPr indent="0" marL="0">
              <a:spcAft>
                <a:spcPts val="1000"/>
              </a:spcAft>
              <a:buNone/>
            </a:pPr>
            <a:r>
              <a:rPr lang="en-US" sz="1000" dirty="0">
                <a:solidFill>
                  <a:srgbClr val="333333"/>
                </a:solidFill>
                <a:latin typeface="Calibri" pitchFamily="34" charset="0"/>
                <a:ea typeface="Calibri" pitchFamily="34" charset="-122"/>
                <a:cs typeface="Calibri" pitchFamily="34" charset="-120"/>
              </a:rPr>
              <a:t>DLP incidents feed Compliance Manager</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9FB"/>
        </a:solidFill>
      </p:bgPr>
    </p:bg>
    <p:spTree>
      <p:nvGrpSpPr>
        <p:cNvPr id="1" name=""/>
        <p:cNvGrpSpPr/>
        <p:nvPr/>
      </p:nvGrpSpPr>
      <p:grpSpPr>
        <a:xfrm>
          <a:off x="0" y="0"/>
          <a:ext cx="0" cy="0"/>
          <a:chOff x="0" y="0"/>
          <a:chExt cx="0" cy="0"/>
        </a:xfrm>
      </p:grpSpPr>
      <p:sp>
        <p:nvSpPr>
          <p:cNvPr id="2" name="Shape 0"/>
          <p:cNvSpPr/>
          <p:nvPr/>
        </p:nvSpPr>
        <p:spPr>
          <a:xfrm>
            <a:off x="0" y="0"/>
            <a:ext cx="1097280" cy="822960"/>
          </a:xfrm>
          <a:prstGeom prst="rect">
            <a:avLst/>
          </a:prstGeom>
          <a:solidFill>
            <a:srgbClr val="1B3A5C"/>
          </a:solidFill>
          <a:ln/>
        </p:spPr>
      </p:sp>
      <p:sp>
        <p:nvSpPr>
          <p:cNvPr id="3" name="Text 1"/>
          <p:cNvSpPr/>
          <p:nvPr/>
        </p:nvSpPr>
        <p:spPr>
          <a:xfrm>
            <a:off x="0" y="137160"/>
            <a:ext cx="1097280" cy="54864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Trebuchet MS" pitchFamily="34" charset="0"/>
                <a:ea typeface="Trebuchet MS" pitchFamily="34" charset="-122"/>
                <a:cs typeface="Trebuchet MS" pitchFamily="34" charset="-120"/>
              </a:rPr>
              <a:t>P H A S E  6</a:t>
            </a:r>
            <a:endParaRPr lang="en-US" sz="1400" dirty="0"/>
          </a:p>
        </p:txBody>
      </p:sp>
      <p:sp>
        <p:nvSpPr>
          <p:cNvPr id="4" name="Shape 2"/>
          <p:cNvSpPr/>
          <p:nvPr/>
        </p:nvSpPr>
        <p:spPr>
          <a:xfrm>
            <a:off x="1097280" y="0"/>
            <a:ext cx="8046720" cy="822960"/>
          </a:xfrm>
          <a:prstGeom prst="rect">
            <a:avLst/>
          </a:prstGeom>
          <a:solidFill>
            <a:srgbClr val="0A6665"/>
          </a:solidFill>
          <a:ln/>
        </p:spPr>
      </p:sp>
      <p:sp>
        <p:nvSpPr>
          <p:cNvPr id="5" name="Text 3"/>
          <p:cNvSpPr/>
          <p:nvPr/>
        </p:nvSpPr>
        <p:spPr>
          <a:xfrm>
            <a:off x="1280160" y="73152"/>
            <a:ext cx="6400800" cy="384048"/>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Compliance, Lifecycle &amp; Continuous Improvement</a:t>
            </a:r>
            <a:endParaRPr lang="en-US" sz="1800" dirty="0"/>
          </a:p>
        </p:txBody>
      </p:sp>
      <p:sp>
        <p:nvSpPr>
          <p:cNvPr id="6" name="Text 4"/>
          <p:cNvSpPr/>
          <p:nvPr/>
        </p:nvSpPr>
        <p:spPr>
          <a:xfrm>
            <a:off x="1280160" y="457200"/>
            <a:ext cx="4572000" cy="274320"/>
          </a:xfrm>
          <a:prstGeom prst="rect">
            <a:avLst/>
          </a:prstGeom>
          <a:noFill/>
          <a:ln/>
        </p:spPr>
        <p:txBody>
          <a:bodyPr wrap="square" lIns="0" tIns="0" rIns="0" bIns="0" rtlCol="0" anchor="ctr"/>
          <a:lstStyle/>
          <a:p>
            <a:pPr indent="0" marL="0">
              <a:buNone/>
            </a:pPr>
            <a:r>
              <a:rPr lang="en-US" sz="1000" i="1" dirty="0">
                <a:solidFill>
                  <a:srgbClr val="CCDDEE"/>
                </a:solidFill>
                <a:latin typeface="Calibri" pitchFamily="34" charset="0"/>
                <a:ea typeface="Calibri" pitchFamily="34" charset="-122"/>
                <a:cs typeface="Calibri" pitchFamily="34" charset="-120"/>
              </a:rPr>
              <a:t>"Close the loop and sustain maturity"</a:t>
            </a:r>
            <a:endParaRPr lang="en-US" sz="1000" dirty="0"/>
          </a:p>
        </p:txBody>
      </p:sp>
      <p:sp>
        <p:nvSpPr>
          <p:cNvPr id="7" name="Text 5"/>
          <p:cNvSpPr/>
          <p:nvPr/>
        </p:nvSpPr>
        <p:spPr>
          <a:xfrm>
            <a:off x="6898080" y="228600"/>
            <a:ext cx="137160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Weeks 24–36+</a:t>
            </a:r>
            <a:endParaRPr lang="en-US" sz="1100" dirty="0"/>
          </a:p>
        </p:txBody>
      </p:sp>
      <p:pic>
        <p:nvPicPr>
          <p:cNvPr id="8" name="Image 0" descr="preencoded.png"/>
          <p:cNvPicPr>
            <a:picLocks noChangeAspect="1"/>
          </p:cNvPicPr>
          <p:nvPr/>
        </p:nvPicPr>
        <p:blipFill>
          <a:blip r:embed="rId1"/>
          <a:stretch>
            <a:fillRect/>
          </a:stretch>
        </p:blipFill>
        <p:spPr>
          <a:xfrm>
            <a:off x="8412480" y="182880"/>
            <a:ext cx="365760" cy="365760"/>
          </a:xfrm>
          <a:prstGeom prst="rect">
            <a:avLst/>
          </a:prstGeom>
        </p:spPr>
      </p:pic>
      <p:sp>
        <p:nvSpPr>
          <p:cNvPr id="9" name="Text 6"/>
          <p:cNvSpPr/>
          <p:nvPr/>
        </p:nvSpPr>
        <p:spPr>
          <a:xfrm>
            <a:off x="457200" y="1005840"/>
            <a:ext cx="3657600" cy="320040"/>
          </a:xfrm>
          <a:prstGeom prst="rect">
            <a:avLst/>
          </a:prstGeom>
          <a:noFill/>
          <a:ln/>
        </p:spPr>
        <p:txBody>
          <a:bodyPr wrap="square" lIns="0" tIns="0" rIns="0" bIns="0" rtlCol="0" anchor="ctr"/>
          <a:lstStyle/>
          <a:p>
            <a:pPr indent="0" marL="0">
              <a:buNone/>
            </a:pPr>
            <a:r>
              <a:rPr lang="en-US" sz="1400" b="1" dirty="0">
                <a:solidFill>
                  <a:srgbClr val="1B3A5C"/>
                </a:solidFill>
                <a:latin typeface="Trebuchet MS" pitchFamily="34" charset="0"/>
                <a:ea typeface="Trebuchet MS" pitchFamily="34" charset="-122"/>
                <a:cs typeface="Trebuchet MS" pitchFamily="34" charset="-120"/>
              </a:rPr>
              <a:t>Key Activities</a:t>
            </a:r>
            <a:endParaRPr lang="en-US" sz="1400" dirty="0"/>
          </a:p>
        </p:txBody>
      </p:sp>
      <p:sp>
        <p:nvSpPr>
          <p:cNvPr id="10" name="Text 7"/>
          <p:cNvSpPr/>
          <p:nvPr/>
        </p:nvSpPr>
        <p:spPr>
          <a:xfrm>
            <a:off x="457200" y="1371600"/>
            <a:ext cx="8229600" cy="3474720"/>
          </a:xfrm>
          <a:prstGeom prst="rect">
            <a:avLst/>
          </a:prstGeom>
          <a:noFill/>
          <a:ln/>
        </p:spPr>
        <p:txBody>
          <a:bodyPr wrap="square" lIns="0" tIns="0" rIns="0" bIns="0" rtlCol="0" anchor="t"/>
          <a:lstStyle/>
          <a:p>
            <a:pPr indent="0" marL="0">
              <a:spcAft>
                <a:spcPts val="600"/>
              </a:spcAft>
              <a:buNone/>
            </a:pPr>
            <a:r>
              <a:rPr lang="en-US" sz="1000" dirty="0">
                <a:solidFill>
                  <a:srgbClr val="333333"/>
                </a:solidFill>
                <a:latin typeface="Calibri" pitchFamily="34" charset="0"/>
                <a:ea typeface="Calibri" pitchFamily="34" charset="-122"/>
                <a:cs typeface="Calibri" pitchFamily="34" charset="-120"/>
              </a:rPr>
              <a:t>1.  Configure Compliance Manager with GDPR, HIPAA, ISO 27001, SOX</a:t>
            </a:r>
            <a:endParaRPr lang="en-US" sz="1000" dirty="0"/>
          </a:p>
          <a:p>
            <a:pPr indent="0" marL="0">
              <a:spcAft>
                <a:spcPts val="600"/>
              </a:spcAft>
              <a:buNone/>
            </a:pPr>
            <a:r>
              <a:rPr lang="en-US" sz="1000" dirty="0">
                <a:solidFill>
                  <a:srgbClr val="333333"/>
                </a:solidFill>
                <a:latin typeface="Calibri" pitchFamily="34" charset="0"/>
                <a:ea typeface="Calibri" pitchFamily="34" charset="-122"/>
                <a:cs typeface="Calibri" pitchFamily="34" charset="-120"/>
              </a:rPr>
              <a:t>2.  Deploy retention policies using labels; configure disposition workflows</a:t>
            </a:r>
            <a:endParaRPr lang="en-US" sz="1000" dirty="0"/>
          </a:p>
          <a:p>
            <a:pPr indent="0" marL="0">
              <a:spcAft>
                <a:spcPts val="600"/>
              </a:spcAft>
              <a:buNone/>
            </a:pPr>
            <a:r>
              <a:rPr lang="en-US" sz="1000" dirty="0">
                <a:solidFill>
                  <a:srgbClr val="333333"/>
                </a:solidFill>
                <a:latin typeface="Calibri" pitchFamily="34" charset="0"/>
                <a:ea typeface="Calibri" pitchFamily="34" charset="-122"/>
                <a:cs typeface="Calibri" pitchFamily="34" charset="-120"/>
              </a:rPr>
              <a:t>3.  Establish records management file plan with regulatory locks</a:t>
            </a:r>
            <a:endParaRPr lang="en-US" sz="1000" dirty="0"/>
          </a:p>
          <a:p>
            <a:pPr indent="0" marL="0">
              <a:spcAft>
                <a:spcPts val="600"/>
              </a:spcAft>
              <a:buNone/>
            </a:pPr>
            <a:r>
              <a:rPr lang="en-US" sz="1000" dirty="0">
                <a:solidFill>
                  <a:srgbClr val="333333"/>
                </a:solidFill>
                <a:latin typeface="Calibri" pitchFamily="34" charset="0"/>
                <a:ea typeface="Calibri" pitchFamily="34" charset="-122"/>
                <a:cs typeface="Calibri" pitchFamily="34" charset="-120"/>
              </a:rPr>
              <a:t>4.  Activate Unified Catalog health controls; assign ownership</a:t>
            </a:r>
            <a:endParaRPr lang="en-US" sz="1000" dirty="0"/>
          </a:p>
          <a:p>
            <a:pPr indent="0" marL="0">
              <a:spcAft>
                <a:spcPts val="600"/>
              </a:spcAft>
              <a:buNone/>
            </a:pPr>
            <a:r>
              <a:rPr lang="en-US" sz="1000" dirty="0">
                <a:solidFill>
                  <a:srgbClr val="333333"/>
                </a:solidFill>
                <a:latin typeface="Calibri" pitchFamily="34" charset="0"/>
                <a:ea typeface="Calibri" pitchFamily="34" charset="-122"/>
                <a:cs typeface="Calibri" pitchFamily="34" charset="-120"/>
              </a:rPr>
              <a:t>5.  Deploy automated governance workflows for product publication</a:t>
            </a:r>
            <a:endParaRPr lang="en-US" sz="1000" dirty="0"/>
          </a:p>
          <a:p>
            <a:pPr indent="0" marL="0">
              <a:spcAft>
                <a:spcPts val="600"/>
              </a:spcAft>
              <a:buNone/>
            </a:pPr>
            <a:r>
              <a:rPr lang="en-US" sz="1000" dirty="0">
                <a:solidFill>
                  <a:srgbClr val="333333"/>
                </a:solidFill>
                <a:latin typeface="Calibri" pitchFamily="34" charset="0"/>
                <a:ea typeface="Calibri" pitchFamily="34" charset="-122"/>
                <a:cs typeface="Calibri" pitchFamily="34" charset="-120"/>
              </a:rPr>
              <a:t>6.  Export Purview Analytics to OneLake for Fabric analysis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9FB"/>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A6665"/>
          </a:solidFill>
          <a:ln/>
        </p:spPr>
      </p:sp>
      <p:sp>
        <p:nvSpPr>
          <p:cNvPr id="3" name="Text 1"/>
          <p:cNvSpPr/>
          <p:nvPr/>
        </p:nvSpPr>
        <p:spPr>
          <a:xfrm>
            <a:off x="548640" y="91440"/>
            <a:ext cx="7315200" cy="365760"/>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Phase 6 – Key Activities &amp; Dependencies</a:t>
            </a:r>
            <a:endParaRPr lang="en-US" sz="1600" dirty="0"/>
          </a:p>
        </p:txBody>
      </p:sp>
      <p:sp>
        <p:nvSpPr>
          <p:cNvPr id="4" name="Shape 2"/>
          <p:cNvSpPr/>
          <p:nvPr/>
        </p:nvSpPr>
        <p:spPr>
          <a:xfrm>
            <a:off x="457200" y="777240"/>
            <a:ext cx="3931920" cy="25603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457200" y="777240"/>
            <a:ext cx="3931920" cy="320040"/>
          </a:xfrm>
          <a:prstGeom prst="rect">
            <a:avLst/>
          </a:prstGeom>
          <a:solidFill>
            <a:srgbClr val="0E7C7B"/>
          </a:solidFill>
          <a:ln/>
        </p:spPr>
      </p:sp>
      <p:sp>
        <p:nvSpPr>
          <p:cNvPr id="6" name="Text 4"/>
          <p:cNvSpPr/>
          <p:nvPr/>
        </p:nvSpPr>
        <p:spPr>
          <a:xfrm>
            <a:off x="548640" y="795528"/>
            <a:ext cx="365760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Outputs &amp; Deliverables</a:t>
            </a:r>
            <a:endParaRPr lang="en-US" sz="1100" dirty="0"/>
          </a:p>
        </p:txBody>
      </p:sp>
      <p:sp>
        <p:nvSpPr>
          <p:cNvPr id="7" name="Text 5"/>
          <p:cNvSpPr/>
          <p:nvPr/>
        </p:nvSpPr>
        <p:spPr>
          <a:xfrm>
            <a:off x="640080" y="1234440"/>
            <a:ext cx="3566160" cy="1920240"/>
          </a:xfrm>
          <a:prstGeom prst="rect">
            <a:avLst/>
          </a:prstGeom>
          <a:noFill/>
          <a:ln/>
        </p:spPr>
        <p:txBody>
          <a:bodyPr wrap="square" lIns="0" tIns="0" rIns="0" bIns="0" rtlCol="0" anchor="t"/>
          <a:lstStyle/>
          <a:p>
            <a:pPr marL="342900" indent="-342900">
              <a:spcAft>
                <a:spcPts val="800"/>
              </a:spcAft>
              <a:buSzPct val="100000"/>
              <a:buChar char="•"/>
            </a:pPr>
            <a:r>
              <a:rPr lang="en-US" sz="1000" dirty="0">
                <a:solidFill>
                  <a:srgbClr val="333333"/>
                </a:solidFill>
                <a:latin typeface="Calibri" pitchFamily="34" charset="0"/>
                <a:ea typeface="Calibri" pitchFamily="34" charset="-122"/>
                <a:cs typeface="Calibri" pitchFamily="34" charset="-120"/>
              </a:rPr>
              <a:t>Compliance score baselined against frameworks</a:t>
            </a:r>
            <a:endParaRPr lang="en-US" sz="1000" dirty="0"/>
          </a:p>
          <a:p>
            <a:pPr marL="342900" indent="-342900">
              <a:spcAft>
                <a:spcPts val="800"/>
              </a:spcAft>
              <a:buSzPct val="100000"/>
              <a:buChar char="•"/>
            </a:pPr>
            <a:r>
              <a:rPr lang="en-US" sz="1000" dirty="0">
                <a:solidFill>
                  <a:srgbClr val="333333"/>
                </a:solidFill>
                <a:latin typeface="Calibri" pitchFamily="34" charset="0"/>
                <a:ea typeface="Calibri" pitchFamily="34" charset="-122"/>
                <a:cs typeface="Calibri" pitchFamily="34" charset="-120"/>
              </a:rPr>
              <a:t>Retention &amp; disposition automated</a:t>
            </a:r>
            <a:endParaRPr lang="en-US" sz="1000" dirty="0"/>
          </a:p>
          <a:p>
            <a:pPr marL="342900" indent="-342900">
              <a:spcAft>
                <a:spcPts val="800"/>
              </a:spcAft>
              <a:buSzPct val="100000"/>
              <a:buChar char="•"/>
            </a:pPr>
            <a:r>
              <a:rPr lang="en-US" sz="1000" dirty="0">
                <a:solidFill>
                  <a:srgbClr val="333333"/>
                </a:solidFill>
                <a:latin typeface="Calibri" pitchFamily="34" charset="0"/>
                <a:ea typeface="Calibri" pitchFamily="34" charset="-122"/>
                <a:cs typeface="Calibri" pitchFamily="34" charset="-120"/>
              </a:rPr>
              <a:t>Health controls tracking maturity</a:t>
            </a:r>
            <a:endParaRPr lang="en-US" sz="1000" dirty="0"/>
          </a:p>
          <a:p>
            <a:pPr marL="342900" indent="-342900">
              <a:spcAft>
                <a:spcPts val="800"/>
              </a:spcAft>
              <a:buSzPct val="100000"/>
              <a:buChar char="•"/>
            </a:pPr>
            <a:r>
              <a:rPr lang="en-US" sz="1000" dirty="0">
                <a:solidFill>
                  <a:srgbClr val="333333"/>
                </a:solidFill>
                <a:latin typeface="Calibri" pitchFamily="34" charset="0"/>
                <a:ea typeface="Calibri" pitchFamily="34" charset="-122"/>
                <a:cs typeface="Calibri" pitchFamily="34" charset="-120"/>
              </a:rPr>
              <a:t>Automated workflows replacing manual approvals</a:t>
            </a:r>
            <a:endParaRPr lang="en-US" sz="1000" dirty="0"/>
          </a:p>
        </p:txBody>
      </p:sp>
      <p:sp>
        <p:nvSpPr>
          <p:cNvPr id="8" name="Shape 6"/>
          <p:cNvSpPr/>
          <p:nvPr/>
        </p:nvSpPr>
        <p:spPr>
          <a:xfrm>
            <a:off x="4754880" y="777240"/>
            <a:ext cx="3931920" cy="25603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Shape 7"/>
          <p:cNvSpPr/>
          <p:nvPr/>
        </p:nvSpPr>
        <p:spPr>
          <a:xfrm>
            <a:off x="4754880" y="777240"/>
            <a:ext cx="3931920" cy="320040"/>
          </a:xfrm>
          <a:prstGeom prst="rect">
            <a:avLst/>
          </a:prstGeom>
          <a:solidFill>
            <a:srgbClr val="1B3A5C"/>
          </a:solidFill>
          <a:ln/>
        </p:spPr>
      </p:sp>
      <p:sp>
        <p:nvSpPr>
          <p:cNvPr id="10" name="Text 8"/>
          <p:cNvSpPr/>
          <p:nvPr/>
        </p:nvSpPr>
        <p:spPr>
          <a:xfrm>
            <a:off x="4846320" y="795528"/>
            <a:ext cx="365760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Dependencies &amp; Linkages</a:t>
            </a:r>
            <a:endParaRPr lang="en-US" sz="1100" dirty="0"/>
          </a:p>
        </p:txBody>
      </p:sp>
      <p:sp>
        <p:nvSpPr>
          <p:cNvPr id="11" name="Text 9"/>
          <p:cNvSpPr/>
          <p:nvPr/>
        </p:nvSpPr>
        <p:spPr>
          <a:xfrm>
            <a:off x="4937760" y="1234440"/>
            <a:ext cx="3566160" cy="1920240"/>
          </a:xfrm>
          <a:prstGeom prst="rect">
            <a:avLst/>
          </a:prstGeom>
          <a:noFill/>
          <a:ln/>
        </p:spPr>
        <p:txBody>
          <a:bodyPr wrap="square" lIns="0" tIns="0" rIns="0" bIns="0" rtlCol="0" anchor="t"/>
          <a:lstStyle/>
          <a:p>
            <a:pPr indent="0" marL="0">
              <a:buNone/>
            </a:pPr>
            <a:r>
              <a:rPr lang="en-US" sz="1000" b="1" dirty="0">
                <a:solidFill>
                  <a:srgbClr val="0E7C7B"/>
                </a:solidFill>
                <a:latin typeface="Calibri" pitchFamily="34" charset="0"/>
                <a:ea typeface="Calibri" pitchFamily="34" charset="-122"/>
                <a:cs typeface="Calibri" pitchFamily="34" charset="-120"/>
              </a:rPr>
              <a:t xml:space="preserve">Requires all phases: </a:t>
            </a:r>
            <a:pPr indent="0" marL="0">
              <a:spcAft>
                <a:spcPts val="1000"/>
              </a:spcAft>
              <a:buNone/>
            </a:pPr>
            <a:r>
              <a:rPr lang="en-US" sz="1000" dirty="0">
                <a:solidFill>
                  <a:srgbClr val="333333"/>
                </a:solidFill>
                <a:latin typeface="Calibri" pitchFamily="34" charset="0"/>
                <a:ea typeface="Calibri" pitchFamily="34" charset="-122"/>
                <a:cs typeface="Calibri" pitchFamily="34" charset="-120"/>
              </a:rPr>
              <a:t>Full stack needed for compliance</a:t>
            </a:r>
            <a:endParaRPr lang="en-US" sz="1000" dirty="0"/>
          </a:p>
          <a:p>
            <a:pPr indent="0" marL="0">
              <a:buNone/>
            </a:pPr>
            <a:r>
              <a:rPr lang="en-US" sz="1000" b="1" dirty="0">
                <a:solidFill>
                  <a:srgbClr val="0E7C7B"/>
                </a:solidFill>
                <a:latin typeface="Calibri" pitchFamily="34" charset="0"/>
                <a:ea typeface="Calibri" pitchFamily="34" charset="-122"/>
                <a:cs typeface="Calibri" pitchFamily="34" charset="-120"/>
              </a:rPr>
              <a:t xml:space="preserve">Continuous: </a:t>
            </a:r>
            <a:pPr indent="0" marL="0">
              <a:spcAft>
                <a:spcPts val="1000"/>
              </a:spcAft>
              <a:buNone/>
            </a:pPr>
            <a:r>
              <a:rPr lang="en-US" sz="1000" dirty="0">
                <a:solidFill>
                  <a:srgbClr val="333333"/>
                </a:solidFill>
                <a:latin typeface="Calibri" pitchFamily="34" charset="0"/>
                <a:ea typeface="Calibri" pitchFamily="34" charset="-122"/>
                <a:cs typeface="Calibri" pitchFamily="34" charset="-120"/>
              </a:rPr>
              <a:t>Health scoring drives improvement</a:t>
            </a:r>
            <a:endParaRPr lang="en-US" sz="1000" dirty="0"/>
          </a:p>
          <a:p>
            <a:pPr indent="0" marL="0">
              <a:buNone/>
            </a:pPr>
            <a:r>
              <a:rPr lang="en-US" sz="1000" b="1" dirty="0">
                <a:solidFill>
                  <a:srgbClr val="0E7C7B"/>
                </a:solidFill>
                <a:latin typeface="Calibri" pitchFamily="34" charset="0"/>
                <a:ea typeface="Calibri" pitchFamily="34" charset="-122"/>
                <a:cs typeface="Calibri" pitchFamily="34" charset="-120"/>
              </a:rPr>
              <a:t xml:space="preserve">Ongoing: </a:t>
            </a:r>
            <a:pPr indent="0" marL="0">
              <a:spcAft>
                <a:spcPts val="1000"/>
              </a:spcAft>
              <a:buNone/>
            </a:pPr>
            <a:r>
              <a:rPr lang="en-US" sz="1000" dirty="0">
                <a:solidFill>
                  <a:srgbClr val="333333"/>
                </a:solidFill>
                <a:latin typeface="Calibri" pitchFamily="34" charset="0"/>
                <a:ea typeface="Calibri" pitchFamily="34" charset="-122"/>
                <a:cs typeface="Calibri" pitchFamily="34" charset="-120"/>
              </a:rPr>
              <a:t>Quarterly reviews as Purview evolves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9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5C"/>
          </a:solidFill>
          <a:ln/>
        </p:spPr>
      </p:sp>
      <p:sp>
        <p:nvSpPr>
          <p:cNvPr id="3" name="Text 1"/>
          <p:cNvSpPr/>
          <p:nvPr/>
        </p:nvSpPr>
        <p:spPr>
          <a:xfrm>
            <a:off x="548640" y="137160"/>
            <a:ext cx="7315200" cy="54864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Enterprise Glossary – Connection Map</a:t>
            </a:r>
            <a:endParaRPr lang="en-US" sz="2400" dirty="0"/>
          </a:p>
        </p:txBody>
      </p:sp>
      <p:sp>
        <p:nvSpPr>
          <p:cNvPr id="4" name="Shape 2"/>
          <p:cNvSpPr/>
          <p:nvPr/>
        </p:nvSpPr>
        <p:spPr>
          <a:xfrm>
            <a:off x="3200400" y="2011680"/>
            <a:ext cx="2743200" cy="1097280"/>
          </a:xfrm>
          <a:prstGeom prst="rect">
            <a:avLst/>
          </a:prstGeom>
          <a:solidFill>
            <a:srgbClr val="1B3A5C"/>
          </a:solidFill>
          <a:ln/>
          <a:effectLst>
            <a:outerShdw sx="100000" sy="100000" kx="0" ky="0" algn="bl" rotWithShape="0" blurRad="76200" dist="25400" dir="8100000">
              <a:srgbClr val="000000">
                <a:alpha val="12000"/>
              </a:srgbClr>
            </a:outerShdw>
          </a:effectLst>
        </p:spPr>
      </p:sp>
      <p:sp>
        <p:nvSpPr>
          <p:cNvPr id="5" name="Text 3"/>
          <p:cNvSpPr/>
          <p:nvPr/>
        </p:nvSpPr>
        <p:spPr>
          <a:xfrm>
            <a:off x="3200400" y="2148840"/>
            <a:ext cx="274320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Enterprise Glossary</a:t>
            </a:r>
            <a:endParaRPr lang="en-US" sz="1600" dirty="0"/>
          </a:p>
        </p:txBody>
      </p:sp>
      <p:sp>
        <p:nvSpPr>
          <p:cNvPr id="6" name="Text 4"/>
          <p:cNvSpPr/>
          <p:nvPr/>
        </p:nvSpPr>
        <p:spPr>
          <a:xfrm>
            <a:off x="3200400" y="2514600"/>
            <a:ext cx="2743200" cy="274320"/>
          </a:xfrm>
          <a:prstGeom prst="rect">
            <a:avLst/>
          </a:prstGeom>
          <a:noFill/>
          <a:ln/>
        </p:spPr>
        <p:txBody>
          <a:bodyPr wrap="square" lIns="0" tIns="0" rIns="0" bIns="0"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Active terms with policies</a:t>
            </a:r>
            <a:endParaRPr lang="en-US" sz="900" dirty="0"/>
          </a:p>
        </p:txBody>
      </p:sp>
      <p:sp>
        <p:nvSpPr>
          <p:cNvPr id="7" name="Text 5"/>
          <p:cNvSpPr/>
          <p:nvPr/>
        </p:nvSpPr>
        <p:spPr>
          <a:xfrm>
            <a:off x="3200400" y="2743200"/>
            <a:ext cx="2743200" cy="228600"/>
          </a:xfrm>
          <a:prstGeom prst="rect">
            <a:avLst/>
          </a:prstGeom>
          <a:noFill/>
          <a:ln/>
        </p:spPr>
        <p:txBody>
          <a:bodyPr wrap="square" lIns="0" tIns="0" rIns="0" bIns="0" rtlCol="0" anchor="ctr"/>
          <a:lstStyle/>
          <a:p>
            <a:pPr algn="ctr" indent="0" marL="0">
              <a:buNone/>
            </a:pPr>
            <a:r>
              <a:rPr lang="en-US" sz="900" b="1" dirty="0">
                <a:solidFill>
                  <a:srgbClr val="0E7C7B"/>
                </a:solidFill>
                <a:latin typeface="Calibri" pitchFamily="34" charset="0"/>
                <a:ea typeface="Calibri" pitchFamily="34" charset="-122"/>
                <a:cs typeface="Calibri" pitchFamily="34" charset="-120"/>
              </a:rPr>
              <a:t>Phase 3</a:t>
            </a:r>
            <a:endParaRPr lang="en-US" sz="900" dirty="0"/>
          </a:p>
        </p:txBody>
      </p:sp>
      <p:sp>
        <p:nvSpPr>
          <p:cNvPr id="8" name="Shape 6"/>
          <p:cNvSpPr/>
          <p:nvPr/>
        </p:nvSpPr>
        <p:spPr>
          <a:xfrm>
            <a:off x="274320" y="1051560"/>
            <a:ext cx="2011680" cy="640080"/>
          </a:xfrm>
          <a:prstGeom prst="rect">
            <a:avLst/>
          </a:prstGeom>
          <a:solidFill>
            <a:srgbClr val="0E7C7B"/>
          </a:solidFill>
          <a:ln/>
          <a:effectLst>
            <a:outerShdw sx="100000" sy="100000" kx="0" ky="0" algn="bl" rotWithShape="0" blurRad="76200" dist="25400" dir="8100000">
              <a:srgbClr val="000000">
                <a:alpha val="12000"/>
              </a:srgbClr>
            </a:outerShdw>
          </a:effectLst>
        </p:spPr>
      </p:sp>
      <p:sp>
        <p:nvSpPr>
          <p:cNvPr id="9" name="Text 7"/>
          <p:cNvSpPr/>
          <p:nvPr/>
        </p:nvSpPr>
        <p:spPr>
          <a:xfrm>
            <a:off x="274320" y="1143000"/>
            <a:ext cx="20116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Data Map Assets</a:t>
            </a:r>
            <a:endParaRPr lang="en-US" sz="1100" dirty="0"/>
          </a:p>
        </p:txBody>
      </p:sp>
      <p:sp>
        <p:nvSpPr>
          <p:cNvPr id="10" name="Text 8"/>
          <p:cNvSpPr/>
          <p:nvPr/>
        </p:nvSpPr>
        <p:spPr>
          <a:xfrm>
            <a:off x="274320" y="1417320"/>
            <a:ext cx="2011680" cy="201168"/>
          </a:xfrm>
          <a:prstGeom prst="rect">
            <a:avLst/>
          </a:prstGeom>
          <a:noFill/>
          <a:ln/>
        </p:spPr>
        <p:txBody>
          <a:bodyPr wrap="square" lIns="0" tIns="0" rIns="0" bIns="0" rtlCol="0" anchor="ctr"/>
          <a:lstStyle/>
          <a:p>
            <a:pPr algn="ctr" indent="0" marL="0">
              <a:buNone/>
            </a:pPr>
            <a:r>
              <a:rPr lang="en-US" sz="800" dirty="0">
                <a:solidFill>
                  <a:srgbClr val="AABBCC"/>
                </a:solidFill>
                <a:latin typeface="Calibri" pitchFamily="34" charset="0"/>
                <a:ea typeface="Calibri" pitchFamily="34" charset="-122"/>
                <a:cs typeface="Calibri" pitchFamily="34" charset="-120"/>
              </a:rPr>
              <a:t>Phase 1</a:t>
            </a:r>
            <a:endParaRPr lang="en-US" sz="800" dirty="0"/>
          </a:p>
        </p:txBody>
      </p:sp>
      <p:pic>
        <p:nvPicPr>
          <p:cNvPr id="11" name="Image 0" descr="preencoded.png"/>
          <p:cNvPicPr>
            <a:picLocks noChangeAspect="1"/>
          </p:cNvPicPr>
          <p:nvPr/>
        </p:nvPicPr>
        <p:blipFill>
          <a:blip r:embed="rId1"/>
          <a:stretch>
            <a:fillRect/>
          </a:stretch>
        </p:blipFill>
        <p:spPr>
          <a:xfrm>
            <a:off x="2423160" y="1252728"/>
            <a:ext cx="164592" cy="164592"/>
          </a:xfrm>
          <a:prstGeom prst="rect">
            <a:avLst/>
          </a:prstGeom>
        </p:spPr>
      </p:pic>
      <p:sp>
        <p:nvSpPr>
          <p:cNvPr id="12" name="Shape 9"/>
          <p:cNvSpPr/>
          <p:nvPr/>
        </p:nvSpPr>
        <p:spPr>
          <a:xfrm>
            <a:off x="274320" y="2240280"/>
            <a:ext cx="2011680" cy="640080"/>
          </a:xfrm>
          <a:prstGeom prst="rect">
            <a:avLst/>
          </a:prstGeom>
          <a:solidFill>
            <a:srgbClr val="0A6665"/>
          </a:solidFill>
          <a:ln/>
          <a:effectLst>
            <a:outerShdw sx="100000" sy="100000" kx="0" ky="0" algn="bl" rotWithShape="0" blurRad="76200" dist="25400" dir="8100000">
              <a:srgbClr val="000000">
                <a:alpha val="12000"/>
              </a:srgbClr>
            </a:outerShdw>
          </a:effectLst>
        </p:spPr>
      </p:sp>
      <p:sp>
        <p:nvSpPr>
          <p:cNvPr id="13" name="Text 10"/>
          <p:cNvSpPr/>
          <p:nvPr/>
        </p:nvSpPr>
        <p:spPr>
          <a:xfrm>
            <a:off x="274320" y="2331720"/>
            <a:ext cx="20116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Sensitivity Labels</a:t>
            </a:r>
            <a:endParaRPr lang="en-US" sz="1100" dirty="0"/>
          </a:p>
        </p:txBody>
      </p:sp>
      <p:sp>
        <p:nvSpPr>
          <p:cNvPr id="14" name="Text 11"/>
          <p:cNvSpPr/>
          <p:nvPr/>
        </p:nvSpPr>
        <p:spPr>
          <a:xfrm>
            <a:off x="274320" y="2606040"/>
            <a:ext cx="2011680" cy="201168"/>
          </a:xfrm>
          <a:prstGeom prst="rect">
            <a:avLst/>
          </a:prstGeom>
          <a:noFill/>
          <a:ln/>
        </p:spPr>
        <p:txBody>
          <a:bodyPr wrap="square" lIns="0" tIns="0" rIns="0" bIns="0" rtlCol="0" anchor="ctr"/>
          <a:lstStyle/>
          <a:p>
            <a:pPr algn="ctr" indent="0" marL="0">
              <a:buNone/>
            </a:pPr>
            <a:r>
              <a:rPr lang="en-US" sz="800" dirty="0">
                <a:solidFill>
                  <a:srgbClr val="AABBCC"/>
                </a:solidFill>
                <a:latin typeface="Calibri" pitchFamily="34" charset="0"/>
                <a:ea typeface="Calibri" pitchFamily="34" charset="-122"/>
                <a:cs typeface="Calibri" pitchFamily="34" charset="-120"/>
              </a:rPr>
              <a:t>Phase 2</a:t>
            </a:r>
            <a:endParaRPr lang="en-US" sz="800" dirty="0"/>
          </a:p>
        </p:txBody>
      </p:sp>
      <p:pic>
        <p:nvPicPr>
          <p:cNvPr id="15" name="Image 1" descr="preencoded.png"/>
          <p:cNvPicPr>
            <a:picLocks noChangeAspect="1"/>
          </p:cNvPicPr>
          <p:nvPr/>
        </p:nvPicPr>
        <p:blipFill>
          <a:blip r:embed="rId2"/>
          <a:stretch>
            <a:fillRect/>
          </a:stretch>
        </p:blipFill>
        <p:spPr>
          <a:xfrm>
            <a:off x="2423160" y="2441448"/>
            <a:ext cx="164592" cy="164592"/>
          </a:xfrm>
          <a:prstGeom prst="rect">
            <a:avLst/>
          </a:prstGeom>
        </p:spPr>
      </p:pic>
      <p:sp>
        <p:nvSpPr>
          <p:cNvPr id="16" name="Shape 12"/>
          <p:cNvSpPr/>
          <p:nvPr/>
        </p:nvSpPr>
        <p:spPr>
          <a:xfrm>
            <a:off x="274320" y="3429000"/>
            <a:ext cx="2011680" cy="640080"/>
          </a:xfrm>
          <a:prstGeom prst="rect">
            <a:avLst/>
          </a:prstGeom>
          <a:solidFill>
            <a:srgbClr val="1B3A5C"/>
          </a:solidFill>
          <a:ln/>
          <a:effectLst>
            <a:outerShdw sx="100000" sy="100000" kx="0" ky="0" algn="bl" rotWithShape="0" blurRad="76200" dist="25400" dir="8100000">
              <a:srgbClr val="000000">
                <a:alpha val="12000"/>
              </a:srgbClr>
            </a:outerShdw>
          </a:effectLst>
        </p:spPr>
      </p:sp>
      <p:sp>
        <p:nvSpPr>
          <p:cNvPr id="17" name="Text 13"/>
          <p:cNvSpPr/>
          <p:nvPr/>
        </p:nvSpPr>
        <p:spPr>
          <a:xfrm>
            <a:off x="274320" y="3520440"/>
            <a:ext cx="20116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Governance Domains</a:t>
            </a:r>
            <a:endParaRPr lang="en-US" sz="1100" dirty="0"/>
          </a:p>
        </p:txBody>
      </p:sp>
      <p:sp>
        <p:nvSpPr>
          <p:cNvPr id="18" name="Text 14"/>
          <p:cNvSpPr/>
          <p:nvPr/>
        </p:nvSpPr>
        <p:spPr>
          <a:xfrm>
            <a:off x="274320" y="3794760"/>
            <a:ext cx="2011680" cy="201168"/>
          </a:xfrm>
          <a:prstGeom prst="rect">
            <a:avLst/>
          </a:prstGeom>
          <a:noFill/>
          <a:ln/>
        </p:spPr>
        <p:txBody>
          <a:bodyPr wrap="square" lIns="0" tIns="0" rIns="0" bIns="0" rtlCol="0" anchor="ctr"/>
          <a:lstStyle/>
          <a:p>
            <a:pPr algn="ctr" indent="0" marL="0">
              <a:buNone/>
            </a:pPr>
            <a:r>
              <a:rPr lang="en-US" sz="800" dirty="0">
                <a:solidFill>
                  <a:srgbClr val="AABBCC"/>
                </a:solidFill>
                <a:latin typeface="Calibri" pitchFamily="34" charset="0"/>
                <a:ea typeface="Calibri" pitchFamily="34" charset="-122"/>
                <a:cs typeface="Calibri" pitchFamily="34" charset="-120"/>
              </a:rPr>
              <a:t>Phase 3</a:t>
            </a:r>
            <a:endParaRPr lang="en-US" sz="800" dirty="0"/>
          </a:p>
        </p:txBody>
      </p:sp>
      <p:pic>
        <p:nvPicPr>
          <p:cNvPr id="19" name="Image 2" descr="preencoded.png"/>
          <p:cNvPicPr>
            <a:picLocks noChangeAspect="1"/>
          </p:cNvPicPr>
          <p:nvPr/>
        </p:nvPicPr>
        <p:blipFill>
          <a:blip r:embed="rId3"/>
          <a:stretch>
            <a:fillRect/>
          </a:stretch>
        </p:blipFill>
        <p:spPr>
          <a:xfrm>
            <a:off x="2423160" y="3630168"/>
            <a:ext cx="164592" cy="164592"/>
          </a:xfrm>
          <a:prstGeom prst="rect">
            <a:avLst/>
          </a:prstGeom>
        </p:spPr>
      </p:pic>
      <p:sp>
        <p:nvSpPr>
          <p:cNvPr id="20" name="Shape 15"/>
          <p:cNvSpPr/>
          <p:nvPr/>
        </p:nvSpPr>
        <p:spPr>
          <a:xfrm>
            <a:off x="6858000" y="1051560"/>
            <a:ext cx="2011680" cy="640080"/>
          </a:xfrm>
          <a:prstGeom prst="rect">
            <a:avLst/>
          </a:prstGeom>
          <a:solidFill>
            <a:srgbClr val="0E7C7B"/>
          </a:solidFill>
          <a:ln/>
          <a:effectLst>
            <a:outerShdw sx="100000" sy="100000" kx="0" ky="0" algn="bl" rotWithShape="0" blurRad="76200" dist="25400" dir="8100000">
              <a:srgbClr val="000000">
                <a:alpha val="12000"/>
              </a:srgbClr>
            </a:outerShdw>
          </a:effectLst>
        </p:spPr>
      </p:sp>
      <p:sp>
        <p:nvSpPr>
          <p:cNvPr id="21" name="Text 16"/>
          <p:cNvSpPr/>
          <p:nvPr/>
        </p:nvSpPr>
        <p:spPr>
          <a:xfrm>
            <a:off x="6858000" y="1143000"/>
            <a:ext cx="20116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Data Products</a:t>
            </a:r>
            <a:endParaRPr lang="en-US" sz="1100" dirty="0"/>
          </a:p>
        </p:txBody>
      </p:sp>
      <p:sp>
        <p:nvSpPr>
          <p:cNvPr id="22" name="Text 17"/>
          <p:cNvSpPr/>
          <p:nvPr/>
        </p:nvSpPr>
        <p:spPr>
          <a:xfrm>
            <a:off x="6858000" y="1417320"/>
            <a:ext cx="2011680" cy="201168"/>
          </a:xfrm>
          <a:prstGeom prst="rect">
            <a:avLst/>
          </a:prstGeom>
          <a:noFill/>
          <a:ln/>
        </p:spPr>
        <p:txBody>
          <a:bodyPr wrap="square" lIns="0" tIns="0" rIns="0" bIns="0" rtlCol="0" anchor="ctr"/>
          <a:lstStyle/>
          <a:p>
            <a:pPr algn="ctr" indent="0" marL="0">
              <a:buNone/>
            </a:pPr>
            <a:r>
              <a:rPr lang="en-US" sz="800" dirty="0">
                <a:solidFill>
                  <a:srgbClr val="AABBCC"/>
                </a:solidFill>
                <a:latin typeface="Calibri" pitchFamily="34" charset="0"/>
                <a:ea typeface="Calibri" pitchFamily="34" charset="-122"/>
                <a:cs typeface="Calibri" pitchFamily="34" charset="-120"/>
              </a:rPr>
              <a:t>Phase 4</a:t>
            </a:r>
            <a:endParaRPr lang="en-US" sz="800" dirty="0"/>
          </a:p>
        </p:txBody>
      </p:sp>
      <p:pic>
        <p:nvPicPr>
          <p:cNvPr id="23" name="Image 3" descr="preencoded.png"/>
          <p:cNvPicPr>
            <a:picLocks noChangeAspect="1"/>
          </p:cNvPicPr>
          <p:nvPr/>
        </p:nvPicPr>
        <p:blipFill>
          <a:blip r:embed="rId4"/>
          <a:stretch>
            <a:fillRect/>
          </a:stretch>
        </p:blipFill>
        <p:spPr>
          <a:xfrm>
            <a:off x="6565392" y="1252728"/>
            <a:ext cx="164592" cy="164592"/>
          </a:xfrm>
          <a:prstGeom prst="rect">
            <a:avLst/>
          </a:prstGeom>
        </p:spPr>
      </p:pic>
      <p:sp>
        <p:nvSpPr>
          <p:cNvPr id="24" name="Shape 18"/>
          <p:cNvSpPr/>
          <p:nvPr/>
        </p:nvSpPr>
        <p:spPr>
          <a:xfrm>
            <a:off x="6858000" y="2240280"/>
            <a:ext cx="2011680" cy="640080"/>
          </a:xfrm>
          <a:prstGeom prst="rect">
            <a:avLst/>
          </a:prstGeom>
          <a:solidFill>
            <a:srgbClr val="0A6665"/>
          </a:solidFill>
          <a:ln/>
          <a:effectLst>
            <a:outerShdw sx="100000" sy="100000" kx="0" ky="0" algn="bl" rotWithShape="0" blurRad="76200" dist="25400" dir="8100000">
              <a:srgbClr val="000000">
                <a:alpha val="12000"/>
              </a:srgbClr>
            </a:outerShdw>
          </a:effectLst>
        </p:spPr>
      </p:sp>
      <p:sp>
        <p:nvSpPr>
          <p:cNvPr id="25" name="Text 19"/>
          <p:cNvSpPr/>
          <p:nvPr/>
        </p:nvSpPr>
        <p:spPr>
          <a:xfrm>
            <a:off x="6858000" y="2331720"/>
            <a:ext cx="20116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Data Consumers</a:t>
            </a:r>
            <a:endParaRPr lang="en-US" sz="1100" dirty="0"/>
          </a:p>
        </p:txBody>
      </p:sp>
      <p:sp>
        <p:nvSpPr>
          <p:cNvPr id="26" name="Text 20"/>
          <p:cNvSpPr/>
          <p:nvPr/>
        </p:nvSpPr>
        <p:spPr>
          <a:xfrm>
            <a:off x="6858000" y="2606040"/>
            <a:ext cx="2011680" cy="201168"/>
          </a:xfrm>
          <a:prstGeom prst="rect">
            <a:avLst/>
          </a:prstGeom>
          <a:noFill/>
          <a:ln/>
        </p:spPr>
        <p:txBody>
          <a:bodyPr wrap="square" lIns="0" tIns="0" rIns="0" bIns="0" rtlCol="0" anchor="ctr"/>
          <a:lstStyle/>
          <a:p>
            <a:pPr algn="ctr" indent="0" marL="0">
              <a:buNone/>
            </a:pPr>
            <a:r>
              <a:rPr lang="en-US" sz="800" dirty="0">
                <a:solidFill>
                  <a:srgbClr val="AABBCC"/>
                </a:solidFill>
                <a:latin typeface="Calibri" pitchFamily="34" charset="0"/>
                <a:ea typeface="Calibri" pitchFamily="34" charset="-122"/>
                <a:cs typeface="Calibri" pitchFamily="34" charset="-120"/>
              </a:rPr>
              <a:t>All Phases</a:t>
            </a:r>
            <a:endParaRPr lang="en-US" sz="800" dirty="0"/>
          </a:p>
        </p:txBody>
      </p:sp>
      <p:pic>
        <p:nvPicPr>
          <p:cNvPr id="27" name="Image 4" descr="preencoded.png"/>
          <p:cNvPicPr>
            <a:picLocks noChangeAspect="1"/>
          </p:cNvPicPr>
          <p:nvPr/>
        </p:nvPicPr>
        <p:blipFill>
          <a:blip r:embed="rId5"/>
          <a:stretch>
            <a:fillRect/>
          </a:stretch>
        </p:blipFill>
        <p:spPr>
          <a:xfrm>
            <a:off x="6565392" y="2441448"/>
            <a:ext cx="164592" cy="164592"/>
          </a:xfrm>
          <a:prstGeom prst="rect">
            <a:avLst/>
          </a:prstGeom>
        </p:spPr>
      </p:pic>
      <p:sp>
        <p:nvSpPr>
          <p:cNvPr id="28" name="Shape 21"/>
          <p:cNvSpPr/>
          <p:nvPr/>
        </p:nvSpPr>
        <p:spPr>
          <a:xfrm>
            <a:off x="6858000" y="3429000"/>
            <a:ext cx="2011680" cy="640080"/>
          </a:xfrm>
          <a:prstGeom prst="rect">
            <a:avLst/>
          </a:prstGeom>
          <a:solidFill>
            <a:srgbClr val="1B3A5C"/>
          </a:solidFill>
          <a:ln/>
          <a:effectLst>
            <a:outerShdw sx="100000" sy="100000" kx="0" ky="0" algn="bl" rotWithShape="0" blurRad="76200" dist="25400" dir="8100000">
              <a:srgbClr val="000000">
                <a:alpha val="12000"/>
              </a:srgbClr>
            </a:outerShdw>
          </a:effectLst>
        </p:spPr>
      </p:sp>
      <p:sp>
        <p:nvSpPr>
          <p:cNvPr id="29" name="Text 22"/>
          <p:cNvSpPr/>
          <p:nvPr/>
        </p:nvSpPr>
        <p:spPr>
          <a:xfrm>
            <a:off x="6858000" y="3520440"/>
            <a:ext cx="20116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CDEs &amp; Quality</a:t>
            </a:r>
            <a:endParaRPr lang="en-US" sz="1100" dirty="0"/>
          </a:p>
        </p:txBody>
      </p:sp>
      <p:sp>
        <p:nvSpPr>
          <p:cNvPr id="30" name="Text 23"/>
          <p:cNvSpPr/>
          <p:nvPr/>
        </p:nvSpPr>
        <p:spPr>
          <a:xfrm>
            <a:off x="6858000" y="3794760"/>
            <a:ext cx="2011680" cy="201168"/>
          </a:xfrm>
          <a:prstGeom prst="rect">
            <a:avLst/>
          </a:prstGeom>
          <a:noFill/>
          <a:ln/>
        </p:spPr>
        <p:txBody>
          <a:bodyPr wrap="square" lIns="0" tIns="0" rIns="0" bIns="0" rtlCol="0" anchor="ctr"/>
          <a:lstStyle/>
          <a:p>
            <a:pPr algn="ctr" indent="0" marL="0">
              <a:buNone/>
            </a:pPr>
            <a:r>
              <a:rPr lang="en-US" sz="800" dirty="0">
                <a:solidFill>
                  <a:srgbClr val="AABBCC"/>
                </a:solidFill>
                <a:latin typeface="Calibri" pitchFamily="34" charset="0"/>
                <a:ea typeface="Calibri" pitchFamily="34" charset="-122"/>
                <a:cs typeface="Calibri" pitchFamily="34" charset="-120"/>
              </a:rPr>
              <a:t>Phase 4</a:t>
            </a:r>
            <a:endParaRPr lang="en-US" sz="800" dirty="0"/>
          </a:p>
        </p:txBody>
      </p:sp>
      <p:pic>
        <p:nvPicPr>
          <p:cNvPr id="31" name="Image 5" descr="preencoded.png"/>
          <p:cNvPicPr>
            <a:picLocks noChangeAspect="1"/>
          </p:cNvPicPr>
          <p:nvPr/>
        </p:nvPicPr>
        <p:blipFill>
          <a:blip r:embed="rId6"/>
          <a:stretch>
            <a:fillRect/>
          </a:stretch>
        </p:blipFill>
        <p:spPr>
          <a:xfrm>
            <a:off x="6565392" y="3630168"/>
            <a:ext cx="164592" cy="164592"/>
          </a:xfrm>
          <a:prstGeom prst="rect">
            <a:avLst/>
          </a:prstGeom>
        </p:spPr>
      </p:pic>
      <p:sp>
        <p:nvSpPr>
          <p:cNvPr id="32" name="Text 24"/>
          <p:cNvSpPr/>
          <p:nvPr/>
        </p:nvSpPr>
        <p:spPr>
          <a:xfrm>
            <a:off x="274320" y="4206240"/>
            <a:ext cx="2011680" cy="228600"/>
          </a:xfrm>
          <a:prstGeom prst="rect">
            <a:avLst/>
          </a:prstGeom>
          <a:noFill/>
          <a:ln/>
        </p:spPr>
        <p:txBody>
          <a:bodyPr wrap="square" lIns="0" tIns="0" rIns="0" bIns="0" rtlCol="0" anchor="ctr"/>
          <a:lstStyle/>
          <a:p>
            <a:pPr algn="ctr" indent="0" marL="0">
              <a:buNone/>
            </a:pPr>
            <a:r>
              <a:rPr lang="en-US" sz="1000" b="1" dirty="0">
                <a:solidFill>
                  <a:srgbClr val="0E7C7B"/>
                </a:solidFill>
                <a:latin typeface="Calibri" pitchFamily="34" charset="0"/>
                <a:ea typeface="Calibri" pitchFamily="34" charset="-122"/>
                <a:cs typeface="Calibri" pitchFamily="34" charset="-120"/>
              </a:rPr>
              <a:t>INPUT</a:t>
            </a:r>
            <a:endParaRPr lang="en-US" sz="1000" dirty="0"/>
          </a:p>
        </p:txBody>
      </p:sp>
      <p:sp>
        <p:nvSpPr>
          <p:cNvPr id="33" name="Text 25"/>
          <p:cNvSpPr/>
          <p:nvPr/>
        </p:nvSpPr>
        <p:spPr>
          <a:xfrm>
            <a:off x="6858000" y="4206240"/>
            <a:ext cx="2011680" cy="228600"/>
          </a:xfrm>
          <a:prstGeom prst="rect">
            <a:avLst/>
          </a:prstGeom>
          <a:noFill/>
          <a:ln/>
        </p:spPr>
        <p:txBody>
          <a:bodyPr wrap="square" lIns="0" tIns="0" rIns="0" bIns="0" rtlCol="0" anchor="ctr"/>
          <a:lstStyle/>
          <a:p>
            <a:pPr algn="ctr" indent="0" marL="0">
              <a:buNone/>
            </a:pPr>
            <a:r>
              <a:rPr lang="en-US" sz="1000" b="1" dirty="0">
                <a:solidFill>
                  <a:srgbClr val="D4740E"/>
                </a:solidFill>
                <a:latin typeface="Calibri" pitchFamily="34" charset="0"/>
                <a:ea typeface="Calibri" pitchFamily="34" charset="-122"/>
                <a:cs typeface="Calibri" pitchFamily="34" charset="-120"/>
              </a:rPr>
              <a:t>OUTPUT</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9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5C"/>
          </a:solidFill>
          <a:ln/>
        </p:spPr>
      </p:sp>
      <p:sp>
        <p:nvSpPr>
          <p:cNvPr id="3" name="Text 1"/>
          <p:cNvSpPr/>
          <p:nvPr/>
        </p:nvSpPr>
        <p:spPr>
          <a:xfrm>
            <a:off x="548640" y="137160"/>
            <a:ext cx="7315200" cy="54864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Cross-Phase Dependency Matrix</a:t>
            </a:r>
            <a:endParaRPr lang="en-US" sz="2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645920"/>
                <a:gridCol w="1097280"/>
                <a:gridCol w="1097280"/>
                <a:gridCol w="1097280"/>
                <a:gridCol w="1097280"/>
                <a:gridCol w="1097280"/>
                <a:gridCol w="1097280"/>
              </a:tblGrid>
              <a:tr h="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Phase</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P1 Data Map</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P2 Labels</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P3 Glossary</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P4 Products</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P5 Security</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P6 Compliance</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r>
              <a:tr h="0">
                <a:tc>
                  <a:txBody>
                    <a:bodyPr/>
                    <a:lstStyle/>
                    <a:p>
                      <a:pPr algn="l" indent="0" marL="0">
                        <a:buNone/>
                      </a:pPr>
                      <a:r>
                        <a:rPr lang="en-US" sz="1000" b="1" dirty="0">
                          <a:solidFill>
                            <a:srgbClr val="333333"/>
                          </a:solidFill>
                          <a:latin typeface="Calibri" pitchFamily="34" charset="0"/>
                          <a:ea typeface="Calibri" pitchFamily="34" charset="-122"/>
                          <a:cs typeface="Calibri" pitchFamily="34" charset="-120"/>
                        </a:rPr>
                        <a:t>P1: Data Map</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333333"/>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0">
                <a:tc>
                  <a:txBody>
                    <a:bodyPr/>
                    <a:lstStyle/>
                    <a:p>
                      <a:pPr algn="l" indent="0" marL="0">
                        <a:buNone/>
                      </a:pPr>
                      <a:r>
                        <a:rPr lang="en-US" sz="1000" b="1" dirty="0">
                          <a:solidFill>
                            <a:srgbClr val="333333"/>
                          </a:solidFill>
                          <a:latin typeface="Calibri" pitchFamily="34" charset="0"/>
                          <a:ea typeface="Calibri" pitchFamily="34" charset="-122"/>
                          <a:cs typeface="Calibri" pitchFamily="34" charset="-120"/>
                        </a:rPr>
                        <a:t>P2: Labels</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C3333"/>
                          </a:solidFill>
                          <a:latin typeface="Calibri" pitchFamily="34" charset="0"/>
                          <a:ea typeface="Calibri" pitchFamily="34" charset="-122"/>
                          <a:cs typeface="Calibri" pitchFamily="34" charset="-120"/>
                        </a:rPr>
                        <a:t>R</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8E8"/>
                    </a:solidFill>
                  </a:tcPr>
                </a:tc>
                <a:tc>
                  <a:txBody>
                    <a:bodyPr/>
                    <a:lstStyle/>
                    <a:p>
                      <a:pPr algn="ctr" indent="0" marL="0">
                        <a:buNone/>
                      </a:pPr>
                      <a:r>
                        <a:rPr lang="en-US" sz="1000" dirty="0">
                          <a:solidFill>
                            <a:srgbClr val="333333"/>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333333"/>
                          </a:solidFill>
                          <a:latin typeface="Calibri" pitchFamily="34" charset="0"/>
                          <a:ea typeface="Calibri" pitchFamily="34" charset="-122"/>
                          <a:cs typeface="Calibri" pitchFamily="34" charset="-120"/>
                        </a:rPr>
                        <a:t>P3: Glossary</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CC3333"/>
                          </a:solidFill>
                          <a:latin typeface="Calibri" pitchFamily="34" charset="0"/>
                          <a:ea typeface="Calibri" pitchFamily="34" charset="-122"/>
                          <a:cs typeface="Calibri" pitchFamily="34" charset="-120"/>
                        </a:rPr>
                        <a:t>R</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8E8"/>
                    </a:solidFill>
                  </a:tcPr>
                </a:tc>
                <a:tc>
                  <a:txBody>
                    <a:bodyPr/>
                    <a:lstStyle/>
                    <a:p>
                      <a:pPr algn="ctr" indent="0" marL="0">
                        <a:buNone/>
                      </a:pPr>
                      <a:r>
                        <a:rPr lang="en-US" sz="1000" dirty="0">
                          <a:solidFill>
                            <a:srgbClr val="0E7C7B"/>
                          </a:solidFill>
                          <a:latin typeface="Calibri" pitchFamily="34" charset="0"/>
                          <a:ea typeface="Calibri" pitchFamily="34" charset="-122"/>
                          <a:cs typeface="Calibri" pitchFamily="34" charset="-120"/>
                        </a:rPr>
                        <a:t>E</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0F2F1"/>
                    </a:solidFill>
                  </a:tcPr>
                </a:tc>
                <a:tc>
                  <a:txBody>
                    <a:bodyPr/>
                    <a:lstStyle/>
                    <a:p>
                      <a:pPr algn="ctr" indent="0" marL="0">
                        <a:buNone/>
                      </a:pPr>
                      <a:r>
                        <a:rPr lang="en-US" sz="1000" dirty="0">
                          <a:solidFill>
                            <a:srgbClr val="333333"/>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0">
                <a:tc>
                  <a:txBody>
                    <a:bodyPr/>
                    <a:lstStyle/>
                    <a:p>
                      <a:pPr algn="l" indent="0" marL="0">
                        <a:buNone/>
                      </a:pPr>
                      <a:r>
                        <a:rPr lang="en-US" sz="1000" b="1" dirty="0">
                          <a:solidFill>
                            <a:srgbClr val="333333"/>
                          </a:solidFill>
                          <a:latin typeface="Calibri" pitchFamily="34" charset="0"/>
                          <a:ea typeface="Calibri" pitchFamily="34" charset="-122"/>
                          <a:cs typeface="Calibri" pitchFamily="34" charset="-120"/>
                        </a:rPr>
                        <a:t>P4: Products</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C3333"/>
                          </a:solidFill>
                          <a:latin typeface="Calibri" pitchFamily="34" charset="0"/>
                          <a:ea typeface="Calibri" pitchFamily="34" charset="-122"/>
                          <a:cs typeface="Calibri" pitchFamily="34" charset="-120"/>
                        </a:rPr>
                        <a:t>R</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8E8"/>
                    </a:solidFill>
                  </a:tcPr>
                </a:tc>
                <a:tc>
                  <a:txBody>
                    <a:bodyPr/>
                    <a:lstStyle/>
                    <a:p>
                      <a:pPr algn="ctr" indent="0" marL="0">
                        <a:buNone/>
                      </a:pPr>
                      <a:r>
                        <a:rPr lang="en-US" sz="1000" dirty="0">
                          <a:solidFill>
                            <a:srgbClr val="0E7C7B"/>
                          </a:solidFill>
                          <a:latin typeface="Calibri" pitchFamily="34" charset="0"/>
                          <a:ea typeface="Calibri" pitchFamily="34" charset="-122"/>
                          <a:cs typeface="Calibri" pitchFamily="34" charset="-120"/>
                        </a:rPr>
                        <a:t>E</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0F2F1"/>
                    </a:solidFill>
                  </a:tcPr>
                </a:tc>
                <a:tc>
                  <a:txBody>
                    <a:bodyPr/>
                    <a:lstStyle/>
                    <a:p>
                      <a:pPr algn="ctr" indent="0" marL="0">
                        <a:buNone/>
                      </a:pPr>
                      <a:r>
                        <a:rPr lang="en-US" sz="1000" b="1" dirty="0">
                          <a:solidFill>
                            <a:srgbClr val="CC3333"/>
                          </a:solidFill>
                          <a:latin typeface="Calibri" pitchFamily="34" charset="0"/>
                          <a:ea typeface="Calibri" pitchFamily="34" charset="-122"/>
                          <a:cs typeface="Calibri" pitchFamily="34" charset="-120"/>
                        </a:rPr>
                        <a:t>R</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8E8"/>
                    </a:solidFill>
                  </a:tcPr>
                </a:tc>
                <a:tc>
                  <a:txBody>
                    <a:bodyPr/>
                    <a:lstStyle/>
                    <a:p>
                      <a:pPr algn="ctr" indent="0" marL="0">
                        <a:buNone/>
                      </a:pPr>
                      <a:r>
                        <a:rPr lang="en-US" sz="1000" dirty="0">
                          <a:solidFill>
                            <a:srgbClr val="333333"/>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333333"/>
                          </a:solidFill>
                          <a:latin typeface="Calibri" pitchFamily="34" charset="0"/>
                          <a:ea typeface="Calibri" pitchFamily="34" charset="-122"/>
                          <a:cs typeface="Calibri" pitchFamily="34" charset="-120"/>
                        </a:rPr>
                        <a:t>P5: Security</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CC3333"/>
                          </a:solidFill>
                          <a:latin typeface="Calibri" pitchFamily="34" charset="0"/>
                          <a:ea typeface="Calibri" pitchFamily="34" charset="-122"/>
                          <a:cs typeface="Calibri" pitchFamily="34" charset="-120"/>
                        </a:rPr>
                        <a:t>R</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8E8"/>
                    </a:solidFill>
                  </a:tcPr>
                </a:tc>
                <a:tc>
                  <a:txBody>
                    <a:bodyPr/>
                    <a:lstStyle/>
                    <a:p>
                      <a:pPr algn="ctr" indent="0" marL="0">
                        <a:buNone/>
                      </a:pPr>
                      <a:r>
                        <a:rPr lang="en-US" sz="1000" b="1" dirty="0">
                          <a:solidFill>
                            <a:srgbClr val="CC3333"/>
                          </a:solidFill>
                          <a:latin typeface="Calibri" pitchFamily="34" charset="0"/>
                          <a:ea typeface="Calibri" pitchFamily="34" charset="-122"/>
                          <a:cs typeface="Calibri" pitchFamily="34" charset="-120"/>
                        </a:rPr>
                        <a:t>R</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8E8"/>
                    </a:solidFill>
                  </a:tcPr>
                </a:tc>
                <a:tc>
                  <a:txBody>
                    <a:bodyPr/>
                    <a:lstStyle/>
                    <a:p>
                      <a:pPr algn="ctr" indent="0" marL="0">
                        <a:buNone/>
                      </a:pPr>
                      <a:r>
                        <a:rPr lang="en-US" sz="1000" dirty="0">
                          <a:solidFill>
                            <a:srgbClr val="0E7C7B"/>
                          </a:solidFill>
                          <a:latin typeface="Calibri" pitchFamily="34" charset="0"/>
                          <a:ea typeface="Calibri" pitchFamily="34" charset="-122"/>
                          <a:cs typeface="Calibri" pitchFamily="34" charset="-120"/>
                        </a:rPr>
                        <a:t>E</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0F2F1"/>
                    </a:solidFill>
                  </a:tcPr>
                </a:tc>
                <a:tc>
                  <a:txBody>
                    <a:bodyPr/>
                    <a:lstStyle/>
                    <a:p>
                      <a:pPr algn="ctr" indent="0" marL="0">
                        <a:buNone/>
                      </a:pPr>
                      <a:r>
                        <a:rPr lang="en-US" sz="1000" dirty="0">
                          <a:solidFill>
                            <a:srgbClr val="0E7C7B"/>
                          </a:solidFill>
                          <a:latin typeface="Calibri" pitchFamily="34" charset="0"/>
                          <a:ea typeface="Calibri" pitchFamily="34" charset="-122"/>
                          <a:cs typeface="Calibri" pitchFamily="34" charset="-120"/>
                        </a:rPr>
                        <a:t>E</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0F2F1"/>
                    </a:solidFill>
                  </a:tcPr>
                </a:tc>
                <a:tc>
                  <a:txBody>
                    <a:bodyPr/>
                    <a:lstStyle/>
                    <a:p>
                      <a:pPr algn="ctr" indent="0" marL="0">
                        <a:buNone/>
                      </a:pPr>
                      <a:r>
                        <a:rPr lang="en-US" sz="1000" dirty="0">
                          <a:solidFill>
                            <a:srgbClr val="333333"/>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0">
                <a:tc>
                  <a:txBody>
                    <a:bodyPr/>
                    <a:lstStyle/>
                    <a:p>
                      <a:pPr algn="l" indent="0" marL="0">
                        <a:buNone/>
                      </a:pPr>
                      <a:r>
                        <a:rPr lang="en-US" sz="1000" b="1" dirty="0">
                          <a:solidFill>
                            <a:srgbClr val="333333"/>
                          </a:solidFill>
                          <a:latin typeface="Calibri" pitchFamily="34" charset="0"/>
                          <a:ea typeface="Calibri" pitchFamily="34" charset="-122"/>
                          <a:cs typeface="Calibri" pitchFamily="34" charset="-120"/>
                        </a:rPr>
                        <a:t>P6: Compliance</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C3333"/>
                          </a:solidFill>
                          <a:latin typeface="Calibri" pitchFamily="34" charset="0"/>
                          <a:ea typeface="Calibri" pitchFamily="34" charset="-122"/>
                          <a:cs typeface="Calibri" pitchFamily="34" charset="-120"/>
                        </a:rPr>
                        <a:t>R</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8E8"/>
                    </a:solidFill>
                  </a:tcPr>
                </a:tc>
                <a:tc>
                  <a:txBody>
                    <a:bodyPr/>
                    <a:lstStyle/>
                    <a:p>
                      <a:pPr algn="ctr" indent="0" marL="0">
                        <a:buNone/>
                      </a:pPr>
                      <a:r>
                        <a:rPr lang="en-US" sz="1000" b="1" dirty="0">
                          <a:solidFill>
                            <a:srgbClr val="CC3333"/>
                          </a:solidFill>
                          <a:latin typeface="Calibri" pitchFamily="34" charset="0"/>
                          <a:ea typeface="Calibri" pitchFamily="34" charset="-122"/>
                          <a:cs typeface="Calibri" pitchFamily="34" charset="-120"/>
                        </a:rPr>
                        <a:t>R</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8E8"/>
                    </a:solidFill>
                  </a:tcPr>
                </a:tc>
                <a:tc>
                  <a:txBody>
                    <a:bodyPr/>
                    <a:lstStyle/>
                    <a:p>
                      <a:pPr algn="ctr" indent="0" marL="0">
                        <a:buNone/>
                      </a:pPr>
                      <a:r>
                        <a:rPr lang="en-US" sz="1000" dirty="0">
                          <a:solidFill>
                            <a:srgbClr val="0E7C7B"/>
                          </a:solidFill>
                          <a:latin typeface="Calibri" pitchFamily="34" charset="0"/>
                          <a:ea typeface="Calibri" pitchFamily="34" charset="-122"/>
                          <a:cs typeface="Calibri" pitchFamily="34" charset="-120"/>
                        </a:rPr>
                        <a:t>E</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0F2F1"/>
                    </a:solidFill>
                  </a:tcPr>
                </a:tc>
                <a:tc>
                  <a:txBody>
                    <a:bodyPr/>
                    <a:lstStyle/>
                    <a:p>
                      <a:pPr algn="ctr" indent="0" marL="0">
                        <a:buNone/>
                      </a:pPr>
                      <a:r>
                        <a:rPr lang="en-US" sz="1000" dirty="0">
                          <a:solidFill>
                            <a:srgbClr val="0E7C7B"/>
                          </a:solidFill>
                          <a:latin typeface="Calibri" pitchFamily="34" charset="0"/>
                          <a:ea typeface="Calibri" pitchFamily="34" charset="-122"/>
                          <a:cs typeface="Calibri" pitchFamily="34" charset="-120"/>
                        </a:rPr>
                        <a:t>E</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0F2F1"/>
                    </a:solidFill>
                  </a:tcPr>
                </a:tc>
                <a:tc>
                  <a:txBody>
                    <a:bodyPr/>
                    <a:lstStyle/>
                    <a:p>
                      <a:pPr algn="ctr" indent="0" marL="0">
                        <a:buNone/>
                      </a:pPr>
                      <a:r>
                        <a:rPr lang="en-US" sz="1000" b="1" dirty="0">
                          <a:solidFill>
                            <a:srgbClr val="CC3333"/>
                          </a:solidFill>
                          <a:latin typeface="Calibri" pitchFamily="34" charset="0"/>
                          <a:ea typeface="Calibri" pitchFamily="34" charset="-122"/>
                          <a:cs typeface="Calibri" pitchFamily="34" charset="-120"/>
                        </a:rPr>
                        <a:t>R</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8E8"/>
                    </a:solidFill>
                  </a:tcPr>
                </a:tc>
                <a:tc>
                  <a:txBody>
                    <a:bodyPr/>
                    <a:lstStyle/>
                    <a:p>
                      <a:pPr algn="ctr" indent="0" marL="0">
                        <a:buNone/>
                      </a:pPr>
                      <a:r>
                        <a:rPr lang="en-US" sz="1000" dirty="0">
                          <a:solidFill>
                            <a:srgbClr val="333333"/>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3657600"/>
            <a:ext cx="8229600" cy="365760"/>
          </a:xfrm>
          <a:prstGeom prst="rect">
            <a:avLst/>
          </a:prstGeom>
          <a:noFill/>
          <a:ln/>
        </p:spPr>
        <p:txBody>
          <a:bodyPr wrap="square" lIns="0" tIns="0" rIns="0" bIns="0" rtlCol="0" anchor="ctr"/>
          <a:lstStyle/>
          <a:p>
            <a:pPr indent="0" marL="0">
              <a:buNone/>
            </a:pPr>
            <a:r>
              <a:rPr lang="en-US" sz="1100" b="1" dirty="0">
                <a:solidFill>
                  <a:srgbClr val="CC3333"/>
                </a:solidFill>
                <a:latin typeface="Calibri" pitchFamily="34" charset="0"/>
                <a:ea typeface="Calibri" pitchFamily="34" charset="-122"/>
                <a:cs typeface="Calibri" pitchFamily="34" charset="-120"/>
              </a:rPr>
              <a:t xml:space="preserve">R = Required  </a:t>
            </a:r>
            <a:pPr indent="0" marL="0">
              <a:buNone/>
            </a:pPr>
            <a:r>
              <a:rPr lang="en-US" sz="1100" dirty="0">
                <a:solidFill>
                  <a:srgbClr val="888888"/>
                </a:solidFill>
                <a:latin typeface="Calibri" pitchFamily="34" charset="0"/>
                <a:ea typeface="Calibri" pitchFamily="34" charset="-122"/>
                <a:cs typeface="Calibri" pitchFamily="34" charset="-120"/>
              </a:rPr>
              <a:t xml:space="preserve">|  </a:t>
            </a:r>
            <a:pPr indent="0" marL="0">
              <a:buNone/>
            </a:pPr>
            <a:r>
              <a:rPr lang="en-US" sz="1100" b="1" dirty="0">
                <a:solidFill>
                  <a:srgbClr val="0E7C7B"/>
                </a:solidFill>
                <a:latin typeface="Calibri" pitchFamily="34" charset="0"/>
                <a:ea typeface="Calibri" pitchFamily="34" charset="-122"/>
                <a:cs typeface="Calibri" pitchFamily="34" charset="-120"/>
              </a:rPr>
              <a:t>E = Enriching</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9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5C"/>
          </a:solidFill>
          <a:ln/>
        </p:spPr>
      </p:sp>
      <p:sp>
        <p:nvSpPr>
          <p:cNvPr id="3" name="Text 1"/>
          <p:cNvSpPr/>
          <p:nvPr/>
        </p:nvSpPr>
        <p:spPr>
          <a:xfrm>
            <a:off x="548640" y="137160"/>
            <a:ext cx="7315200" cy="54864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RACI Model for Data Governance Roles</a:t>
            </a:r>
            <a:endParaRPr lang="en-US" sz="2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274320" y="960120"/>
          <a:ext cx="8595360" cy="914400"/>
        </p:xfrm>
        <a:graphic>
          <a:graphicData uri="http://schemas.openxmlformats.org/drawingml/2006/table">
            <a:tbl>
              <a:tblPr/>
              <a:tblGrid>
                <a:gridCol w="1828800"/>
                <a:gridCol w="1463040"/>
                <a:gridCol w="1463040"/>
                <a:gridCol w="1463040"/>
                <a:gridCol w="1463040"/>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Activity</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E7C7B"/>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Responsible</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E7C7B"/>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Accountable</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E7C7B"/>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Consulted</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E7C7B"/>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Informed</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E7C7B"/>
                    </a:solidFill>
                  </a:tcPr>
                </a:tc>
              </a:tr>
              <a:tr h="0">
                <a:tc>
                  <a:txBody>
                    <a:bodyPr/>
                    <a:lstStyle/>
                    <a:p>
                      <a:pPr algn="l" indent="0" marL="0">
                        <a:buNone/>
                      </a:pPr>
                      <a:r>
                        <a:rPr lang="en-US" sz="850" b="1" dirty="0">
                          <a:solidFill>
                            <a:srgbClr val="333333"/>
                          </a:solidFill>
                          <a:latin typeface="Calibri" pitchFamily="34" charset="0"/>
                          <a:ea typeface="Calibri" pitchFamily="34" charset="-122"/>
                          <a:cs typeface="Calibri" pitchFamily="34" charset="-120"/>
                        </a:rPr>
                        <a:t>Data Map registration</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Data Owner</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Gov Admin</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IT/Platform</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Data Office</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0">
                <a:tc>
                  <a:txBody>
                    <a:bodyPr/>
                    <a:lstStyle/>
                    <a:p>
                      <a:pPr algn="l" indent="0" marL="0">
                        <a:buNone/>
                      </a:pPr>
                      <a:r>
                        <a:rPr lang="en-US" sz="850" b="1" dirty="0">
                          <a:solidFill>
                            <a:srgbClr val="333333"/>
                          </a:solidFill>
                          <a:latin typeface="Calibri" pitchFamily="34" charset="0"/>
                          <a:ea typeface="Calibri" pitchFamily="34" charset="-122"/>
                          <a:cs typeface="Calibri" pitchFamily="34" charset="-120"/>
                        </a:rPr>
                        <a:t>Classification review</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Data Steward</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Gov Admin</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Data Owner</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Consumers</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algn="l" indent="0" marL="0">
                        <a:buNone/>
                      </a:pPr>
                      <a:r>
                        <a:rPr lang="en-US" sz="850" b="1" dirty="0">
                          <a:solidFill>
                            <a:srgbClr val="333333"/>
                          </a:solidFill>
                          <a:latin typeface="Calibri" pitchFamily="34" charset="0"/>
                          <a:ea typeface="Calibri" pitchFamily="34" charset="-122"/>
                          <a:cs typeface="Calibri" pitchFamily="34" charset="-120"/>
                        </a:rPr>
                        <a:t>Label design</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Data Office</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CISO/DPO</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IT Security</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Data Owners</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0">
                <a:tc>
                  <a:txBody>
                    <a:bodyPr/>
                    <a:lstStyle/>
                    <a:p>
                      <a:pPr algn="l" indent="0" marL="0">
                        <a:buNone/>
                      </a:pPr>
                      <a:r>
                        <a:rPr lang="en-US" sz="850" b="1" dirty="0">
                          <a:solidFill>
                            <a:srgbClr val="333333"/>
                          </a:solidFill>
                          <a:latin typeface="Calibri" pitchFamily="34" charset="0"/>
                          <a:ea typeface="Calibri" pitchFamily="34" charset="-122"/>
                          <a:cs typeface="Calibri" pitchFamily="34" charset="-120"/>
                        </a:rPr>
                        <a:t>Governance domains</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Data Office</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Gov Admin</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Domain Owners</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All users</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algn="l" indent="0" marL="0">
                        <a:buNone/>
                      </a:pPr>
                      <a:r>
                        <a:rPr lang="en-US" sz="850" b="1" dirty="0">
                          <a:solidFill>
                            <a:srgbClr val="333333"/>
                          </a:solidFill>
                          <a:latin typeface="Calibri" pitchFamily="34" charset="0"/>
                          <a:ea typeface="Calibri" pitchFamily="34" charset="-122"/>
                          <a:cs typeface="Calibri" pitchFamily="34" charset="-120"/>
                        </a:rPr>
                        <a:t>Glossary curation</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Data Steward</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Domain Owner</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Consumers</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Data Office</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0">
                <a:tc>
                  <a:txBody>
                    <a:bodyPr/>
                    <a:lstStyle/>
                    <a:p>
                      <a:pPr algn="l" indent="0" marL="0">
                        <a:buNone/>
                      </a:pPr>
                      <a:r>
                        <a:rPr lang="en-US" sz="850" b="1" dirty="0">
                          <a:solidFill>
                            <a:srgbClr val="333333"/>
                          </a:solidFill>
                          <a:latin typeface="Calibri" pitchFamily="34" charset="0"/>
                          <a:ea typeface="Calibri" pitchFamily="34" charset="-122"/>
                          <a:cs typeface="Calibri" pitchFamily="34" charset="-120"/>
                        </a:rPr>
                        <a:t>Data products</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Product Owner</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Domain Owner</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Data Steward</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Consumers</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algn="l" indent="0" marL="0">
                        <a:buNone/>
                      </a:pPr>
                      <a:r>
                        <a:rPr lang="en-US" sz="850" b="1" dirty="0">
                          <a:solidFill>
                            <a:srgbClr val="333333"/>
                          </a:solidFill>
                          <a:latin typeface="Calibri" pitchFamily="34" charset="0"/>
                          <a:ea typeface="Calibri" pitchFamily="34" charset="-122"/>
                          <a:cs typeface="Calibri" pitchFamily="34" charset="-120"/>
                        </a:rPr>
                        <a:t>DLP deployment</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IT Security</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CISO</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Data Office</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Data Owners</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0">
                <a:tc>
                  <a:txBody>
                    <a:bodyPr/>
                    <a:lstStyle/>
                    <a:p>
                      <a:pPr algn="l" indent="0" marL="0">
                        <a:buNone/>
                      </a:pPr>
                      <a:r>
                        <a:rPr lang="en-US" sz="850" b="1" dirty="0">
                          <a:solidFill>
                            <a:srgbClr val="333333"/>
                          </a:solidFill>
                          <a:latin typeface="Calibri" pitchFamily="34" charset="0"/>
                          <a:ea typeface="Calibri" pitchFamily="34" charset="-122"/>
                          <a:cs typeface="Calibri" pitchFamily="34" charset="-120"/>
                        </a:rPr>
                        <a:t>DSPM dashboard</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IT Security</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CISO</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Gov Admin</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Exec Sponsors</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algn="l" indent="0" marL="0">
                        <a:buNone/>
                      </a:pPr>
                      <a:r>
                        <a:rPr lang="en-US" sz="850" b="1" dirty="0">
                          <a:solidFill>
                            <a:srgbClr val="333333"/>
                          </a:solidFill>
                          <a:latin typeface="Calibri" pitchFamily="34" charset="0"/>
                          <a:ea typeface="Calibri" pitchFamily="34" charset="-122"/>
                          <a:cs typeface="Calibri" pitchFamily="34" charset="-120"/>
                        </a:rPr>
                        <a:t>Compliance reviews</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Compliance</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DPO/CISO</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Data Office</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Exec Sponsors</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0">
                <a:tc>
                  <a:txBody>
                    <a:bodyPr/>
                    <a:lstStyle/>
                    <a:p>
                      <a:pPr algn="l" indent="0" marL="0">
                        <a:buNone/>
                      </a:pPr>
                      <a:r>
                        <a:rPr lang="en-US" sz="850" b="1" dirty="0">
                          <a:solidFill>
                            <a:srgbClr val="333333"/>
                          </a:solidFill>
                          <a:latin typeface="Calibri" pitchFamily="34" charset="0"/>
                          <a:ea typeface="Calibri" pitchFamily="34" charset="-122"/>
                          <a:cs typeface="Calibri" pitchFamily="34" charset="-120"/>
                        </a:rPr>
                        <a:t>OKR tracking</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Biz Strategy</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Domain Owner</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Data Steward</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Calibri" pitchFamily="34" charset="0"/>
                          <a:ea typeface="Calibri" pitchFamily="34" charset="-122"/>
                          <a:cs typeface="Calibri" pitchFamily="34" charset="-120"/>
                        </a:rPr>
                        <a:t>Exec Sponsors</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9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5C"/>
          </a:solidFill>
          <a:ln/>
        </p:spPr>
      </p:sp>
      <p:sp>
        <p:nvSpPr>
          <p:cNvPr id="3" name="Text 1"/>
          <p:cNvSpPr/>
          <p:nvPr/>
        </p:nvSpPr>
        <p:spPr>
          <a:xfrm>
            <a:off x="548640" y="137160"/>
            <a:ext cx="7315200" cy="54864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Maturity Assessment Framework</a:t>
            </a:r>
            <a:endParaRPr lang="en-US" sz="2400" dirty="0"/>
          </a:p>
        </p:txBody>
      </p:sp>
      <p:sp>
        <p:nvSpPr>
          <p:cNvPr id="4" name="Shape 2"/>
          <p:cNvSpPr/>
          <p:nvPr/>
        </p:nvSpPr>
        <p:spPr>
          <a:xfrm>
            <a:off x="457200" y="3017520"/>
            <a:ext cx="1463040" cy="914400"/>
          </a:xfrm>
          <a:prstGeom prst="rect">
            <a:avLst/>
          </a:prstGeom>
          <a:solidFill>
            <a:srgbClr val="CC4444"/>
          </a:solidFill>
          <a:ln/>
          <a:effectLst>
            <a:outerShdw sx="100000" sy="100000" kx="0" ky="0" algn="bl" rotWithShape="0" blurRad="76200" dist="25400" dir="8100000">
              <a:srgbClr val="000000">
                <a:alpha val="12000"/>
              </a:srgbClr>
            </a:outerShdw>
          </a:effectLst>
        </p:spPr>
      </p:sp>
      <p:sp>
        <p:nvSpPr>
          <p:cNvPr id="5" name="Text 3"/>
          <p:cNvSpPr/>
          <p:nvPr/>
        </p:nvSpPr>
        <p:spPr>
          <a:xfrm>
            <a:off x="457200" y="3090672"/>
            <a:ext cx="1463040" cy="365760"/>
          </a:xfrm>
          <a:prstGeom prst="rect">
            <a:avLst/>
          </a:prstGeom>
          <a:noFill/>
          <a:ln/>
        </p:spPr>
        <p:txBody>
          <a:bodyPr wrap="square" lIns="0" tIns="0" rIns="0" bIns="0" rtlCol="0" anchor="ctr"/>
          <a:lstStyle/>
          <a:p>
            <a:pPr algn="ctr" indent="0" marL="0">
              <a:buNone/>
            </a:pPr>
            <a:r>
              <a:rPr lang="en-US" sz="2800" b="1" dirty="0">
                <a:solidFill>
                  <a:srgbClr val="FFFFFF">
                    <a:alpha val="30000"/>
                  </a:srgbClr>
                </a:solidFill>
                <a:latin typeface="Trebuchet MS" pitchFamily="34" charset="0"/>
                <a:ea typeface="Trebuchet MS" pitchFamily="34" charset="-122"/>
                <a:cs typeface="Trebuchet MS" pitchFamily="34" charset="-120"/>
              </a:rPr>
              <a:t>1</a:t>
            </a:r>
            <a:endParaRPr lang="en-US" sz="2800" dirty="0"/>
          </a:p>
        </p:txBody>
      </p:sp>
      <p:sp>
        <p:nvSpPr>
          <p:cNvPr id="6" name="Text 4"/>
          <p:cNvSpPr/>
          <p:nvPr/>
        </p:nvSpPr>
        <p:spPr>
          <a:xfrm>
            <a:off x="457200" y="3383280"/>
            <a:ext cx="146304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Ad Hoc</a:t>
            </a:r>
            <a:endParaRPr lang="en-US" sz="1200" dirty="0"/>
          </a:p>
        </p:txBody>
      </p:sp>
      <p:sp>
        <p:nvSpPr>
          <p:cNvPr id="7" name="Text 5"/>
          <p:cNvSpPr/>
          <p:nvPr/>
        </p:nvSpPr>
        <p:spPr>
          <a:xfrm>
            <a:off x="457200" y="3657600"/>
            <a:ext cx="1463040" cy="182880"/>
          </a:xfrm>
          <a:prstGeom prst="rect">
            <a:avLst/>
          </a:prstGeom>
          <a:noFill/>
          <a:ln/>
        </p:spPr>
        <p:txBody>
          <a:bodyPr wrap="square" lIns="0" tIns="0" rIns="0" bIns="0" rtlCol="0" anchor="ctr"/>
          <a:lstStyle/>
          <a:p>
            <a:pPr algn="ctr" indent="0" marL="0">
              <a:buNone/>
            </a:pPr>
            <a:r>
              <a:rPr lang="en-US" sz="850" dirty="0">
                <a:solidFill>
                  <a:srgbClr val="DDDDDD"/>
                </a:solidFill>
                <a:latin typeface="Calibri" pitchFamily="34" charset="0"/>
                <a:ea typeface="Calibri" pitchFamily="34" charset="-122"/>
                <a:cs typeface="Calibri" pitchFamily="34" charset="-120"/>
              </a:rPr>
              <a:t>No inventory</a:t>
            </a:r>
            <a:endParaRPr lang="en-US" sz="850" dirty="0"/>
          </a:p>
        </p:txBody>
      </p:sp>
      <p:sp>
        <p:nvSpPr>
          <p:cNvPr id="8" name="Text 6"/>
          <p:cNvSpPr/>
          <p:nvPr/>
        </p:nvSpPr>
        <p:spPr>
          <a:xfrm>
            <a:off x="457200" y="3858768"/>
            <a:ext cx="1463040" cy="182880"/>
          </a:xfrm>
          <a:prstGeom prst="rect">
            <a:avLst/>
          </a:prstGeom>
          <a:noFill/>
          <a:ln/>
        </p:spPr>
        <p:txBody>
          <a:bodyPr wrap="square" lIns="0" tIns="0" rIns="0" bIns="0" rtlCol="0" anchor="ctr"/>
          <a:lstStyle/>
          <a:p>
            <a:pPr algn="ctr" indent="0" marL="0">
              <a:buNone/>
            </a:pPr>
            <a:r>
              <a:rPr lang="en-US" sz="850" dirty="0">
                <a:solidFill>
                  <a:srgbClr val="DDDDDD"/>
                </a:solidFill>
                <a:latin typeface="Calibri" pitchFamily="34" charset="0"/>
                <a:ea typeface="Calibri" pitchFamily="34" charset="-122"/>
                <a:cs typeface="Calibri" pitchFamily="34" charset="-120"/>
              </a:rPr>
              <a:t>Reactive</a:t>
            </a:r>
            <a:endParaRPr lang="en-US" sz="850" dirty="0"/>
          </a:p>
        </p:txBody>
      </p:sp>
      <p:sp>
        <p:nvSpPr>
          <p:cNvPr id="9" name="Shape 7"/>
          <p:cNvSpPr/>
          <p:nvPr/>
        </p:nvSpPr>
        <p:spPr>
          <a:xfrm>
            <a:off x="2029968" y="2423160"/>
            <a:ext cx="1463040" cy="1508760"/>
          </a:xfrm>
          <a:prstGeom prst="rect">
            <a:avLst/>
          </a:prstGeom>
          <a:solidFill>
            <a:srgbClr val="D4740E"/>
          </a:solidFill>
          <a:ln/>
          <a:effectLst>
            <a:outerShdw sx="100000" sy="100000" kx="0" ky="0" algn="bl" rotWithShape="0" blurRad="76200" dist="25400" dir="8100000">
              <a:srgbClr val="000000">
                <a:alpha val="12000"/>
              </a:srgbClr>
            </a:outerShdw>
          </a:effectLst>
        </p:spPr>
      </p:sp>
      <p:sp>
        <p:nvSpPr>
          <p:cNvPr id="10" name="Text 8"/>
          <p:cNvSpPr/>
          <p:nvPr/>
        </p:nvSpPr>
        <p:spPr>
          <a:xfrm>
            <a:off x="2029968" y="2496312"/>
            <a:ext cx="1463040" cy="365760"/>
          </a:xfrm>
          <a:prstGeom prst="rect">
            <a:avLst/>
          </a:prstGeom>
          <a:noFill/>
          <a:ln/>
        </p:spPr>
        <p:txBody>
          <a:bodyPr wrap="square" lIns="0" tIns="0" rIns="0" bIns="0" rtlCol="0" anchor="ctr"/>
          <a:lstStyle/>
          <a:p>
            <a:pPr algn="ctr" indent="0" marL="0">
              <a:buNone/>
            </a:pPr>
            <a:r>
              <a:rPr lang="en-US" sz="2800" b="1" dirty="0">
                <a:solidFill>
                  <a:srgbClr val="FFFFFF">
                    <a:alpha val="30000"/>
                  </a:srgbClr>
                </a:solidFill>
                <a:latin typeface="Trebuchet MS" pitchFamily="34" charset="0"/>
                <a:ea typeface="Trebuchet MS" pitchFamily="34" charset="-122"/>
                <a:cs typeface="Trebuchet MS" pitchFamily="34" charset="-120"/>
              </a:rPr>
              <a:t>2</a:t>
            </a:r>
            <a:endParaRPr lang="en-US" sz="2800" dirty="0"/>
          </a:p>
        </p:txBody>
      </p:sp>
      <p:sp>
        <p:nvSpPr>
          <p:cNvPr id="11" name="Text 9"/>
          <p:cNvSpPr/>
          <p:nvPr/>
        </p:nvSpPr>
        <p:spPr>
          <a:xfrm>
            <a:off x="2029968" y="2788920"/>
            <a:ext cx="146304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Managed</a:t>
            </a:r>
            <a:endParaRPr lang="en-US" sz="1200" dirty="0"/>
          </a:p>
        </p:txBody>
      </p:sp>
      <p:sp>
        <p:nvSpPr>
          <p:cNvPr id="12" name="Text 10"/>
          <p:cNvSpPr/>
          <p:nvPr/>
        </p:nvSpPr>
        <p:spPr>
          <a:xfrm>
            <a:off x="2029968" y="3063240"/>
            <a:ext cx="1463040" cy="182880"/>
          </a:xfrm>
          <a:prstGeom prst="rect">
            <a:avLst/>
          </a:prstGeom>
          <a:noFill/>
          <a:ln/>
        </p:spPr>
        <p:txBody>
          <a:bodyPr wrap="square" lIns="0" tIns="0" rIns="0" bIns="0" rtlCol="0" anchor="ctr"/>
          <a:lstStyle/>
          <a:p>
            <a:pPr algn="ctr" indent="0" marL="0">
              <a:buNone/>
            </a:pPr>
            <a:r>
              <a:rPr lang="en-US" sz="850" dirty="0">
                <a:solidFill>
                  <a:srgbClr val="DDDDDD"/>
                </a:solidFill>
                <a:latin typeface="Calibri" pitchFamily="34" charset="0"/>
                <a:ea typeface="Calibri" pitchFamily="34" charset="-122"/>
                <a:cs typeface="Calibri" pitchFamily="34" charset="-120"/>
              </a:rPr>
              <a:t>Data Map</a:t>
            </a:r>
            <a:endParaRPr lang="en-US" sz="850" dirty="0"/>
          </a:p>
        </p:txBody>
      </p:sp>
      <p:sp>
        <p:nvSpPr>
          <p:cNvPr id="13" name="Text 11"/>
          <p:cNvSpPr/>
          <p:nvPr/>
        </p:nvSpPr>
        <p:spPr>
          <a:xfrm>
            <a:off x="2029968" y="3264408"/>
            <a:ext cx="1463040" cy="182880"/>
          </a:xfrm>
          <a:prstGeom prst="rect">
            <a:avLst/>
          </a:prstGeom>
          <a:noFill/>
          <a:ln/>
        </p:spPr>
        <p:txBody>
          <a:bodyPr wrap="square" lIns="0" tIns="0" rIns="0" bIns="0" rtlCol="0" anchor="ctr"/>
          <a:lstStyle/>
          <a:p>
            <a:pPr algn="ctr" indent="0" marL="0">
              <a:buNone/>
            </a:pPr>
            <a:r>
              <a:rPr lang="en-US" sz="850" dirty="0">
                <a:solidFill>
                  <a:srgbClr val="DDDDDD"/>
                </a:solidFill>
                <a:latin typeface="Calibri" pitchFamily="34" charset="0"/>
                <a:ea typeface="Calibri" pitchFamily="34" charset="-122"/>
                <a:cs typeface="Calibri" pitchFamily="34" charset="-120"/>
              </a:rPr>
              <a:t>Labels active</a:t>
            </a:r>
            <a:endParaRPr lang="en-US" sz="850" dirty="0"/>
          </a:p>
        </p:txBody>
      </p:sp>
      <p:sp>
        <p:nvSpPr>
          <p:cNvPr id="14" name="Text 12"/>
          <p:cNvSpPr/>
          <p:nvPr/>
        </p:nvSpPr>
        <p:spPr>
          <a:xfrm>
            <a:off x="2212848" y="3639312"/>
            <a:ext cx="1097280" cy="201168"/>
          </a:xfrm>
          <a:prstGeom prst="rect">
            <a:avLst/>
          </a:prstGeom>
          <a:solidFill>
            <a:srgbClr val="FFFFFF">
              <a:alpha val="15000"/>
            </a:srgbClr>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P1-P2</a:t>
            </a:r>
            <a:endParaRPr lang="en-US" sz="800" dirty="0"/>
          </a:p>
        </p:txBody>
      </p:sp>
      <p:sp>
        <p:nvSpPr>
          <p:cNvPr id="15" name="Shape 13"/>
          <p:cNvSpPr/>
          <p:nvPr/>
        </p:nvSpPr>
        <p:spPr>
          <a:xfrm>
            <a:off x="3602736" y="1828800"/>
            <a:ext cx="1463040" cy="2103120"/>
          </a:xfrm>
          <a:prstGeom prst="rect">
            <a:avLst/>
          </a:prstGeom>
          <a:solidFill>
            <a:srgbClr val="0E7C7B"/>
          </a:solidFill>
          <a:ln/>
          <a:effectLst>
            <a:outerShdw sx="100000" sy="100000" kx="0" ky="0" algn="bl" rotWithShape="0" blurRad="76200" dist="25400" dir="8100000">
              <a:srgbClr val="000000">
                <a:alpha val="12000"/>
              </a:srgbClr>
            </a:outerShdw>
          </a:effectLst>
        </p:spPr>
      </p:sp>
      <p:sp>
        <p:nvSpPr>
          <p:cNvPr id="16" name="Text 14"/>
          <p:cNvSpPr/>
          <p:nvPr/>
        </p:nvSpPr>
        <p:spPr>
          <a:xfrm>
            <a:off x="3602736" y="1901952"/>
            <a:ext cx="1463040" cy="365760"/>
          </a:xfrm>
          <a:prstGeom prst="rect">
            <a:avLst/>
          </a:prstGeom>
          <a:noFill/>
          <a:ln/>
        </p:spPr>
        <p:txBody>
          <a:bodyPr wrap="square" lIns="0" tIns="0" rIns="0" bIns="0" rtlCol="0" anchor="ctr"/>
          <a:lstStyle/>
          <a:p>
            <a:pPr algn="ctr" indent="0" marL="0">
              <a:buNone/>
            </a:pPr>
            <a:r>
              <a:rPr lang="en-US" sz="2800" b="1" dirty="0">
                <a:solidFill>
                  <a:srgbClr val="FFFFFF">
                    <a:alpha val="30000"/>
                  </a:srgbClr>
                </a:solidFill>
                <a:latin typeface="Trebuchet MS" pitchFamily="34" charset="0"/>
                <a:ea typeface="Trebuchet MS" pitchFamily="34" charset="-122"/>
                <a:cs typeface="Trebuchet MS" pitchFamily="34" charset="-120"/>
              </a:rPr>
              <a:t>3</a:t>
            </a:r>
            <a:endParaRPr lang="en-US" sz="2800" dirty="0"/>
          </a:p>
        </p:txBody>
      </p:sp>
      <p:sp>
        <p:nvSpPr>
          <p:cNvPr id="17" name="Text 15"/>
          <p:cNvSpPr/>
          <p:nvPr/>
        </p:nvSpPr>
        <p:spPr>
          <a:xfrm>
            <a:off x="3602736" y="2194560"/>
            <a:ext cx="146304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Defined</a:t>
            </a:r>
            <a:endParaRPr lang="en-US" sz="1200" dirty="0"/>
          </a:p>
        </p:txBody>
      </p:sp>
      <p:sp>
        <p:nvSpPr>
          <p:cNvPr id="18" name="Text 16"/>
          <p:cNvSpPr/>
          <p:nvPr/>
        </p:nvSpPr>
        <p:spPr>
          <a:xfrm>
            <a:off x="3602736" y="2468880"/>
            <a:ext cx="1463040" cy="182880"/>
          </a:xfrm>
          <a:prstGeom prst="rect">
            <a:avLst/>
          </a:prstGeom>
          <a:noFill/>
          <a:ln/>
        </p:spPr>
        <p:txBody>
          <a:bodyPr wrap="square" lIns="0" tIns="0" rIns="0" bIns="0" rtlCol="0" anchor="ctr"/>
          <a:lstStyle/>
          <a:p>
            <a:pPr algn="ctr" indent="0" marL="0">
              <a:buNone/>
            </a:pPr>
            <a:r>
              <a:rPr lang="en-US" sz="850" dirty="0">
                <a:solidFill>
                  <a:srgbClr val="DDDDDD"/>
                </a:solidFill>
                <a:latin typeface="Calibri" pitchFamily="34" charset="0"/>
                <a:ea typeface="Calibri" pitchFamily="34" charset="-122"/>
                <a:cs typeface="Calibri" pitchFamily="34" charset="-120"/>
              </a:rPr>
              <a:t>Glossary live</a:t>
            </a:r>
            <a:endParaRPr lang="en-US" sz="850" dirty="0"/>
          </a:p>
        </p:txBody>
      </p:sp>
      <p:sp>
        <p:nvSpPr>
          <p:cNvPr id="19" name="Text 17"/>
          <p:cNvSpPr/>
          <p:nvPr/>
        </p:nvSpPr>
        <p:spPr>
          <a:xfrm>
            <a:off x="3602736" y="2670048"/>
            <a:ext cx="1463040" cy="182880"/>
          </a:xfrm>
          <a:prstGeom prst="rect">
            <a:avLst/>
          </a:prstGeom>
          <a:noFill/>
          <a:ln/>
        </p:spPr>
        <p:txBody>
          <a:bodyPr wrap="square" lIns="0" tIns="0" rIns="0" bIns="0" rtlCol="0" anchor="ctr"/>
          <a:lstStyle/>
          <a:p>
            <a:pPr algn="ctr" indent="0" marL="0">
              <a:buNone/>
            </a:pPr>
            <a:r>
              <a:rPr lang="en-US" sz="850" dirty="0">
                <a:solidFill>
                  <a:srgbClr val="DDDDDD"/>
                </a:solidFill>
                <a:latin typeface="Calibri" pitchFamily="34" charset="0"/>
                <a:ea typeface="Calibri" pitchFamily="34" charset="-122"/>
                <a:cs typeface="Calibri" pitchFamily="34" charset="-120"/>
              </a:rPr>
              <a:t>Products curated</a:t>
            </a:r>
            <a:endParaRPr lang="en-US" sz="850" dirty="0"/>
          </a:p>
        </p:txBody>
      </p:sp>
      <p:sp>
        <p:nvSpPr>
          <p:cNvPr id="20" name="Text 18"/>
          <p:cNvSpPr/>
          <p:nvPr/>
        </p:nvSpPr>
        <p:spPr>
          <a:xfrm>
            <a:off x="3785616" y="3639312"/>
            <a:ext cx="1097280" cy="201168"/>
          </a:xfrm>
          <a:prstGeom prst="rect">
            <a:avLst/>
          </a:prstGeom>
          <a:solidFill>
            <a:srgbClr val="FFFFFF">
              <a:alpha val="15000"/>
            </a:srgbClr>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P3-P4</a:t>
            </a:r>
            <a:endParaRPr lang="en-US" sz="800" dirty="0"/>
          </a:p>
        </p:txBody>
      </p:sp>
      <p:sp>
        <p:nvSpPr>
          <p:cNvPr id="21" name="Shape 19"/>
          <p:cNvSpPr/>
          <p:nvPr/>
        </p:nvSpPr>
        <p:spPr>
          <a:xfrm>
            <a:off x="5175504" y="1234440"/>
            <a:ext cx="1463040" cy="2697480"/>
          </a:xfrm>
          <a:prstGeom prst="rect">
            <a:avLst/>
          </a:prstGeom>
          <a:solidFill>
            <a:srgbClr val="0A6665"/>
          </a:solidFill>
          <a:ln/>
          <a:effectLst>
            <a:outerShdw sx="100000" sy="100000" kx="0" ky="0" algn="bl" rotWithShape="0" blurRad="76200" dist="25400" dir="8100000">
              <a:srgbClr val="000000">
                <a:alpha val="12000"/>
              </a:srgbClr>
            </a:outerShdw>
          </a:effectLst>
        </p:spPr>
      </p:sp>
      <p:sp>
        <p:nvSpPr>
          <p:cNvPr id="22" name="Text 20"/>
          <p:cNvSpPr/>
          <p:nvPr/>
        </p:nvSpPr>
        <p:spPr>
          <a:xfrm>
            <a:off x="5175504" y="1307592"/>
            <a:ext cx="1463040" cy="365760"/>
          </a:xfrm>
          <a:prstGeom prst="rect">
            <a:avLst/>
          </a:prstGeom>
          <a:noFill/>
          <a:ln/>
        </p:spPr>
        <p:txBody>
          <a:bodyPr wrap="square" lIns="0" tIns="0" rIns="0" bIns="0" rtlCol="0" anchor="ctr"/>
          <a:lstStyle/>
          <a:p>
            <a:pPr algn="ctr" indent="0" marL="0">
              <a:buNone/>
            </a:pPr>
            <a:r>
              <a:rPr lang="en-US" sz="2800" b="1" dirty="0">
                <a:solidFill>
                  <a:srgbClr val="FFFFFF">
                    <a:alpha val="30000"/>
                  </a:srgbClr>
                </a:solidFill>
                <a:latin typeface="Trebuchet MS" pitchFamily="34" charset="0"/>
                <a:ea typeface="Trebuchet MS" pitchFamily="34" charset="-122"/>
                <a:cs typeface="Trebuchet MS" pitchFamily="34" charset="-120"/>
              </a:rPr>
              <a:t>4</a:t>
            </a:r>
            <a:endParaRPr lang="en-US" sz="2800" dirty="0"/>
          </a:p>
        </p:txBody>
      </p:sp>
      <p:sp>
        <p:nvSpPr>
          <p:cNvPr id="23" name="Text 21"/>
          <p:cNvSpPr/>
          <p:nvPr/>
        </p:nvSpPr>
        <p:spPr>
          <a:xfrm>
            <a:off x="5175504" y="1600200"/>
            <a:ext cx="146304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Measured</a:t>
            </a:r>
            <a:endParaRPr lang="en-US" sz="1200" dirty="0"/>
          </a:p>
        </p:txBody>
      </p:sp>
      <p:sp>
        <p:nvSpPr>
          <p:cNvPr id="24" name="Text 22"/>
          <p:cNvSpPr/>
          <p:nvPr/>
        </p:nvSpPr>
        <p:spPr>
          <a:xfrm>
            <a:off x="5175504" y="1874520"/>
            <a:ext cx="1463040" cy="182880"/>
          </a:xfrm>
          <a:prstGeom prst="rect">
            <a:avLst/>
          </a:prstGeom>
          <a:noFill/>
          <a:ln/>
        </p:spPr>
        <p:txBody>
          <a:bodyPr wrap="square" lIns="0" tIns="0" rIns="0" bIns="0" rtlCol="0" anchor="ctr"/>
          <a:lstStyle/>
          <a:p>
            <a:pPr algn="ctr" indent="0" marL="0">
              <a:buNone/>
            </a:pPr>
            <a:r>
              <a:rPr lang="en-US" sz="850" dirty="0">
                <a:solidFill>
                  <a:srgbClr val="DDDDDD"/>
                </a:solidFill>
                <a:latin typeface="Calibri" pitchFamily="34" charset="0"/>
                <a:ea typeface="Calibri" pitchFamily="34" charset="-122"/>
                <a:cs typeface="Calibri" pitchFamily="34" charset="-120"/>
              </a:rPr>
              <a:t>DLP enforcing</a:t>
            </a:r>
            <a:endParaRPr lang="en-US" sz="850" dirty="0"/>
          </a:p>
        </p:txBody>
      </p:sp>
      <p:sp>
        <p:nvSpPr>
          <p:cNvPr id="25" name="Text 23"/>
          <p:cNvSpPr/>
          <p:nvPr/>
        </p:nvSpPr>
        <p:spPr>
          <a:xfrm>
            <a:off x="5175504" y="2075688"/>
            <a:ext cx="1463040" cy="182880"/>
          </a:xfrm>
          <a:prstGeom prst="rect">
            <a:avLst/>
          </a:prstGeom>
          <a:noFill/>
          <a:ln/>
        </p:spPr>
        <p:txBody>
          <a:bodyPr wrap="square" lIns="0" tIns="0" rIns="0" bIns="0" rtlCol="0" anchor="ctr"/>
          <a:lstStyle/>
          <a:p>
            <a:pPr algn="ctr" indent="0" marL="0">
              <a:buNone/>
            </a:pPr>
            <a:r>
              <a:rPr lang="en-US" sz="850" dirty="0">
                <a:solidFill>
                  <a:srgbClr val="DDDDDD"/>
                </a:solidFill>
                <a:latin typeface="Calibri" pitchFamily="34" charset="0"/>
                <a:ea typeface="Calibri" pitchFamily="34" charset="-122"/>
                <a:cs typeface="Calibri" pitchFamily="34" charset="-120"/>
              </a:rPr>
              <a:t>DSPM active</a:t>
            </a:r>
            <a:endParaRPr lang="en-US" sz="850" dirty="0"/>
          </a:p>
        </p:txBody>
      </p:sp>
      <p:sp>
        <p:nvSpPr>
          <p:cNvPr id="26" name="Text 24"/>
          <p:cNvSpPr/>
          <p:nvPr/>
        </p:nvSpPr>
        <p:spPr>
          <a:xfrm>
            <a:off x="5358384" y="3639312"/>
            <a:ext cx="1097280" cy="201168"/>
          </a:xfrm>
          <a:prstGeom prst="rect">
            <a:avLst/>
          </a:prstGeom>
          <a:solidFill>
            <a:srgbClr val="FFFFFF">
              <a:alpha val="15000"/>
            </a:srgbClr>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P5</a:t>
            </a:r>
            <a:endParaRPr lang="en-US" sz="800" dirty="0"/>
          </a:p>
        </p:txBody>
      </p:sp>
      <p:sp>
        <p:nvSpPr>
          <p:cNvPr id="27" name="Shape 25"/>
          <p:cNvSpPr/>
          <p:nvPr/>
        </p:nvSpPr>
        <p:spPr>
          <a:xfrm>
            <a:off x="6748272" y="640080"/>
            <a:ext cx="1463040" cy="3291840"/>
          </a:xfrm>
          <a:prstGeom prst="rect">
            <a:avLst/>
          </a:prstGeom>
          <a:solidFill>
            <a:srgbClr val="1B3A5C"/>
          </a:solidFill>
          <a:ln/>
          <a:effectLst>
            <a:outerShdw sx="100000" sy="100000" kx="0" ky="0" algn="bl" rotWithShape="0" blurRad="76200" dist="25400" dir="8100000">
              <a:srgbClr val="000000">
                <a:alpha val="12000"/>
              </a:srgbClr>
            </a:outerShdw>
          </a:effectLst>
        </p:spPr>
      </p:sp>
      <p:sp>
        <p:nvSpPr>
          <p:cNvPr id="28" name="Text 26"/>
          <p:cNvSpPr/>
          <p:nvPr/>
        </p:nvSpPr>
        <p:spPr>
          <a:xfrm>
            <a:off x="6748272" y="713232"/>
            <a:ext cx="1463040" cy="365760"/>
          </a:xfrm>
          <a:prstGeom prst="rect">
            <a:avLst/>
          </a:prstGeom>
          <a:noFill/>
          <a:ln/>
        </p:spPr>
        <p:txBody>
          <a:bodyPr wrap="square" lIns="0" tIns="0" rIns="0" bIns="0" rtlCol="0" anchor="ctr"/>
          <a:lstStyle/>
          <a:p>
            <a:pPr algn="ctr" indent="0" marL="0">
              <a:buNone/>
            </a:pPr>
            <a:r>
              <a:rPr lang="en-US" sz="2800" b="1" dirty="0">
                <a:solidFill>
                  <a:srgbClr val="FFFFFF">
                    <a:alpha val="30000"/>
                  </a:srgbClr>
                </a:solidFill>
                <a:latin typeface="Trebuchet MS" pitchFamily="34" charset="0"/>
                <a:ea typeface="Trebuchet MS" pitchFamily="34" charset="-122"/>
                <a:cs typeface="Trebuchet MS" pitchFamily="34" charset="-120"/>
              </a:rPr>
              <a:t>5</a:t>
            </a:r>
            <a:endParaRPr lang="en-US" sz="2800" dirty="0"/>
          </a:p>
        </p:txBody>
      </p:sp>
      <p:sp>
        <p:nvSpPr>
          <p:cNvPr id="29" name="Text 27"/>
          <p:cNvSpPr/>
          <p:nvPr/>
        </p:nvSpPr>
        <p:spPr>
          <a:xfrm>
            <a:off x="6748272" y="1005840"/>
            <a:ext cx="146304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Optimised</a:t>
            </a:r>
            <a:endParaRPr lang="en-US" sz="1200" dirty="0"/>
          </a:p>
        </p:txBody>
      </p:sp>
      <p:sp>
        <p:nvSpPr>
          <p:cNvPr id="30" name="Text 28"/>
          <p:cNvSpPr/>
          <p:nvPr/>
        </p:nvSpPr>
        <p:spPr>
          <a:xfrm>
            <a:off x="6748272" y="1280160"/>
            <a:ext cx="1463040" cy="182880"/>
          </a:xfrm>
          <a:prstGeom prst="rect">
            <a:avLst/>
          </a:prstGeom>
          <a:noFill/>
          <a:ln/>
        </p:spPr>
        <p:txBody>
          <a:bodyPr wrap="square" lIns="0" tIns="0" rIns="0" bIns="0" rtlCol="0" anchor="ctr"/>
          <a:lstStyle/>
          <a:p>
            <a:pPr algn="ctr" indent="0" marL="0">
              <a:buNone/>
            </a:pPr>
            <a:r>
              <a:rPr lang="en-US" sz="850" dirty="0">
                <a:solidFill>
                  <a:srgbClr val="DDDDDD"/>
                </a:solidFill>
                <a:latin typeface="Calibri" pitchFamily="34" charset="0"/>
                <a:ea typeface="Calibri" pitchFamily="34" charset="-122"/>
                <a:cs typeface="Calibri" pitchFamily="34" charset="-120"/>
              </a:rPr>
              <a:t>Full suite</a:t>
            </a:r>
            <a:endParaRPr lang="en-US" sz="850" dirty="0"/>
          </a:p>
        </p:txBody>
      </p:sp>
      <p:sp>
        <p:nvSpPr>
          <p:cNvPr id="31" name="Text 29"/>
          <p:cNvSpPr/>
          <p:nvPr/>
        </p:nvSpPr>
        <p:spPr>
          <a:xfrm>
            <a:off x="6748272" y="1481328"/>
            <a:ext cx="1463040" cy="182880"/>
          </a:xfrm>
          <a:prstGeom prst="rect">
            <a:avLst/>
          </a:prstGeom>
          <a:noFill/>
          <a:ln/>
        </p:spPr>
        <p:txBody>
          <a:bodyPr wrap="square" lIns="0" tIns="0" rIns="0" bIns="0" rtlCol="0" anchor="ctr"/>
          <a:lstStyle/>
          <a:p>
            <a:pPr algn="ctr" indent="0" marL="0">
              <a:buNone/>
            </a:pPr>
            <a:r>
              <a:rPr lang="en-US" sz="850" dirty="0">
                <a:solidFill>
                  <a:srgbClr val="DDDDDD"/>
                </a:solidFill>
                <a:latin typeface="Calibri" pitchFamily="34" charset="0"/>
                <a:ea typeface="Calibri" pitchFamily="34" charset="-122"/>
                <a:cs typeface="Calibri" pitchFamily="34" charset="-120"/>
              </a:rPr>
              <a:t>AI governance</a:t>
            </a:r>
            <a:endParaRPr lang="en-US" sz="850" dirty="0"/>
          </a:p>
        </p:txBody>
      </p:sp>
      <p:sp>
        <p:nvSpPr>
          <p:cNvPr id="32" name="Text 30"/>
          <p:cNvSpPr/>
          <p:nvPr/>
        </p:nvSpPr>
        <p:spPr>
          <a:xfrm>
            <a:off x="6931152" y="3639312"/>
            <a:ext cx="1097280" cy="201168"/>
          </a:xfrm>
          <a:prstGeom prst="rect">
            <a:avLst/>
          </a:prstGeom>
          <a:solidFill>
            <a:srgbClr val="FFFFFF">
              <a:alpha val="15000"/>
            </a:srgbClr>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P6+</a:t>
            </a:r>
            <a:endParaRPr lang="en-US" sz="800" dirty="0"/>
          </a:p>
        </p:txBody>
      </p:sp>
      <p:sp>
        <p:nvSpPr>
          <p:cNvPr id="33" name="Text 31"/>
          <p:cNvSpPr/>
          <p:nvPr/>
        </p:nvSpPr>
        <p:spPr>
          <a:xfrm>
            <a:off x="457200" y="4160520"/>
            <a:ext cx="8229600" cy="274320"/>
          </a:xfrm>
          <a:prstGeom prst="rect">
            <a:avLst/>
          </a:prstGeom>
          <a:noFill/>
          <a:ln/>
        </p:spPr>
        <p:txBody>
          <a:bodyPr wrap="square" lIns="0" tIns="0" rIns="0" bIns="0" rtlCol="0" anchor="ctr"/>
          <a:lstStyle/>
          <a:p>
            <a:pPr algn="ctr" indent="0" marL="0">
              <a:buNone/>
            </a:pPr>
            <a:r>
              <a:rPr lang="en-US" sz="1000" b="1" dirty="0">
                <a:solidFill>
                  <a:srgbClr val="1B3A5C"/>
                </a:solidFill>
                <a:latin typeface="Calibri" pitchFamily="34" charset="0"/>
                <a:ea typeface="Calibri" pitchFamily="34" charset="-122"/>
                <a:cs typeface="Calibri" pitchFamily="34" charset="-120"/>
              </a:rPr>
              <a:t>← Lower Maturity                                                                                                              Higher Maturity →</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9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5C"/>
          </a:solidFill>
          <a:ln/>
        </p:spPr>
      </p:sp>
      <p:sp>
        <p:nvSpPr>
          <p:cNvPr id="3" name="Text 1"/>
          <p:cNvSpPr/>
          <p:nvPr/>
        </p:nvSpPr>
        <p:spPr>
          <a:xfrm>
            <a:off x="548640" y="137160"/>
            <a:ext cx="7315200" cy="54864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Risk Register &amp; Mitigation</a:t>
            </a:r>
            <a:endParaRPr lang="en-US" sz="2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274320" y="914400"/>
          <a:ext cx="8595360" cy="914400"/>
        </p:xfrm>
        <a:graphic>
          <a:graphicData uri="http://schemas.openxmlformats.org/drawingml/2006/table">
            <a:tbl>
              <a:tblPr/>
              <a:tblGrid>
                <a:gridCol w="2011680"/>
                <a:gridCol w="457200"/>
                <a:gridCol w="457200"/>
                <a:gridCol w="5669280"/>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Risk</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L</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I</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Mitigation</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r>
              <a:tr h="0">
                <a:tc>
                  <a:txBody>
                    <a:bodyPr/>
                    <a:lstStyle/>
                    <a:p>
                      <a:pPr indent="0" marL="0">
                        <a:buNone/>
                      </a:pPr>
                      <a:r>
                        <a:rPr lang="en-US" sz="850" b="1" dirty="0">
                          <a:solidFill>
                            <a:srgbClr val="333333"/>
                          </a:solidFill>
                          <a:latin typeface="Calibri" pitchFamily="34" charset="0"/>
                          <a:ea typeface="Calibri" pitchFamily="34" charset="-122"/>
                          <a:cs typeface="Calibri" pitchFamily="34" charset="-120"/>
                        </a:rPr>
                        <a:t>Insufficient scan coverage</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900" b="1" dirty="0">
                          <a:solidFill>
                            <a:srgbClr val="333333"/>
                          </a:solidFill>
                          <a:latin typeface="Calibri" pitchFamily="34" charset="0"/>
                          <a:ea typeface="Calibri" pitchFamily="34" charset="-122"/>
                          <a:cs typeface="Calibri" pitchFamily="34" charset="-120"/>
                        </a:rPr>
                        <a:t>M</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900" b="1" dirty="0">
                          <a:solidFill>
                            <a:srgbClr val="CC3333"/>
                          </a:solidFill>
                          <a:latin typeface="Calibri" pitchFamily="34" charset="0"/>
                          <a:ea typeface="Calibri" pitchFamily="34" charset="-122"/>
                          <a:cs typeface="Calibri" pitchFamily="34" charset="-120"/>
                        </a:rPr>
                        <a:t>H</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8E8"/>
                    </a:solidFill>
                  </a:tcPr>
                </a:tc>
                <a:tc>
                  <a:txBody>
                    <a:bodyPr/>
                    <a:lstStyle/>
                    <a:p>
                      <a:pPr indent="0" marL="0">
                        <a:buNone/>
                      </a:pPr>
                      <a:r>
                        <a:rPr lang="en-US" sz="850" dirty="0">
                          <a:solidFill>
                            <a:srgbClr val="333333"/>
                          </a:solidFill>
                          <a:latin typeface="Calibri" pitchFamily="34" charset="0"/>
                          <a:ea typeface="Calibri" pitchFamily="34" charset="-122"/>
                          <a:cs typeface="Calibri" pitchFamily="34" charset="-120"/>
                        </a:rPr>
                        <a:t>Start with highest-value sources; quarterly review</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0">
                <a:tc>
                  <a:txBody>
                    <a:bodyPr/>
                    <a:lstStyle/>
                    <a:p>
                      <a:pPr indent="0" marL="0">
                        <a:buNone/>
                      </a:pPr>
                      <a:r>
                        <a:rPr lang="en-US" sz="850" b="1" dirty="0">
                          <a:solidFill>
                            <a:srgbClr val="333333"/>
                          </a:solidFill>
                          <a:latin typeface="Calibri" pitchFamily="34" charset="0"/>
                          <a:ea typeface="Calibri" pitchFamily="34" charset="-122"/>
                          <a:cs typeface="Calibri" pitchFamily="34" charset="-120"/>
                        </a:rPr>
                        <a:t>Glossary terms unused</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CC3333"/>
                          </a:solidFill>
                          <a:latin typeface="Calibri" pitchFamily="34" charset="0"/>
                          <a:ea typeface="Calibri" pitchFamily="34" charset="-122"/>
                          <a:cs typeface="Calibri" pitchFamily="34" charset="-120"/>
                        </a:rPr>
                        <a:t>H</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8E8"/>
                    </a:solidFill>
                  </a:tcPr>
                </a:tc>
                <a:tc>
                  <a:txBody>
                    <a:bodyPr/>
                    <a:lstStyle/>
                    <a:p>
                      <a:pPr algn="ctr" indent="0" marL="0">
                        <a:buNone/>
                      </a:pPr>
                      <a:r>
                        <a:rPr lang="en-US" sz="900" b="1" dirty="0">
                          <a:solidFill>
                            <a:srgbClr val="333333"/>
                          </a:solidFill>
                          <a:latin typeface="Calibri" pitchFamily="34" charset="0"/>
                          <a:ea typeface="Calibri" pitchFamily="34" charset="-122"/>
                          <a:cs typeface="Calibri" pitchFamily="34" charset="-120"/>
                        </a:rPr>
                        <a:t>M</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50" dirty="0">
                          <a:solidFill>
                            <a:srgbClr val="333333"/>
                          </a:solidFill>
                          <a:latin typeface="Calibri" pitchFamily="34" charset="0"/>
                          <a:ea typeface="Calibri" pitchFamily="34" charset="-122"/>
                          <a:cs typeface="Calibri" pitchFamily="34" charset="-120"/>
                        </a:rPr>
                        <a:t>Mandate linking to products before publication</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333333"/>
                          </a:solidFill>
                          <a:latin typeface="Calibri" pitchFamily="34" charset="0"/>
                          <a:ea typeface="Calibri" pitchFamily="34" charset="-122"/>
                          <a:cs typeface="Calibri" pitchFamily="34" charset="-120"/>
                        </a:rPr>
                        <a:t>Poor catalog trust</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900" b="1" dirty="0">
                          <a:solidFill>
                            <a:srgbClr val="333333"/>
                          </a:solidFill>
                          <a:latin typeface="Calibri" pitchFamily="34" charset="0"/>
                          <a:ea typeface="Calibri" pitchFamily="34" charset="-122"/>
                          <a:cs typeface="Calibri" pitchFamily="34" charset="-120"/>
                        </a:rPr>
                        <a:t>M</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900" b="1" dirty="0">
                          <a:solidFill>
                            <a:srgbClr val="CC3333"/>
                          </a:solidFill>
                          <a:latin typeface="Calibri" pitchFamily="34" charset="0"/>
                          <a:ea typeface="Calibri" pitchFamily="34" charset="-122"/>
                          <a:cs typeface="Calibri" pitchFamily="34" charset="-120"/>
                        </a:rPr>
                        <a:t>H</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8E8"/>
                    </a:solidFill>
                  </a:tcPr>
                </a:tc>
                <a:tc>
                  <a:txBody>
                    <a:bodyPr/>
                    <a:lstStyle/>
                    <a:p>
                      <a:pPr indent="0" marL="0">
                        <a:buNone/>
                      </a:pPr>
                      <a:r>
                        <a:rPr lang="en-US" sz="850" dirty="0">
                          <a:solidFill>
                            <a:srgbClr val="333333"/>
                          </a:solidFill>
                          <a:latin typeface="Calibri" pitchFamily="34" charset="0"/>
                          <a:ea typeface="Calibri" pitchFamily="34" charset="-122"/>
                          <a:cs typeface="Calibri" pitchFamily="34" charset="-120"/>
                        </a:rPr>
                        <a:t>Quality rules before broad access</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0">
                <a:tc>
                  <a:txBody>
                    <a:bodyPr/>
                    <a:lstStyle/>
                    <a:p>
                      <a:pPr indent="0" marL="0">
                        <a:buNone/>
                      </a:pPr>
                      <a:r>
                        <a:rPr lang="en-US" sz="850" b="1" dirty="0">
                          <a:solidFill>
                            <a:srgbClr val="333333"/>
                          </a:solidFill>
                          <a:latin typeface="Calibri" pitchFamily="34" charset="0"/>
                          <a:ea typeface="Calibri" pitchFamily="34" charset="-122"/>
                          <a:cs typeface="Calibri" pitchFamily="34" charset="-120"/>
                        </a:rPr>
                        <a:t>DLP false positives</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CC3333"/>
                          </a:solidFill>
                          <a:latin typeface="Calibri" pitchFamily="34" charset="0"/>
                          <a:ea typeface="Calibri" pitchFamily="34" charset="-122"/>
                          <a:cs typeface="Calibri" pitchFamily="34" charset="-120"/>
                        </a:rPr>
                        <a:t>H</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8E8"/>
                    </a:solidFill>
                  </a:tcPr>
                </a:tc>
                <a:tc>
                  <a:txBody>
                    <a:bodyPr/>
                    <a:lstStyle/>
                    <a:p>
                      <a:pPr algn="ctr" indent="0" marL="0">
                        <a:buNone/>
                      </a:pPr>
                      <a:r>
                        <a:rPr lang="en-US" sz="900" b="1" dirty="0">
                          <a:solidFill>
                            <a:srgbClr val="333333"/>
                          </a:solidFill>
                          <a:latin typeface="Calibri" pitchFamily="34" charset="0"/>
                          <a:ea typeface="Calibri" pitchFamily="34" charset="-122"/>
                          <a:cs typeface="Calibri" pitchFamily="34" charset="-120"/>
                        </a:rPr>
                        <a:t>M</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50" dirty="0">
                          <a:solidFill>
                            <a:srgbClr val="333333"/>
                          </a:solidFill>
                          <a:latin typeface="Calibri" pitchFamily="34" charset="0"/>
                          <a:ea typeface="Calibri" pitchFamily="34" charset="-122"/>
                          <a:cs typeface="Calibri" pitchFamily="34" charset="-120"/>
                        </a:rPr>
                        <a:t>Simulation mode first; tune before enforcement</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333333"/>
                          </a:solidFill>
                          <a:latin typeface="Calibri" pitchFamily="34" charset="0"/>
                          <a:ea typeface="Calibri" pitchFamily="34" charset="-122"/>
                          <a:cs typeface="Calibri" pitchFamily="34" charset="-120"/>
                        </a:rPr>
                        <a:t>Licensing gaps</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900" b="1" dirty="0">
                          <a:solidFill>
                            <a:srgbClr val="333333"/>
                          </a:solidFill>
                          <a:latin typeface="Calibri" pitchFamily="34" charset="0"/>
                          <a:ea typeface="Calibri" pitchFamily="34" charset="-122"/>
                          <a:cs typeface="Calibri" pitchFamily="34" charset="-120"/>
                        </a:rPr>
                        <a:t>M</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900" b="1" dirty="0">
                          <a:solidFill>
                            <a:srgbClr val="CC3333"/>
                          </a:solidFill>
                          <a:latin typeface="Calibri" pitchFamily="34" charset="0"/>
                          <a:ea typeface="Calibri" pitchFamily="34" charset="-122"/>
                          <a:cs typeface="Calibri" pitchFamily="34" charset="-120"/>
                        </a:rPr>
                        <a:t>H</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8E8"/>
                    </a:solidFill>
                  </a:tcPr>
                </a:tc>
                <a:tc>
                  <a:txBody>
                    <a:bodyPr/>
                    <a:lstStyle/>
                    <a:p>
                      <a:pPr indent="0" marL="0">
                        <a:buNone/>
                      </a:pPr>
                      <a:r>
                        <a:rPr lang="en-US" sz="850" dirty="0">
                          <a:solidFill>
                            <a:srgbClr val="333333"/>
                          </a:solidFill>
                          <a:latin typeface="Calibri" pitchFamily="34" charset="0"/>
                          <a:ea typeface="Calibri" pitchFamily="34" charset="-122"/>
                          <a:cs typeface="Calibri" pitchFamily="34" charset="-120"/>
                        </a:rPr>
                        <a:t>Pre-assess E3/E5/add-on mapping</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0">
                <a:tc>
                  <a:txBody>
                    <a:bodyPr/>
                    <a:lstStyle/>
                    <a:p>
                      <a:pPr indent="0" marL="0">
                        <a:buNone/>
                      </a:pPr>
                      <a:r>
                        <a:rPr lang="en-US" sz="850" b="1" dirty="0">
                          <a:solidFill>
                            <a:srgbClr val="333333"/>
                          </a:solidFill>
                          <a:latin typeface="Calibri" pitchFamily="34" charset="0"/>
                          <a:ea typeface="Calibri" pitchFamily="34" charset="-122"/>
                          <a:cs typeface="Calibri" pitchFamily="34" charset="-120"/>
                        </a:rPr>
                        <a:t>Org resistance</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CC3333"/>
                          </a:solidFill>
                          <a:latin typeface="Calibri" pitchFamily="34" charset="0"/>
                          <a:ea typeface="Calibri" pitchFamily="34" charset="-122"/>
                          <a:cs typeface="Calibri" pitchFamily="34" charset="-120"/>
                        </a:rPr>
                        <a:t>H</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8E8"/>
                    </a:solidFill>
                  </a:tcPr>
                </a:tc>
                <a:tc>
                  <a:txBody>
                    <a:bodyPr/>
                    <a:lstStyle/>
                    <a:p>
                      <a:pPr algn="ctr" indent="0" marL="0">
                        <a:buNone/>
                      </a:pPr>
                      <a:r>
                        <a:rPr lang="en-US" sz="900" b="1" dirty="0">
                          <a:solidFill>
                            <a:srgbClr val="CC3333"/>
                          </a:solidFill>
                          <a:latin typeface="Calibri" pitchFamily="34" charset="0"/>
                          <a:ea typeface="Calibri" pitchFamily="34" charset="-122"/>
                          <a:cs typeface="Calibri" pitchFamily="34" charset="-120"/>
                        </a:rPr>
                        <a:t>H</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8E8"/>
                    </a:solidFill>
                  </a:tcPr>
                </a:tc>
                <a:tc>
                  <a:txBody>
                    <a:bodyPr/>
                    <a:lstStyle/>
                    <a:p>
                      <a:pPr indent="0" marL="0">
                        <a:buNone/>
                      </a:pPr>
                      <a:r>
                        <a:rPr lang="en-US" sz="850" dirty="0">
                          <a:solidFill>
                            <a:srgbClr val="333333"/>
                          </a:solidFill>
                          <a:latin typeface="Calibri" pitchFamily="34" charset="0"/>
                          <a:ea typeface="Calibri" pitchFamily="34" charset="-122"/>
                          <a:cs typeface="Calibri" pitchFamily="34" charset="-120"/>
                        </a:rPr>
                        <a:t>Executive sponsorship; start where stewardship exists</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333333"/>
                          </a:solidFill>
                          <a:latin typeface="Calibri" pitchFamily="34" charset="0"/>
                          <a:ea typeface="Calibri" pitchFamily="34" charset="-122"/>
                          <a:cs typeface="Calibri" pitchFamily="34" charset="-120"/>
                        </a:rPr>
                        <a:t>Domain misalignment</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900" b="1" dirty="0">
                          <a:solidFill>
                            <a:srgbClr val="333333"/>
                          </a:solidFill>
                          <a:latin typeface="Calibri" pitchFamily="34" charset="0"/>
                          <a:ea typeface="Calibri" pitchFamily="34" charset="-122"/>
                          <a:cs typeface="Calibri" pitchFamily="34" charset="-120"/>
                        </a:rPr>
                        <a:t>M</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900" b="1" dirty="0">
                          <a:solidFill>
                            <a:srgbClr val="333333"/>
                          </a:solidFill>
                          <a:latin typeface="Calibri" pitchFamily="34" charset="0"/>
                          <a:ea typeface="Calibri" pitchFamily="34" charset="-122"/>
                          <a:cs typeface="Calibri" pitchFamily="34" charset="-120"/>
                        </a:rPr>
                        <a:t>M</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50" dirty="0">
                          <a:solidFill>
                            <a:srgbClr val="333333"/>
                          </a:solidFill>
                          <a:latin typeface="Calibri" pitchFamily="34" charset="0"/>
                          <a:ea typeface="Calibri" pitchFamily="34" charset="-122"/>
                          <a:cs typeface="Calibri" pitchFamily="34" charset="-120"/>
                        </a:rPr>
                        <a:t>Document platform vs governance domain distinction</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0">
                <a:tc>
                  <a:txBody>
                    <a:bodyPr/>
                    <a:lstStyle/>
                    <a:p>
                      <a:pPr indent="0" marL="0">
                        <a:buNone/>
                      </a:pPr>
                      <a:r>
                        <a:rPr lang="en-US" sz="850" b="1" dirty="0">
                          <a:solidFill>
                            <a:srgbClr val="333333"/>
                          </a:solidFill>
                          <a:latin typeface="Calibri" pitchFamily="34" charset="0"/>
                          <a:ea typeface="Calibri" pitchFamily="34" charset="-122"/>
                          <a:cs typeface="Calibri" pitchFamily="34" charset="-120"/>
                        </a:rPr>
                        <a:t>AI governance gaps</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333333"/>
                          </a:solidFill>
                          <a:latin typeface="Calibri" pitchFamily="34" charset="0"/>
                          <a:ea typeface="Calibri" pitchFamily="34" charset="-122"/>
                          <a:cs typeface="Calibri" pitchFamily="34" charset="-120"/>
                        </a:rPr>
                        <a:t>M</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CC3333"/>
                          </a:solidFill>
                          <a:latin typeface="Calibri" pitchFamily="34" charset="0"/>
                          <a:ea typeface="Calibri" pitchFamily="34" charset="-122"/>
                          <a:cs typeface="Calibri" pitchFamily="34" charset="-120"/>
                        </a:rPr>
                        <a:t>H</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8E8"/>
                    </a:solidFill>
                  </a:tcPr>
                </a:tc>
                <a:tc>
                  <a:txBody>
                    <a:bodyPr/>
                    <a:lstStyle/>
                    <a:p>
                      <a:pPr indent="0" marL="0">
                        <a:buNone/>
                      </a:pPr>
                      <a:r>
                        <a:rPr lang="en-US" sz="850" dirty="0">
                          <a:solidFill>
                            <a:srgbClr val="333333"/>
                          </a:solidFill>
                          <a:latin typeface="Calibri" pitchFamily="34" charset="0"/>
                          <a:ea typeface="Calibri" pitchFamily="34" charset="-122"/>
                          <a:cs typeface="Calibri" pitchFamily="34" charset="-120"/>
                        </a:rPr>
                        <a:t>Prioritise DSPM if Copilot deployed</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9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5C"/>
          </a:solidFill>
          <a:ln/>
        </p:spPr>
      </p:sp>
      <p:sp>
        <p:nvSpPr>
          <p:cNvPr id="3" name="Text 1"/>
          <p:cNvSpPr/>
          <p:nvPr/>
        </p:nvSpPr>
        <p:spPr>
          <a:xfrm>
            <a:off x="548640" y="137160"/>
            <a:ext cx="7315200" cy="54864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Timeline &amp; Quick Wins</a:t>
            </a:r>
            <a:endParaRPr lang="en-US" sz="2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274320" y="914400"/>
          <a:ext cx="8595360" cy="914400"/>
        </p:xfrm>
        <a:graphic>
          <a:graphicData uri="http://schemas.openxmlformats.org/drawingml/2006/table">
            <a:tbl>
              <a:tblPr/>
              <a:tblGrid>
                <a:gridCol w="1371600"/>
                <a:gridCol w="1005840"/>
                <a:gridCol w="2743200"/>
                <a:gridCol w="3474720"/>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Phase</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E7C7B"/>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Duration</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E7C7B"/>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Parallel Opportunity</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E7C7B"/>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Key Milestone</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E7C7B"/>
                    </a:solidFill>
                  </a:tcPr>
                </a:tc>
              </a:tr>
              <a:tr h="0">
                <a:tc>
                  <a:txBody>
                    <a:bodyPr/>
                    <a:lstStyle/>
                    <a:p>
                      <a:pPr algn="l" indent="0" marL="0">
                        <a:buNone/>
                      </a:pPr>
                      <a:r>
                        <a:rPr lang="en-US" sz="900" b="1" dirty="0">
                          <a:solidFill>
                            <a:srgbClr val="333333"/>
                          </a:solidFill>
                          <a:latin typeface="Calibri" pitchFamily="34" charset="0"/>
                          <a:ea typeface="Calibri" pitchFamily="34" charset="-122"/>
                          <a:cs typeface="Calibri" pitchFamily="34" charset="-120"/>
                        </a:rPr>
                        <a:t>P1: Data Map</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Wk 1-6</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Begin P2 Wk 4</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Map with tier-1 sources</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0">
                <a:tc>
                  <a:txBody>
                    <a:bodyPr/>
                    <a:lstStyle/>
                    <a:p>
                      <a:pPr algn="l" indent="0" marL="0">
                        <a:buNone/>
                      </a:pPr>
                      <a:r>
                        <a:rPr lang="en-US" sz="900" b="1" dirty="0">
                          <a:solidFill>
                            <a:srgbClr val="333333"/>
                          </a:solidFill>
                          <a:latin typeface="Calibri" pitchFamily="34" charset="0"/>
                          <a:ea typeface="Calibri" pitchFamily="34" charset="-122"/>
                          <a:cs typeface="Calibri" pitchFamily="34" charset="-120"/>
                        </a:rPr>
                        <a:t>P2: Labels</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Wk 4-10</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Begin P3 Wk 8</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Auto-labelling in simulation</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algn="l" indent="0" marL="0">
                        <a:buNone/>
                      </a:pPr>
                      <a:r>
                        <a:rPr lang="en-US" sz="900" b="1" dirty="0">
                          <a:solidFill>
                            <a:srgbClr val="333333"/>
                          </a:solidFill>
                          <a:latin typeface="Calibri" pitchFamily="34" charset="0"/>
                          <a:ea typeface="Calibri" pitchFamily="34" charset="-122"/>
                          <a:cs typeface="Calibri" pitchFamily="34" charset="-120"/>
                        </a:rPr>
                        <a:t>P3: Glossary</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Wk 8-16</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Begin P4 Wk 14</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Terms published &amp; linked</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0">
                <a:tc>
                  <a:txBody>
                    <a:bodyPr/>
                    <a:lstStyle/>
                    <a:p>
                      <a:pPr algn="l" indent="0" marL="0">
                        <a:buNone/>
                      </a:pPr>
                      <a:r>
                        <a:rPr lang="en-US" sz="900" b="1" dirty="0">
                          <a:solidFill>
                            <a:srgbClr val="333333"/>
                          </a:solidFill>
                          <a:latin typeface="Calibri" pitchFamily="34" charset="0"/>
                          <a:ea typeface="Calibri" pitchFamily="34" charset="-122"/>
                          <a:cs typeface="Calibri" pitchFamily="34" charset="-120"/>
                        </a:rPr>
                        <a:t>P4: Products</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Wk 14-22</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Begin P5 Wk 18</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Products with quality scores</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algn="l" indent="0" marL="0">
                        <a:buNone/>
                      </a:pPr>
                      <a:r>
                        <a:rPr lang="en-US" sz="900" b="1" dirty="0">
                          <a:solidFill>
                            <a:srgbClr val="333333"/>
                          </a:solidFill>
                          <a:latin typeface="Calibri" pitchFamily="34" charset="0"/>
                          <a:ea typeface="Calibri" pitchFamily="34" charset="-122"/>
                          <a:cs typeface="Calibri" pitchFamily="34" charset="-120"/>
                        </a:rPr>
                        <a:t>P5: Security</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Wk 18-28</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Begin P6 Wk 24</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DLP enforcing; DSPM active</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0">
                <a:tc>
                  <a:txBody>
                    <a:bodyPr/>
                    <a:lstStyle/>
                    <a:p>
                      <a:pPr algn="l" indent="0" marL="0">
                        <a:buNone/>
                      </a:pPr>
                      <a:r>
                        <a:rPr lang="en-US" sz="900" b="1" dirty="0">
                          <a:solidFill>
                            <a:srgbClr val="333333"/>
                          </a:solidFill>
                          <a:latin typeface="Calibri" pitchFamily="34" charset="0"/>
                          <a:ea typeface="Calibri" pitchFamily="34" charset="-122"/>
                          <a:cs typeface="Calibri" pitchFamily="34" charset="-120"/>
                        </a:rPr>
                        <a:t>P6: Maturity</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Wk 24-36+</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Continuous improvement</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Compliance score baselined</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3291840"/>
            <a:ext cx="3657600" cy="320040"/>
          </a:xfrm>
          <a:prstGeom prst="rect">
            <a:avLst/>
          </a:prstGeom>
          <a:noFill/>
          <a:ln/>
        </p:spPr>
        <p:txBody>
          <a:bodyPr wrap="square" lIns="0" tIns="0" rIns="0" bIns="0" rtlCol="0" anchor="ctr"/>
          <a:lstStyle/>
          <a:p>
            <a:pPr indent="0" marL="0">
              <a:buNone/>
            </a:pPr>
            <a:r>
              <a:rPr lang="en-US" sz="1300" b="1" dirty="0">
                <a:solidFill>
                  <a:srgbClr val="1B3A5C"/>
                </a:solidFill>
                <a:latin typeface="Trebuchet MS" pitchFamily="34" charset="0"/>
                <a:ea typeface="Trebuchet MS" pitchFamily="34" charset="-122"/>
                <a:cs typeface="Trebuchet MS" pitchFamily="34" charset="-120"/>
              </a:rPr>
              <a:t>Quick Wins – First 30 Days</a:t>
            </a:r>
            <a:endParaRPr lang="en-US" sz="1300" dirty="0"/>
          </a:p>
        </p:txBody>
      </p:sp>
      <p:sp>
        <p:nvSpPr>
          <p:cNvPr id="6" name="Shape 3"/>
          <p:cNvSpPr/>
          <p:nvPr/>
        </p:nvSpPr>
        <p:spPr>
          <a:xfrm>
            <a:off x="457200" y="3703320"/>
            <a:ext cx="39319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7" name="Shape 4"/>
          <p:cNvSpPr/>
          <p:nvPr/>
        </p:nvSpPr>
        <p:spPr>
          <a:xfrm>
            <a:off x="457200" y="3703320"/>
            <a:ext cx="54864" cy="502920"/>
          </a:xfrm>
          <a:prstGeom prst="rect">
            <a:avLst/>
          </a:prstGeom>
          <a:solidFill>
            <a:srgbClr val="0E7C7B"/>
          </a:solidFill>
          <a:ln/>
        </p:spPr>
      </p:sp>
      <p:sp>
        <p:nvSpPr>
          <p:cNvPr id="8" name="Text 5"/>
          <p:cNvSpPr/>
          <p:nvPr/>
        </p:nvSpPr>
        <p:spPr>
          <a:xfrm>
            <a:off x="621792" y="3739896"/>
            <a:ext cx="914400" cy="182880"/>
          </a:xfrm>
          <a:prstGeom prst="rect">
            <a:avLst/>
          </a:prstGeom>
          <a:noFill/>
          <a:ln/>
        </p:spPr>
        <p:txBody>
          <a:bodyPr wrap="square" lIns="0" tIns="0" rIns="0" bIns="0" rtlCol="0" anchor="ctr"/>
          <a:lstStyle/>
          <a:p>
            <a:pPr indent="0" marL="0">
              <a:buNone/>
            </a:pPr>
            <a:r>
              <a:rPr lang="en-US" sz="900" b="1" dirty="0">
                <a:solidFill>
                  <a:srgbClr val="0E7C7B"/>
                </a:solidFill>
                <a:latin typeface="Calibri" pitchFamily="34" charset="0"/>
                <a:ea typeface="Calibri" pitchFamily="34" charset="-122"/>
                <a:cs typeface="Calibri" pitchFamily="34" charset="-120"/>
              </a:rPr>
              <a:t>Week 1</a:t>
            </a:r>
            <a:endParaRPr lang="en-US" sz="900" dirty="0"/>
          </a:p>
        </p:txBody>
      </p:sp>
      <p:sp>
        <p:nvSpPr>
          <p:cNvPr id="9" name="Text 6"/>
          <p:cNvSpPr/>
          <p:nvPr/>
        </p:nvSpPr>
        <p:spPr>
          <a:xfrm>
            <a:off x="621792" y="3922776"/>
            <a:ext cx="3566160" cy="256032"/>
          </a:xfrm>
          <a:prstGeom prst="rect">
            <a:avLst/>
          </a:prstGeom>
          <a:noFill/>
          <a:ln/>
        </p:spPr>
        <p:txBody>
          <a:bodyPr wrap="square" lIns="0" tIns="0" rIns="0" bIns="0" rtlCol="0" anchor="ctr"/>
          <a:lstStyle/>
          <a:p>
            <a:pPr indent="0" marL="0">
              <a:buNone/>
            </a:pPr>
            <a:r>
              <a:rPr lang="en-US" sz="850" dirty="0">
                <a:solidFill>
                  <a:srgbClr val="333333"/>
                </a:solidFill>
                <a:latin typeface="Calibri" pitchFamily="34" charset="0"/>
                <a:ea typeface="Calibri" pitchFamily="34" charset="-122"/>
                <a:cs typeface="Calibri" pitchFamily="34" charset="-120"/>
              </a:rPr>
              <a:t>Create Purview account, assign Gov Admin, register Power BI + primary SQL</a:t>
            </a:r>
            <a:endParaRPr lang="en-US" sz="850" dirty="0"/>
          </a:p>
        </p:txBody>
      </p:sp>
      <p:sp>
        <p:nvSpPr>
          <p:cNvPr id="10" name="Shape 7"/>
          <p:cNvSpPr/>
          <p:nvPr/>
        </p:nvSpPr>
        <p:spPr>
          <a:xfrm>
            <a:off x="4663440" y="3703320"/>
            <a:ext cx="39319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8"/>
          <p:cNvSpPr/>
          <p:nvPr/>
        </p:nvSpPr>
        <p:spPr>
          <a:xfrm>
            <a:off x="4663440" y="3703320"/>
            <a:ext cx="54864" cy="502920"/>
          </a:xfrm>
          <a:prstGeom prst="rect">
            <a:avLst/>
          </a:prstGeom>
          <a:solidFill>
            <a:srgbClr val="0E7C7B"/>
          </a:solidFill>
          <a:ln/>
        </p:spPr>
      </p:sp>
      <p:sp>
        <p:nvSpPr>
          <p:cNvPr id="12" name="Text 9"/>
          <p:cNvSpPr/>
          <p:nvPr/>
        </p:nvSpPr>
        <p:spPr>
          <a:xfrm>
            <a:off x="4828032" y="3739896"/>
            <a:ext cx="914400" cy="182880"/>
          </a:xfrm>
          <a:prstGeom prst="rect">
            <a:avLst/>
          </a:prstGeom>
          <a:noFill/>
          <a:ln/>
        </p:spPr>
        <p:txBody>
          <a:bodyPr wrap="square" lIns="0" tIns="0" rIns="0" bIns="0" rtlCol="0" anchor="ctr"/>
          <a:lstStyle/>
          <a:p>
            <a:pPr indent="0" marL="0">
              <a:buNone/>
            </a:pPr>
            <a:r>
              <a:rPr lang="en-US" sz="900" b="1" dirty="0">
                <a:solidFill>
                  <a:srgbClr val="0E7C7B"/>
                </a:solidFill>
                <a:latin typeface="Calibri" pitchFamily="34" charset="0"/>
                <a:ea typeface="Calibri" pitchFamily="34" charset="-122"/>
                <a:cs typeface="Calibri" pitchFamily="34" charset="-120"/>
              </a:rPr>
              <a:t>Week 2</a:t>
            </a:r>
            <a:endParaRPr lang="en-US" sz="900" dirty="0"/>
          </a:p>
        </p:txBody>
      </p:sp>
      <p:sp>
        <p:nvSpPr>
          <p:cNvPr id="13" name="Text 10"/>
          <p:cNvSpPr/>
          <p:nvPr/>
        </p:nvSpPr>
        <p:spPr>
          <a:xfrm>
            <a:off x="4828032" y="3922776"/>
            <a:ext cx="3566160" cy="256032"/>
          </a:xfrm>
          <a:prstGeom prst="rect">
            <a:avLst/>
          </a:prstGeom>
          <a:noFill/>
          <a:ln/>
        </p:spPr>
        <p:txBody>
          <a:bodyPr wrap="square" lIns="0" tIns="0" rIns="0" bIns="0" rtlCol="0" anchor="ctr"/>
          <a:lstStyle/>
          <a:p>
            <a:pPr indent="0" marL="0">
              <a:buNone/>
            </a:pPr>
            <a:r>
              <a:rPr lang="en-US" sz="850" dirty="0">
                <a:solidFill>
                  <a:srgbClr val="333333"/>
                </a:solidFill>
                <a:latin typeface="Calibri" pitchFamily="34" charset="0"/>
                <a:ea typeface="Calibri" pitchFamily="34" charset="-122"/>
                <a:cs typeface="Calibri" pitchFamily="34" charset="-120"/>
              </a:rPr>
              <a:t>Run first scans, review classifications, add owners to top 10 assets</a:t>
            </a:r>
            <a:endParaRPr lang="en-US" sz="850" dirty="0"/>
          </a:p>
        </p:txBody>
      </p:sp>
      <p:sp>
        <p:nvSpPr>
          <p:cNvPr id="14" name="Shape 11"/>
          <p:cNvSpPr/>
          <p:nvPr/>
        </p:nvSpPr>
        <p:spPr>
          <a:xfrm>
            <a:off x="457200" y="4297680"/>
            <a:ext cx="39319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5" name="Shape 12"/>
          <p:cNvSpPr/>
          <p:nvPr/>
        </p:nvSpPr>
        <p:spPr>
          <a:xfrm>
            <a:off x="457200" y="4297680"/>
            <a:ext cx="54864" cy="502920"/>
          </a:xfrm>
          <a:prstGeom prst="rect">
            <a:avLst/>
          </a:prstGeom>
          <a:solidFill>
            <a:srgbClr val="0E7C7B"/>
          </a:solidFill>
          <a:ln/>
        </p:spPr>
      </p:sp>
      <p:sp>
        <p:nvSpPr>
          <p:cNvPr id="16" name="Text 13"/>
          <p:cNvSpPr/>
          <p:nvPr/>
        </p:nvSpPr>
        <p:spPr>
          <a:xfrm>
            <a:off x="621792" y="4334256"/>
            <a:ext cx="914400" cy="182880"/>
          </a:xfrm>
          <a:prstGeom prst="rect">
            <a:avLst/>
          </a:prstGeom>
          <a:noFill/>
          <a:ln/>
        </p:spPr>
        <p:txBody>
          <a:bodyPr wrap="square" lIns="0" tIns="0" rIns="0" bIns="0" rtlCol="0" anchor="ctr"/>
          <a:lstStyle/>
          <a:p>
            <a:pPr indent="0" marL="0">
              <a:buNone/>
            </a:pPr>
            <a:r>
              <a:rPr lang="en-US" sz="900" b="1" dirty="0">
                <a:solidFill>
                  <a:srgbClr val="0E7C7B"/>
                </a:solidFill>
                <a:latin typeface="Calibri" pitchFamily="34" charset="0"/>
                <a:ea typeface="Calibri" pitchFamily="34" charset="-122"/>
                <a:cs typeface="Calibri" pitchFamily="34" charset="-120"/>
              </a:rPr>
              <a:t>Week 3</a:t>
            </a:r>
            <a:endParaRPr lang="en-US" sz="900" dirty="0"/>
          </a:p>
        </p:txBody>
      </p:sp>
      <p:sp>
        <p:nvSpPr>
          <p:cNvPr id="17" name="Text 14"/>
          <p:cNvSpPr/>
          <p:nvPr/>
        </p:nvSpPr>
        <p:spPr>
          <a:xfrm>
            <a:off x="621792" y="4517136"/>
            <a:ext cx="3566160" cy="256032"/>
          </a:xfrm>
          <a:prstGeom prst="rect">
            <a:avLst/>
          </a:prstGeom>
          <a:noFill/>
          <a:ln/>
        </p:spPr>
        <p:txBody>
          <a:bodyPr wrap="square" lIns="0" tIns="0" rIns="0" bIns="0" rtlCol="0" anchor="ctr"/>
          <a:lstStyle/>
          <a:p>
            <a:pPr indent="0" marL="0">
              <a:buNone/>
            </a:pPr>
            <a:r>
              <a:rPr lang="en-US" sz="850" dirty="0">
                <a:solidFill>
                  <a:srgbClr val="333333"/>
                </a:solidFill>
                <a:latin typeface="Calibri" pitchFamily="34" charset="0"/>
                <a:ea typeface="Calibri" pitchFamily="34" charset="-122"/>
                <a:cs typeface="Calibri" pitchFamily="34" charset="-120"/>
              </a:rPr>
              <a:t>Create first governance domain; assign initial stewards</a:t>
            </a:r>
            <a:endParaRPr lang="en-US" sz="850" dirty="0"/>
          </a:p>
        </p:txBody>
      </p:sp>
      <p:sp>
        <p:nvSpPr>
          <p:cNvPr id="18" name="Shape 15"/>
          <p:cNvSpPr/>
          <p:nvPr/>
        </p:nvSpPr>
        <p:spPr>
          <a:xfrm>
            <a:off x="4663440" y="4297680"/>
            <a:ext cx="3931920" cy="502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9" name="Shape 16"/>
          <p:cNvSpPr/>
          <p:nvPr/>
        </p:nvSpPr>
        <p:spPr>
          <a:xfrm>
            <a:off x="4663440" y="4297680"/>
            <a:ext cx="54864" cy="502920"/>
          </a:xfrm>
          <a:prstGeom prst="rect">
            <a:avLst/>
          </a:prstGeom>
          <a:solidFill>
            <a:srgbClr val="0E7C7B"/>
          </a:solidFill>
          <a:ln/>
        </p:spPr>
      </p:sp>
      <p:sp>
        <p:nvSpPr>
          <p:cNvPr id="20" name="Text 17"/>
          <p:cNvSpPr/>
          <p:nvPr/>
        </p:nvSpPr>
        <p:spPr>
          <a:xfrm>
            <a:off x="4828032" y="4334256"/>
            <a:ext cx="914400" cy="182880"/>
          </a:xfrm>
          <a:prstGeom prst="rect">
            <a:avLst/>
          </a:prstGeom>
          <a:noFill/>
          <a:ln/>
        </p:spPr>
        <p:txBody>
          <a:bodyPr wrap="square" lIns="0" tIns="0" rIns="0" bIns="0" rtlCol="0" anchor="ctr"/>
          <a:lstStyle/>
          <a:p>
            <a:pPr indent="0" marL="0">
              <a:buNone/>
            </a:pPr>
            <a:r>
              <a:rPr lang="en-US" sz="900" b="1" dirty="0">
                <a:solidFill>
                  <a:srgbClr val="0E7C7B"/>
                </a:solidFill>
                <a:latin typeface="Calibri" pitchFamily="34" charset="0"/>
                <a:ea typeface="Calibri" pitchFamily="34" charset="-122"/>
                <a:cs typeface="Calibri" pitchFamily="34" charset="-120"/>
              </a:rPr>
              <a:t>Week 4</a:t>
            </a:r>
            <a:endParaRPr lang="en-US" sz="900" dirty="0"/>
          </a:p>
        </p:txBody>
      </p:sp>
      <p:sp>
        <p:nvSpPr>
          <p:cNvPr id="21" name="Text 18"/>
          <p:cNvSpPr/>
          <p:nvPr/>
        </p:nvSpPr>
        <p:spPr>
          <a:xfrm>
            <a:off x="4828032" y="4517136"/>
            <a:ext cx="3566160" cy="256032"/>
          </a:xfrm>
          <a:prstGeom prst="rect">
            <a:avLst/>
          </a:prstGeom>
          <a:noFill/>
          <a:ln/>
        </p:spPr>
        <p:txBody>
          <a:bodyPr wrap="square" lIns="0" tIns="0" rIns="0" bIns="0" rtlCol="0" anchor="ctr"/>
          <a:lstStyle/>
          <a:p>
            <a:pPr indent="0" marL="0">
              <a:buNone/>
            </a:pPr>
            <a:r>
              <a:rPr lang="en-US" sz="850" dirty="0">
                <a:solidFill>
                  <a:srgbClr val="333333"/>
                </a:solidFill>
                <a:latin typeface="Calibri" pitchFamily="34" charset="0"/>
                <a:ea typeface="Calibri" pitchFamily="34" charset="-122"/>
                <a:cs typeface="Calibri" pitchFamily="34" charset="-120"/>
              </a:rPr>
              <a:t>Draft label taxonomy; begin auto-labelling simulation</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9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5C"/>
          </a:solidFill>
          <a:ln/>
        </p:spPr>
      </p:sp>
      <p:sp>
        <p:nvSpPr>
          <p:cNvPr id="3" name="Text 1"/>
          <p:cNvSpPr/>
          <p:nvPr/>
        </p:nvSpPr>
        <p:spPr>
          <a:xfrm>
            <a:off x="548640" y="137160"/>
            <a:ext cx="8229600" cy="548640"/>
          </a:xfrm>
          <a:prstGeom prst="rect">
            <a:avLst/>
          </a:prstGeom>
          <a:noFill/>
          <a:ln/>
        </p:spPr>
        <p:txBody>
          <a:bodyPr wrap="square" lIns="0" tIns="0" rIns="0" bIns="0"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Closing the Classification Gap – Custom Connector Strategy</a:t>
            </a:r>
            <a:endParaRPr lang="en-US" sz="2100" dirty="0"/>
          </a:p>
        </p:txBody>
      </p:sp>
      <p:sp>
        <p:nvSpPr>
          <p:cNvPr id="4" name="Text 2"/>
          <p:cNvSpPr/>
          <p:nvPr/>
        </p:nvSpPr>
        <p:spPr>
          <a:xfrm>
            <a:off x="548640" y="502920"/>
            <a:ext cx="7315200" cy="274320"/>
          </a:xfrm>
          <a:prstGeom prst="rect">
            <a:avLst/>
          </a:prstGeom>
          <a:noFill/>
          <a:ln/>
        </p:spPr>
        <p:txBody>
          <a:bodyPr wrap="square" lIns="0" tIns="0" rIns="0" bIns="0" rtlCol="0" anchor="ctr"/>
          <a:lstStyle/>
          <a:p>
            <a:pPr indent="0" marL="0">
              <a:buNone/>
            </a:pPr>
            <a:r>
              <a:rPr lang="en-US" sz="1000" i="1" dirty="0">
                <a:solidFill>
                  <a:srgbClr val="AABBCC"/>
                </a:solidFill>
                <a:latin typeface="Calibri" pitchFamily="34" charset="0"/>
                <a:ea typeface="Calibri" pitchFamily="34" charset="-122"/>
                <a:cs typeface="Calibri" pitchFamily="34" charset="-120"/>
              </a:rPr>
              <a:t>Addressing Purview’s native scanning limitations for SaaS sources</a:t>
            </a:r>
            <a:endParaRPr lang="en-US" sz="1000" dirty="0"/>
          </a:p>
        </p:txBody>
      </p:sp>
      <p:sp>
        <p:nvSpPr>
          <p:cNvPr id="5" name="Shape 3"/>
          <p:cNvSpPr/>
          <p:nvPr/>
        </p:nvSpPr>
        <p:spPr>
          <a:xfrm>
            <a:off x="457200" y="960120"/>
            <a:ext cx="3931920" cy="14173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457200" y="960120"/>
            <a:ext cx="3931920" cy="320040"/>
          </a:xfrm>
          <a:prstGeom prst="rect">
            <a:avLst/>
          </a:prstGeom>
          <a:solidFill>
            <a:srgbClr val="CC4444"/>
          </a:solidFill>
          <a:ln/>
        </p:spPr>
      </p:sp>
      <p:sp>
        <p:nvSpPr>
          <p:cNvPr id="7" name="Text 5"/>
          <p:cNvSpPr/>
          <p:nvPr/>
        </p:nvSpPr>
        <p:spPr>
          <a:xfrm>
            <a:off x="594360" y="978408"/>
            <a:ext cx="365760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THE LIMITATION</a:t>
            </a:r>
            <a:endParaRPr lang="en-US" sz="1100" dirty="0"/>
          </a:p>
        </p:txBody>
      </p:sp>
      <p:sp>
        <p:nvSpPr>
          <p:cNvPr id="8" name="Text 6"/>
          <p:cNvSpPr/>
          <p:nvPr/>
        </p:nvSpPr>
        <p:spPr>
          <a:xfrm>
            <a:off x="594360" y="1371600"/>
            <a:ext cx="3611880" cy="868680"/>
          </a:xfrm>
          <a:prstGeom prst="rect">
            <a:avLst/>
          </a:prstGeom>
          <a:noFill/>
          <a:ln/>
        </p:spPr>
        <p:txBody>
          <a:bodyPr wrap="square" lIns="0" tIns="0" rIns="0" bIns="0" rtlCol="0" anchor="t"/>
          <a:lstStyle/>
          <a:p>
            <a:pPr indent="0" marL="0">
              <a:buNone/>
            </a:pPr>
            <a:r>
              <a:rPr lang="en-US" sz="950" dirty="0">
                <a:solidFill>
                  <a:srgbClr val="333333"/>
                </a:solidFill>
                <a:latin typeface="Calibri" pitchFamily="34" charset="0"/>
                <a:ea typeface="Calibri" pitchFamily="34" charset="-122"/>
                <a:cs typeface="Calibri" pitchFamily="34" charset="-120"/>
              </a:rPr>
              <a:t xml:space="preserve">Purview’s native Salesforce, NetSuite, and Workday connectors extract metadata (objects, fields, schemas) but </a:t>
            </a:r>
            <a:pPr indent="0" marL="0">
              <a:buNone/>
            </a:pPr>
            <a:r>
              <a:rPr lang="en-US" sz="950" b="1" dirty="0">
                <a:solidFill>
                  <a:srgbClr val="CC3333"/>
                </a:solidFill>
                <a:latin typeface="Calibri" pitchFamily="34" charset="0"/>
                <a:ea typeface="Calibri" pitchFamily="34" charset="-122"/>
                <a:cs typeface="Calibri" pitchFamily="34" charset="-120"/>
              </a:rPr>
              <a:t>do not support automated data classification</a:t>
            </a:r>
            <a:pPr indent="0" marL="0">
              <a:buNone/>
            </a:pPr>
            <a:r>
              <a:rPr lang="en-US" sz="950" dirty="0">
                <a:solidFill>
                  <a:srgbClr val="333333"/>
                </a:solidFill>
                <a:latin typeface="Calibri" pitchFamily="34" charset="0"/>
                <a:ea typeface="Calibri" pitchFamily="34" charset="-122"/>
                <a:cs typeface="Calibri" pitchFamily="34" charset="-120"/>
              </a:rPr>
              <a:t xml:space="preserve"> (no L3 scan). Salesforce does not appear as a source type in custom scan rule sets. This is confirmed platform behaviour, not a configuration issue.</a:t>
            </a:r>
            <a:endParaRPr lang="en-US" sz="950" dirty="0"/>
          </a:p>
        </p:txBody>
      </p:sp>
      <p:sp>
        <p:nvSpPr>
          <p:cNvPr id="9" name="Shape 7"/>
          <p:cNvSpPr/>
          <p:nvPr/>
        </p:nvSpPr>
        <p:spPr>
          <a:xfrm>
            <a:off x="4754880" y="960120"/>
            <a:ext cx="3931920" cy="14173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8"/>
          <p:cNvSpPr/>
          <p:nvPr/>
        </p:nvSpPr>
        <p:spPr>
          <a:xfrm>
            <a:off x="4754880" y="960120"/>
            <a:ext cx="3931920" cy="320040"/>
          </a:xfrm>
          <a:prstGeom prst="rect">
            <a:avLst/>
          </a:prstGeom>
          <a:solidFill>
            <a:srgbClr val="0E7C7B"/>
          </a:solidFill>
          <a:ln/>
        </p:spPr>
      </p:sp>
      <p:sp>
        <p:nvSpPr>
          <p:cNvPr id="11" name="Text 9"/>
          <p:cNvSpPr/>
          <p:nvPr/>
        </p:nvSpPr>
        <p:spPr>
          <a:xfrm>
            <a:off x="4892040" y="978408"/>
            <a:ext cx="365760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THE SOLUTION</a:t>
            </a:r>
            <a:endParaRPr lang="en-US" sz="1100" dirty="0"/>
          </a:p>
        </p:txBody>
      </p:sp>
      <p:sp>
        <p:nvSpPr>
          <p:cNvPr id="12" name="Text 10"/>
          <p:cNvSpPr/>
          <p:nvPr/>
        </p:nvSpPr>
        <p:spPr>
          <a:xfrm>
            <a:off x="4892040" y="1371600"/>
            <a:ext cx="3611880" cy="868680"/>
          </a:xfrm>
          <a:prstGeom prst="rect">
            <a:avLst/>
          </a:prstGeom>
          <a:noFill/>
          <a:ln/>
        </p:spPr>
        <p:txBody>
          <a:bodyPr wrap="square" lIns="0" tIns="0" rIns="0" bIns="0" rtlCol="0" anchor="t"/>
          <a:lstStyle/>
          <a:p>
            <a:pPr indent="0" marL="0">
              <a:buNone/>
            </a:pPr>
            <a:r>
              <a:rPr lang="en-US" sz="950" b="1" dirty="0">
                <a:solidFill>
                  <a:srgbClr val="0E7C7B"/>
                </a:solidFill>
                <a:latin typeface="Calibri" pitchFamily="34" charset="0"/>
                <a:ea typeface="Calibri" pitchFamily="34" charset="-122"/>
                <a:cs typeface="Calibri" pitchFamily="34" charset="-120"/>
              </a:rPr>
              <a:t xml:space="preserve">Custom Python connectors </a:t>
            </a:r>
            <a:pPr indent="0" marL="0">
              <a:buNone/>
            </a:pPr>
            <a:r>
              <a:rPr lang="en-US" sz="950" dirty="0">
                <a:solidFill>
                  <a:srgbClr val="333333"/>
                </a:solidFill>
                <a:latin typeface="Calibri" pitchFamily="34" charset="0"/>
                <a:ea typeface="Calibri" pitchFamily="34" charset="-122"/>
                <a:cs typeface="Calibri" pitchFamily="34" charset="-120"/>
              </a:rPr>
              <a:t xml:space="preserve">bypass the native scanner entirely. They pull metadata directly from each source’s REST API, then </a:t>
            </a:r>
            <a:pPr indent="0" marL="0">
              <a:buNone/>
            </a:pPr>
            <a:r>
              <a:rPr lang="en-US" sz="950" b="1" dirty="0">
                <a:solidFill>
                  <a:srgbClr val="0E7C7B"/>
                </a:solidFill>
                <a:latin typeface="Calibri" pitchFamily="34" charset="0"/>
                <a:ea typeface="Calibri" pitchFamily="34" charset="-122"/>
                <a:cs typeface="Calibri" pitchFamily="34" charset="-120"/>
              </a:rPr>
              <a:t>push classifications, lineage, and business metadata into Purview via the Atlas v2 API</a:t>
            </a:r>
            <a:pPr indent="0" marL="0">
              <a:buNone/>
            </a:pPr>
            <a:r>
              <a:rPr lang="en-US" sz="950" dirty="0">
                <a:solidFill>
                  <a:srgbClr val="333333"/>
                </a:solidFill>
                <a:latin typeface="Calibri" pitchFamily="34" charset="0"/>
                <a:ea typeface="Calibri" pitchFamily="34" charset="-122"/>
                <a:cs typeface="Calibri" pitchFamily="34" charset="-120"/>
              </a:rPr>
              <a:t>. The result in the Unified Catalog is indistinguishable from a native L3 scan.</a:t>
            </a:r>
            <a:endParaRPr lang="en-US" sz="9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274320" y="2560320"/>
          <a:ext cx="8595360" cy="914400"/>
        </p:xfrm>
        <a:graphic>
          <a:graphicData uri="http://schemas.openxmlformats.org/drawingml/2006/table">
            <a:tbl>
              <a:tblPr/>
              <a:tblGrid>
                <a:gridCol w="2377440"/>
                <a:gridCol w="1280160"/>
                <a:gridCol w="1371600"/>
                <a:gridCol w="3566160"/>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Connector</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Source System</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Auth Method</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What It Pushes to Purview</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r>
              <a:tr h="0">
                <a:tc>
                  <a:txBody>
                    <a:bodyPr/>
                    <a:lstStyle/>
                    <a:p>
                      <a:pPr indent="0" marL="0">
                        <a:buNone/>
                      </a:pPr>
                      <a:r>
                        <a:rPr lang="en-US" sz="800" b="1" dirty="0">
                          <a:solidFill>
                            <a:srgbClr val="333333"/>
                          </a:solidFill>
                          <a:latin typeface="Calibri" pitchFamily="34" charset="0"/>
                          <a:ea typeface="Calibri" pitchFamily="34" charset="-122"/>
                          <a:cs typeface="Calibri" pitchFamily="34" charset="-120"/>
                        </a:rPr>
                        <a:t>purview_salesforce_connector.py</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Salesforce CRM</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OAuth 2.0</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Objects, fields, classifications, cross-system lineage, business metadata</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0">
                <a:tc>
                  <a:txBody>
                    <a:bodyPr/>
                    <a:lstStyle/>
                    <a:p>
                      <a:pPr indent="0" marL="0">
                        <a:buNone/>
                      </a:pPr>
                      <a:r>
                        <a:rPr lang="en-US" sz="800" b="1" dirty="0">
                          <a:solidFill>
                            <a:srgbClr val="333333"/>
                          </a:solidFill>
                          <a:latin typeface="Calibri" pitchFamily="34" charset="0"/>
                          <a:ea typeface="Calibri" pitchFamily="34" charset="-122"/>
                          <a:cs typeface="Calibri" pitchFamily="34" charset="-120"/>
                        </a:rPr>
                        <a:t>purview_netsuite_connector.py</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Oracle NetSuite</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OAuth 1.0a (TBA)</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Record types, fields, classifications, lineage to DW/BI</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800" b="1" dirty="0">
                          <a:solidFill>
                            <a:srgbClr val="333333"/>
                          </a:solidFill>
                          <a:latin typeface="Calibri" pitchFamily="34" charset="0"/>
                          <a:ea typeface="Calibri" pitchFamily="34" charset="-122"/>
                          <a:cs typeface="Calibri" pitchFamily="34" charset="-120"/>
                        </a:rPr>
                        <a:t>purview_workday_connector.py</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Workday HCM</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OAuth 2.0 + refresh</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Business objects, fields, PII classifications, lineage to AD</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0">
                <a:tc>
                  <a:txBody>
                    <a:bodyPr/>
                    <a:lstStyle/>
                    <a:p>
                      <a:pPr indent="0" marL="0">
                        <a:buNone/>
                      </a:pPr>
                      <a:r>
                        <a:rPr lang="en-US" sz="800" b="1" dirty="0">
                          <a:solidFill>
                            <a:srgbClr val="333333"/>
                          </a:solidFill>
                          <a:latin typeface="Calibri" pitchFamily="34" charset="0"/>
                          <a:ea typeface="Calibri" pitchFamily="34" charset="-122"/>
                          <a:cs typeface="Calibri" pitchFamily="34" charset="-120"/>
                        </a:rPr>
                        <a:t>purview_sql_connector.py</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SQL Server</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Service Principal</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DB → schema → table → column hierarchy, lineage, business metadata</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bl>
          </a:graphicData>
        </a:graphic>
      </p:graphicFrame>
      <p:sp>
        <p:nvSpPr>
          <p:cNvPr id="14" name="Text 11"/>
          <p:cNvSpPr/>
          <p:nvPr/>
        </p:nvSpPr>
        <p:spPr>
          <a:xfrm>
            <a:off x="457200" y="4069080"/>
            <a:ext cx="2743200" cy="256032"/>
          </a:xfrm>
          <a:prstGeom prst="rect">
            <a:avLst/>
          </a:prstGeom>
          <a:noFill/>
          <a:ln/>
        </p:spPr>
        <p:txBody>
          <a:bodyPr wrap="square" lIns="0" tIns="0" rIns="0" bIns="0" rtlCol="0" anchor="ctr"/>
          <a:lstStyle/>
          <a:p>
            <a:pPr indent="0" marL="0">
              <a:buNone/>
            </a:pPr>
            <a:r>
              <a:rPr lang="en-US" sz="1100" b="1" dirty="0">
                <a:solidFill>
                  <a:srgbClr val="1B3A5C"/>
                </a:solidFill>
                <a:latin typeface="Calibri" pitchFamily="34" charset="0"/>
                <a:ea typeface="Calibri" pitchFamily="34" charset="-122"/>
                <a:cs typeface="Calibri" pitchFamily="34" charset="-120"/>
              </a:rPr>
              <a:t>How It Works</a:t>
            </a:r>
            <a:endParaRPr lang="en-US" sz="1100" dirty="0"/>
          </a:p>
        </p:txBody>
      </p:sp>
      <p:sp>
        <p:nvSpPr>
          <p:cNvPr id="15" name="Shape 12"/>
          <p:cNvSpPr/>
          <p:nvPr/>
        </p:nvSpPr>
        <p:spPr>
          <a:xfrm>
            <a:off x="457200" y="4370832"/>
            <a:ext cx="1965960" cy="6400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6" name="Shape 13"/>
          <p:cNvSpPr/>
          <p:nvPr/>
        </p:nvSpPr>
        <p:spPr>
          <a:xfrm>
            <a:off x="457200" y="4370832"/>
            <a:ext cx="1965960" cy="201168"/>
          </a:xfrm>
          <a:prstGeom prst="rect">
            <a:avLst/>
          </a:prstGeom>
          <a:solidFill>
            <a:srgbClr val="1B3A5C"/>
          </a:solidFill>
          <a:ln/>
        </p:spPr>
      </p:sp>
      <p:sp>
        <p:nvSpPr>
          <p:cNvPr id="17" name="Text 14"/>
          <p:cNvSpPr/>
          <p:nvPr/>
        </p:nvSpPr>
        <p:spPr>
          <a:xfrm>
            <a:off x="530352" y="4379976"/>
            <a:ext cx="1828800" cy="18288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1. Source API</a:t>
            </a:r>
            <a:endParaRPr lang="en-US" sz="900" dirty="0"/>
          </a:p>
        </p:txBody>
      </p:sp>
      <p:sp>
        <p:nvSpPr>
          <p:cNvPr id="18" name="Text 15"/>
          <p:cNvSpPr/>
          <p:nvPr/>
        </p:nvSpPr>
        <p:spPr>
          <a:xfrm>
            <a:off x="530352" y="4626864"/>
            <a:ext cx="1828800" cy="347472"/>
          </a:xfrm>
          <a:prstGeom prst="rect">
            <a:avLst/>
          </a:prstGeom>
          <a:noFill/>
          <a:ln/>
        </p:spPr>
        <p:txBody>
          <a:bodyPr wrap="square" lIns="0" tIns="0" rIns="0" bIns="0" rtlCol="0" anchor="ctr"/>
          <a:lstStyle/>
          <a:p>
            <a:pPr indent="0" marL="0">
              <a:buNone/>
            </a:pPr>
            <a:r>
              <a:rPr lang="en-US" sz="750" dirty="0">
                <a:solidFill>
                  <a:srgbClr val="333333"/>
                </a:solidFill>
                <a:latin typeface="Calibri" pitchFamily="34" charset="0"/>
                <a:ea typeface="Calibri" pitchFamily="34" charset="-122"/>
                <a:cs typeface="Calibri" pitchFamily="34" charset="-120"/>
              </a:rPr>
              <a:t>Connector authenticates to SaaS source and discovers all objects, fields &amp; schemas</a:t>
            </a:r>
            <a:endParaRPr lang="en-US" sz="750" dirty="0"/>
          </a:p>
        </p:txBody>
      </p:sp>
      <p:pic>
        <p:nvPicPr>
          <p:cNvPr id="19" name="Image 0" descr="preencoded.png"/>
          <p:cNvPicPr>
            <a:picLocks noChangeAspect="1"/>
          </p:cNvPicPr>
          <p:nvPr/>
        </p:nvPicPr>
        <p:blipFill>
          <a:blip r:embed="rId1"/>
          <a:stretch>
            <a:fillRect/>
          </a:stretch>
        </p:blipFill>
        <p:spPr>
          <a:xfrm>
            <a:off x="2450592" y="4572000"/>
            <a:ext cx="109728" cy="109728"/>
          </a:xfrm>
          <a:prstGeom prst="rect">
            <a:avLst/>
          </a:prstGeom>
        </p:spPr>
      </p:pic>
      <p:sp>
        <p:nvSpPr>
          <p:cNvPr id="20" name="Shape 16"/>
          <p:cNvSpPr/>
          <p:nvPr/>
        </p:nvSpPr>
        <p:spPr>
          <a:xfrm>
            <a:off x="2606040" y="4370832"/>
            <a:ext cx="1965960" cy="6400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1" name="Shape 17"/>
          <p:cNvSpPr/>
          <p:nvPr/>
        </p:nvSpPr>
        <p:spPr>
          <a:xfrm>
            <a:off x="2606040" y="4370832"/>
            <a:ext cx="1965960" cy="201168"/>
          </a:xfrm>
          <a:prstGeom prst="rect">
            <a:avLst/>
          </a:prstGeom>
          <a:solidFill>
            <a:srgbClr val="1B3A5C"/>
          </a:solidFill>
          <a:ln/>
        </p:spPr>
      </p:sp>
      <p:sp>
        <p:nvSpPr>
          <p:cNvPr id="22" name="Text 18"/>
          <p:cNvSpPr/>
          <p:nvPr/>
        </p:nvSpPr>
        <p:spPr>
          <a:xfrm>
            <a:off x="2679192" y="4379976"/>
            <a:ext cx="1828800" cy="18288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2. Classify</a:t>
            </a:r>
            <a:endParaRPr lang="en-US" sz="900" dirty="0"/>
          </a:p>
        </p:txBody>
      </p:sp>
      <p:sp>
        <p:nvSpPr>
          <p:cNvPr id="23" name="Text 19"/>
          <p:cNvSpPr/>
          <p:nvPr/>
        </p:nvSpPr>
        <p:spPr>
          <a:xfrm>
            <a:off x="2679192" y="4626864"/>
            <a:ext cx="1828800" cy="347472"/>
          </a:xfrm>
          <a:prstGeom prst="rect">
            <a:avLst/>
          </a:prstGeom>
          <a:noFill/>
          <a:ln/>
        </p:spPr>
        <p:txBody>
          <a:bodyPr wrap="square" lIns="0" tIns="0" rIns="0" bIns="0" rtlCol="0" anchor="ctr"/>
          <a:lstStyle/>
          <a:p>
            <a:pPr indent="0" marL="0">
              <a:buNone/>
            </a:pPr>
            <a:r>
              <a:rPr lang="en-US" sz="750" dirty="0">
                <a:solidFill>
                  <a:srgbClr val="333333"/>
                </a:solidFill>
                <a:latin typeface="Calibri" pitchFamily="34" charset="0"/>
                <a:ea typeface="Calibri" pitchFamily="34" charset="-122"/>
                <a:cs typeface="Calibri" pitchFamily="34" charset="-120"/>
              </a:rPr>
              <a:t>Applies built-in + custom classifications programmatically (PII, financial, health data)</a:t>
            </a:r>
            <a:endParaRPr lang="en-US" sz="750" dirty="0"/>
          </a:p>
        </p:txBody>
      </p:sp>
      <p:pic>
        <p:nvPicPr>
          <p:cNvPr id="24" name="Image 1" descr="preencoded.png"/>
          <p:cNvPicPr>
            <a:picLocks noChangeAspect="1"/>
          </p:cNvPicPr>
          <p:nvPr/>
        </p:nvPicPr>
        <p:blipFill>
          <a:blip r:embed="rId2"/>
          <a:stretch>
            <a:fillRect/>
          </a:stretch>
        </p:blipFill>
        <p:spPr>
          <a:xfrm>
            <a:off x="4599432" y="4572000"/>
            <a:ext cx="109728" cy="109728"/>
          </a:xfrm>
          <a:prstGeom prst="rect">
            <a:avLst/>
          </a:prstGeom>
        </p:spPr>
      </p:pic>
      <p:sp>
        <p:nvSpPr>
          <p:cNvPr id="25" name="Shape 20"/>
          <p:cNvSpPr/>
          <p:nvPr/>
        </p:nvSpPr>
        <p:spPr>
          <a:xfrm>
            <a:off x="4754880" y="4370832"/>
            <a:ext cx="1965960" cy="6400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6" name="Shape 21"/>
          <p:cNvSpPr/>
          <p:nvPr/>
        </p:nvSpPr>
        <p:spPr>
          <a:xfrm>
            <a:off x="4754880" y="4370832"/>
            <a:ext cx="1965960" cy="201168"/>
          </a:xfrm>
          <a:prstGeom prst="rect">
            <a:avLst/>
          </a:prstGeom>
          <a:solidFill>
            <a:srgbClr val="0E7C7B"/>
          </a:solidFill>
          <a:ln/>
        </p:spPr>
      </p:sp>
      <p:sp>
        <p:nvSpPr>
          <p:cNvPr id="27" name="Text 22"/>
          <p:cNvSpPr/>
          <p:nvPr/>
        </p:nvSpPr>
        <p:spPr>
          <a:xfrm>
            <a:off x="4828032" y="4379976"/>
            <a:ext cx="1828800" cy="18288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3. Push to Purview</a:t>
            </a:r>
            <a:endParaRPr lang="en-US" sz="900" dirty="0"/>
          </a:p>
        </p:txBody>
      </p:sp>
      <p:sp>
        <p:nvSpPr>
          <p:cNvPr id="28" name="Text 23"/>
          <p:cNvSpPr/>
          <p:nvPr/>
        </p:nvSpPr>
        <p:spPr>
          <a:xfrm>
            <a:off x="4828032" y="4626864"/>
            <a:ext cx="1828800" cy="347472"/>
          </a:xfrm>
          <a:prstGeom prst="rect">
            <a:avLst/>
          </a:prstGeom>
          <a:noFill/>
          <a:ln/>
        </p:spPr>
        <p:txBody>
          <a:bodyPr wrap="square" lIns="0" tIns="0" rIns="0" bIns="0" rtlCol="0" anchor="ctr"/>
          <a:lstStyle/>
          <a:p>
            <a:pPr indent="0" marL="0">
              <a:buNone/>
            </a:pPr>
            <a:r>
              <a:rPr lang="en-US" sz="750" dirty="0">
                <a:solidFill>
                  <a:srgbClr val="333333"/>
                </a:solidFill>
                <a:latin typeface="Calibri" pitchFamily="34" charset="0"/>
                <a:ea typeface="Calibri" pitchFamily="34" charset="-122"/>
                <a:cs typeface="Calibri" pitchFamily="34" charset="-120"/>
              </a:rPr>
              <a:t>Creates entities, lineage &amp; metadata via Atlas v2 API into Data Map</a:t>
            </a:r>
            <a:endParaRPr lang="en-US" sz="750" dirty="0"/>
          </a:p>
        </p:txBody>
      </p:sp>
      <p:pic>
        <p:nvPicPr>
          <p:cNvPr id="29" name="Image 2" descr="preencoded.png"/>
          <p:cNvPicPr>
            <a:picLocks noChangeAspect="1"/>
          </p:cNvPicPr>
          <p:nvPr/>
        </p:nvPicPr>
        <p:blipFill>
          <a:blip r:embed="rId3"/>
          <a:stretch>
            <a:fillRect/>
          </a:stretch>
        </p:blipFill>
        <p:spPr>
          <a:xfrm>
            <a:off x="6748272" y="4572000"/>
            <a:ext cx="109728" cy="109728"/>
          </a:xfrm>
          <a:prstGeom prst="rect">
            <a:avLst/>
          </a:prstGeom>
        </p:spPr>
      </p:pic>
      <p:sp>
        <p:nvSpPr>
          <p:cNvPr id="30" name="Shape 24"/>
          <p:cNvSpPr/>
          <p:nvPr/>
        </p:nvSpPr>
        <p:spPr>
          <a:xfrm>
            <a:off x="6903720" y="4370832"/>
            <a:ext cx="1965960" cy="6400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31" name="Shape 25"/>
          <p:cNvSpPr/>
          <p:nvPr/>
        </p:nvSpPr>
        <p:spPr>
          <a:xfrm>
            <a:off x="6903720" y="4370832"/>
            <a:ext cx="1965960" cy="201168"/>
          </a:xfrm>
          <a:prstGeom prst="rect">
            <a:avLst/>
          </a:prstGeom>
          <a:solidFill>
            <a:srgbClr val="0E7C7B"/>
          </a:solidFill>
          <a:ln/>
        </p:spPr>
      </p:sp>
      <p:sp>
        <p:nvSpPr>
          <p:cNvPr id="32" name="Text 26"/>
          <p:cNvSpPr/>
          <p:nvPr/>
        </p:nvSpPr>
        <p:spPr>
          <a:xfrm>
            <a:off x="6976872" y="4379976"/>
            <a:ext cx="1828800" cy="18288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4. Catalog Ready</a:t>
            </a:r>
            <a:endParaRPr lang="en-US" sz="900" dirty="0"/>
          </a:p>
        </p:txBody>
      </p:sp>
      <p:sp>
        <p:nvSpPr>
          <p:cNvPr id="33" name="Text 27"/>
          <p:cNvSpPr/>
          <p:nvPr/>
        </p:nvSpPr>
        <p:spPr>
          <a:xfrm>
            <a:off x="6976872" y="4626864"/>
            <a:ext cx="1828800" cy="347472"/>
          </a:xfrm>
          <a:prstGeom prst="rect">
            <a:avLst/>
          </a:prstGeom>
          <a:noFill/>
          <a:ln/>
        </p:spPr>
        <p:txBody>
          <a:bodyPr wrap="square" lIns="0" tIns="0" rIns="0" bIns="0" rtlCol="0" anchor="ctr"/>
          <a:lstStyle/>
          <a:p>
            <a:pPr indent="0" marL="0">
              <a:buNone/>
            </a:pPr>
            <a:r>
              <a:rPr lang="en-US" sz="750" dirty="0">
                <a:solidFill>
                  <a:srgbClr val="333333"/>
                </a:solidFill>
                <a:latin typeface="Calibri" pitchFamily="34" charset="0"/>
                <a:ea typeface="Calibri" pitchFamily="34" charset="-122"/>
                <a:cs typeface="Calibri" pitchFamily="34" charset="-120"/>
              </a:rPr>
              <a:t>Assets appear in Unified Catalog with full classifications — identical to native L3 scan</a:t>
            </a:r>
            <a:endParaRPr lang="en-US" sz="7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7C7B"/>
          </a:solidFill>
          <a:ln/>
        </p:spPr>
      </p:sp>
      <p:sp>
        <p:nvSpPr>
          <p:cNvPr id="3" name="Text 1"/>
          <p:cNvSpPr/>
          <p:nvPr/>
        </p:nvSpPr>
        <p:spPr>
          <a:xfrm>
            <a:off x="0" y="1097280"/>
            <a:ext cx="9144000" cy="731520"/>
          </a:xfrm>
          <a:prstGeom prst="rect">
            <a:avLst/>
          </a:prstGeom>
          <a:noFill/>
          <a:ln/>
        </p:spPr>
        <p:txBody>
          <a:bodyPr wrap="square" lIns="0" tIns="0" rIns="0" bIns="0" rtlCol="0" anchor="ctr"/>
          <a:lstStyle/>
          <a:p>
            <a:pPr algn="ctr" indent="0" marL="0">
              <a:buNone/>
            </a:pPr>
            <a:r>
              <a:rPr lang="en-US" sz="3800" b="1" dirty="0">
                <a:solidFill>
                  <a:srgbClr val="FFFFFF"/>
                </a:solidFill>
                <a:latin typeface="Trebuchet MS" pitchFamily="34" charset="0"/>
                <a:ea typeface="Trebuchet MS" pitchFamily="34" charset="-122"/>
                <a:cs typeface="Trebuchet MS" pitchFamily="34" charset="-120"/>
              </a:rPr>
              <a:t>DAMA DMBOK2 Alignment</a:t>
            </a:r>
            <a:endParaRPr lang="en-US" sz="3800" dirty="0"/>
          </a:p>
        </p:txBody>
      </p:sp>
      <p:sp>
        <p:nvSpPr>
          <p:cNvPr id="4" name="Shape 2"/>
          <p:cNvSpPr/>
          <p:nvPr/>
        </p:nvSpPr>
        <p:spPr>
          <a:xfrm>
            <a:off x="3657600" y="1920240"/>
            <a:ext cx="1828800" cy="36576"/>
          </a:xfrm>
          <a:prstGeom prst="rect">
            <a:avLst/>
          </a:prstGeom>
          <a:solidFill>
            <a:srgbClr val="0E7C7B"/>
          </a:solidFill>
          <a:ln/>
        </p:spPr>
      </p:sp>
      <p:sp>
        <p:nvSpPr>
          <p:cNvPr id="5" name="Text 3"/>
          <p:cNvSpPr/>
          <p:nvPr/>
        </p:nvSpPr>
        <p:spPr>
          <a:xfrm>
            <a:off x="914400" y="2194560"/>
            <a:ext cx="7315200" cy="457200"/>
          </a:xfrm>
          <a:prstGeom prst="rect">
            <a:avLst/>
          </a:prstGeom>
          <a:noFill/>
          <a:ln/>
        </p:spPr>
        <p:txBody>
          <a:bodyPr wrap="square" lIns="0" tIns="0" rIns="0" bIns="0" rtlCol="0" anchor="ctr"/>
          <a:lstStyle/>
          <a:p>
            <a:pPr algn="ctr" indent="0" marL="0">
              <a:buNone/>
            </a:pPr>
            <a:r>
              <a:rPr lang="en-US" sz="1600" dirty="0">
                <a:solidFill>
                  <a:srgbClr val="888888"/>
                </a:solidFill>
                <a:latin typeface="Calibri" pitchFamily="34" charset="0"/>
                <a:ea typeface="Calibri" pitchFamily="34" charset="-122"/>
                <a:cs typeface="Calibri" pitchFamily="34" charset="-120"/>
              </a:rPr>
              <a:t>Mapping the DAMA Data Management Body of Knowledge</a:t>
            </a:r>
            <a:endParaRPr lang="en-US" sz="1600" dirty="0"/>
          </a:p>
        </p:txBody>
      </p:sp>
      <p:sp>
        <p:nvSpPr>
          <p:cNvPr id="6" name="Text 4"/>
          <p:cNvSpPr/>
          <p:nvPr/>
        </p:nvSpPr>
        <p:spPr>
          <a:xfrm>
            <a:off x="914400" y="2606040"/>
            <a:ext cx="7315200" cy="365760"/>
          </a:xfrm>
          <a:prstGeom prst="rect">
            <a:avLst/>
          </a:prstGeom>
          <a:noFill/>
          <a:ln/>
        </p:spPr>
        <p:txBody>
          <a:bodyPr wrap="square" lIns="0" tIns="0" rIns="0" bIns="0" rtlCol="0" anchor="ctr"/>
          <a:lstStyle/>
          <a:p>
            <a:pPr algn="ctr" indent="0" marL="0">
              <a:buNone/>
            </a:pPr>
            <a:r>
              <a:rPr lang="en-US" sz="1400" b="1" dirty="0">
                <a:solidFill>
                  <a:srgbClr val="0E7C7B"/>
                </a:solidFill>
                <a:latin typeface="Calibri" pitchFamily="34" charset="0"/>
                <a:ea typeface="Calibri" pitchFamily="34" charset="-122"/>
                <a:cs typeface="Calibri" pitchFamily="34" charset="-120"/>
              </a:rPr>
              <a:t>to Microsoft Purview Modules &amp; Our Implementation Phases</a:t>
            </a:r>
            <a:endParaRPr lang="en-US" sz="1400" dirty="0"/>
          </a:p>
        </p:txBody>
      </p:sp>
      <p:sp>
        <p:nvSpPr>
          <p:cNvPr id="7" name="Text 5"/>
          <p:cNvSpPr/>
          <p:nvPr/>
        </p:nvSpPr>
        <p:spPr>
          <a:xfrm>
            <a:off x="914400" y="3200400"/>
            <a:ext cx="7315200" cy="274320"/>
          </a:xfrm>
          <a:prstGeom prst="rect">
            <a:avLst/>
          </a:prstGeom>
          <a:noFill/>
          <a:ln/>
        </p:spPr>
        <p:txBody>
          <a:bodyPr wrap="square" lIns="0" tIns="0" rIns="0" bIns="0" rtlCol="0" anchor="ctr"/>
          <a:lstStyle/>
          <a:p>
            <a:pPr algn="ctr" indent="0" marL="0">
              <a:buNone/>
            </a:pPr>
            <a:r>
              <a:rPr lang="en-US" sz="1000" i="1" dirty="0">
                <a:solidFill>
                  <a:srgbClr val="888888"/>
                </a:solidFill>
                <a:latin typeface="Calibri" pitchFamily="34" charset="0"/>
                <a:ea typeface="Calibri" pitchFamily="34" charset="-122"/>
                <a:cs typeface="Calibri" pitchFamily="34" charset="-120"/>
              </a:rPr>
              <a:t>Framework: DAMA-DMBOK2R, DAMA International, 2024</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9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5C"/>
          </a:solidFill>
          <a:ln/>
        </p:spPr>
      </p:sp>
      <p:sp>
        <p:nvSpPr>
          <p:cNvPr id="3" name="Text 1"/>
          <p:cNvSpPr/>
          <p:nvPr/>
        </p:nvSpPr>
        <p:spPr>
          <a:xfrm>
            <a:off x="548640" y="137160"/>
            <a:ext cx="8229600" cy="54864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DAMA DMBOK2 → Purview Module Mapping</a:t>
            </a:r>
            <a:endParaRPr lang="en-US" sz="2200" dirty="0"/>
          </a:p>
        </p:txBody>
      </p:sp>
      <p:sp>
        <p:nvSpPr>
          <p:cNvPr id="4" name="Text 2"/>
          <p:cNvSpPr/>
          <p:nvPr/>
        </p:nvSpPr>
        <p:spPr>
          <a:xfrm>
            <a:off x="548640" y="502920"/>
            <a:ext cx="7315200" cy="274320"/>
          </a:xfrm>
          <a:prstGeom prst="rect">
            <a:avLst/>
          </a:prstGeom>
          <a:noFill/>
          <a:ln/>
        </p:spPr>
        <p:txBody>
          <a:bodyPr wrap="square" lIns="0" tIns="0" rIns="0" bIns="0" rtlCol="0" anchor="ctr"/>
          <a:lstStyle/>
          <a:p>
            <a:pPr indent="0" marL="0">
              <a:buNone/>
            </a:pPr>
            <a:r>
              <a:rPr lang="en-US" sz="1000" i="1" dirty="0">
                <a:solidFill>
                  <a:srgbClr val="AABBCC"/>
                </a:solidFill>
                <a:latin typeface="Calibri" pitchFamily="34" charset="0"/>
                <a:ea typeface="Calibri" pitchFamily="34" charset="-122"/>
                <a:cs typeface="Calibri" pitchFamily="34" charset="-120"/>
              </a:rPr>
              <a:t>Every DAMA knowledge area mapped to a specific Purview capability and roadmap phase</a:t>
            </a:r>
            <a:endParaRPr lang="en-US" sz="1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182880" y="914400"/>
          <a:ext cx="8778240" cy="914400"/>
        </p:xfrm>
        <a:graphic>
          <a:graphicData uri="http://schemas.openxmlformats.org/drawingml/2006/table">
            <a:tbl>
              <a:tblPr/>
              <a:tblGrid>
                <a:gridCol w="1828800"/>
                <a:gridCol w="3291840"/>
                <a:gridCol w="1280160"/>
                <a:gridCol w="914400"/>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DAMA Knowledge Area</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5C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Microsoft Purview Module</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5C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Roadmap Phase</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5C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Coverage</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5C0"/>
                    </a:solidFill>
                  </a:tcPr>
                </a:tc>
              </a:tr>
              <a:tr h="0">
                <a:tc>
                  <a:txBody>
                    <a:bodyPr/>
                    <a:lstStyle/>
                    <a:p>
                      <a:pPr indent="0" marL="0">
                        <a:buNone/>
                      </a:pPr>
                      <a:r>
                        <a:rPr lang="en-US" sz="850" b="1" dirty="0">
                          <a:solidFill>
                            <a:srgbClr val="333333"/>
                          </a:solidFill>
                          <a:latin typeface="Calibri" pitchFamily="34" charset="0"/>
                          <a:ea typeface="Calibri" pitchFamily="34" charset="-122"/>
                          <a:cs typeface="Calibri" pitchFamily="34" charset="-120"/>
                        </a:rPr>
                        <a:t>Data Governance (Hub)</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Unified Catalog, Governance Domains, Health Controls</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900" b="1" dirty="0">
                          <a:solidFill>
                            <a:srgbClr val="333333"/>
                          </a:solidFill>
                          <a:latin typeface="Calibri" pitchFamily="34" charset="0"/>
                          <a:ea typeface="Calibri" pitchFamily="34" charset="-122"/>
                          <a:cs typeface="Calibri" pitchFamily="34" charset="-120"/>
                        </a:rPr>
                        <a:t>P3, P6</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900" b="1" dirty="0">
                          <a:solidFill>
                            <a:srgbClr val="0E7C7B"/>
                          </a:solidFill>
                          <a:latin typeface="Calibri" pitchFamily="34" charset="0"/>
                          <a:ea typeface="Calibri" pitchFamily="34" charset="-122"/>
                          <a:cs typeface="Calibri" pitchFamily="34" charset="-120"/>
                        </a:rPr>
                        <a:t>Full</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0">
                <a:tc>
                  <a:txBody>
                    <a:bodyPr/>
                    <a:lstStyle/>
                    <a:p>
                      <a:pPr indent="0" marL="0">
                        <a:buNone/>
                      </a:pPr>
                      <a:r>
                        <a:rPr lang="en-US" sz="850" b="1" dirty="0">
                          <a:solidFill>
                            <a:srgbClr val="333333"/>
                          </a:solidFill>
                          <a:latin typeface="Calibri" pitchFamily="34" charset="0"/>
                          <a:ea typeface="Calibri" pitchFamily="34" charset="-122"/>
                          <a:cs typeface="Calibri" pitchFamily="34" charset="-120"/>
                        </a:rPr>
                        <a:t>Data Architecture</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Data Map (source registration, collections, platform domains)</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333333"/>
                          </a:solidFill>
                          <a:latin typeface="Calibri" pitchFamily="34" charset="0"/>
                          <a:ea typeface="Calibri" pitchFamily="34" charset="-122"/>
                          <a:cs typeface="Calibri" pitchFamily="34" charset="-120"/>
                        </a:rPr>
                        <a:t>P1</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999999"/>
                          </a:solidFill>
                          <a:latin typeface="Calibri" pitchFamily="34" charset="0"/>
                          <a:ea typeface="Calibri" pitchFamily="34" charset="-122"/>
                          <a:cs typeface="Calibri" pitchFamily="34" charset="-120"/>
                        </a:rPr>
                        <a:t>Partial</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333333"/>
                          </a:solidFill>
                          <a:latin typeface="Calibri" pitchFamily="34" charset="0"/>
                          <a:ea typeface="Calibri" pitchFamily="34" charset="-122"/>
                          <a:cs typeface="Calibri" pitchFamily="34" charset="-120"/>
                        </a:rPr>
                        <a:t>Data Modeling &amp; Design</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Data Map (schema capture), Lineage visualisation</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900" b="1" dirty="0">
                          <a:solidFill>
                            <a:srgbClr val="333333"/>
                          </a:solidFill>
                          <a:latin typeface="Calibri" pitchFamily="34" charset="0"/>
                          <a:ea typeface="Calibri" pitchFamily="34" charset="-122"/>
                          <a:cs typeface="Calibri" pitchFamily="34" charset="-120"/>
                        </a:rPr>
                        <a:t>P1</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900" b="1" dirty="0">
                          <a:solidFill>
                            <a:srgbClr val="999999"/>
                          </a:solidFill>
                          <a:latin typeface="Calibri" pitchFamily="34" charset="0"/>
                          <a:ea typeface="Calibri" pitchFamily="34" charset="-122"/>
                          <a:cs typeface="Calibri" pitchFamily="34" charset="-120"/>
                        </a:rPr>
                        <a:t>Partial</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0">
                <a:tc>
                  <a:txBody>
                    <a:bodyPr/>
                    <a:lstStyle/>
                    <a:p>
                      <a:pPr indent="0" marL="0">
                        <a:buNone/>
                      </a:pPr>
                      <a:r>
                        <a:rPr lang="en-US" sz="850" b="1" dirty="0">
                          <a:solidFill>
                            <a:srgbClr val="333333"/>
                          </a:solidFill>
                          <a:latin typeface="Calibri" pitchFamily="34" charset="0"/>
                          <a:ea typeface="Calibri" pitchFamily="34" charset="-122"/>
                          <a:cs typeface="Calibri" pitchFamily="34" charset="-120"/>
                        </a:rPr>
                        <a:t>Data Storage &amp; Operations</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Data Map (native + custom connectors: Azure, AWS, GCP, Salesforce, NetSuite, Workday)</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333333"/>
                          </a:solidFill>
                          <a:latin typeface="Calibri" pitchFamily="34" charset="0"/>
                          <a:ea typeface="Calibri" pitchFamily="34" charset="-122"/>
                          <a:cs typeface="Calibri" pitchFamily="34" charset="-120"/>
                        </a:rPr>
                        <a:t>P1</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D4740E"/>
                          </a:solidFill>
                          <a:latin typeface="Calibri" pitchFamily="34" charset="0"/>
                          <a:ea typeface="Calibri" pitchFamily="34" charset="-122"/>
                          <a:cs typeface="Calibri" pitchFamily="34" charset="-120"/>
                        </a:rPr>
                        <a:t>Moderate</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333333"/>
                          </a:solidFill>
                          <a:latin typeface="Calibri" pitchFamily="34" charset="0"/>
                          <a:ea typeface="Calibri" pitchFamily="34" charset="-122"/>
                          <a:cs typeface="Calibri" pitchFamily="34" charset="-120"/>
                        </a:rPr>
                        <a:t>Data Security</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Info Protection, DLP, Insider Risk, DSPM, Adaptive Protection</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900" b="1" dirty="0">
                          <a:solidFill>
                            <a:srgbClr val="333333"/>
                          </a:solidFill>
                          <a:latin typeface="Calibri" pitchFamily="34" charset="0"/>
                          <a:ea typeface="Calibri" pitchFamily="34" charset="-122"/>
                          <a:cs typeface="Calibri" pitchFamily="34" charset="-120"/>
                        </a:rPr>
                        <a:t>P2, P5</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900" b="1" dirty="0">
                          <a:solidFill>
                            <a:srgbClr val="0E7C7B"/>
                          </a:solidFill>
                          <a:latin typeface="Calibri" pitchFamily="34" charset="0"/>
                          <a:ea typeface="Calibri" pitchFamily="34" charset="-122"/>
                          <a:cs typeface="Calibri" pitchFamily="34" charset="-120"/>
                        </a:rPr>
                        <a:t>Full</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0">
                <a:tc>
                  <a:txBody>
                    <a:bodyPr/>
                    <a:lstStyle/>
                    <a:p>
                      <a:pPr indent="0" marL="0">
                        <a:buNone/>
                      </a:pPr>
                      <a:r>
                        <a:rPr lang="en-US" sz="850" b="1" dirty="0">
                          <a:solidFill>
                            <a:srgbClr val="333333"/>
                          </a:solidFill>
                          <a:latin typeface="Calibri" pitchFamily="34" charset="0"/>
                          <a:ea typeface="Calibri" pitchFamily="34" charset="-122"/>
                          <a:cs typeface="Calibri" pitchFamily="34" charset="-120"/>
                        </a:rPr>
                        <a:t>Data Integration &amp; Interoperability</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Data Map (lineage) + Custom connectors (cross-system lineage via Atlas v2)</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333333"/>
                          </a:solidFill>
                          <a:latin typeface="Calibri" pitchFamily="34" charset="0"/>
                          <a:ea typeface="Calibri" pitchFamily="34" charset="-122"/>
                          <a:cs typeface="Calibri" pitchFamily="34" charset="-120"/>
                        </a:rPr>
                        <a:t>P1, P4</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E7C7B"/>
                          </a:solidFill>
                          <a:latin typeface="Calibri" pitchFamily="34" charset="0"/>
                          <a:ea typeface="Calibri" pitchFamily="34" charset="-122"/>
                          <a:cs typeface="Calibri" pitchFamily="34" charset="-120"/>
                        </a:rPr>
                        <a:t>Full</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333333"/>
                          </a:solidFill>
                          <a:latin typeface="Calibri" pitchFamily="34" charset="0"/>
                          <a:ea typeface="Calibri" pitchFamily="34" charset="-122"/>
                          <a:cs typeface="Calibri" pitchFamily="34" charset="-120"/>
                        </a:rPr>
                        <a:t>Document &amp; Content Mgmt</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Sensitivity Labels on M365 (SharePoint, OneDrive, Teams)</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900" b="1" dirty="0">
                          <a:solidFill>
                            <a:srgbClr val="333333"/>
                          </a:solidFill>
                          <a:latin typeface="Calibri" pitchFamily="34" charset="0"/>
                          <a:ea typeface="Calibri" pitchFamily="34" charset="-122"/>
                          <a:cs typeface="Calibri" pitchFamily="34" charset="-120"/>
                        </a:rPr>
                        <a:t>P2, P6</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900" b="1" dirty="0">
                          <a:solidFill>
                            <a:srgbClr val="D4740E"/>
                          </a:solidFill>
                          <a:latin typeface="Calibri" pitchFamily="34" charset="0"/>
                          <a:ea typeface="Calibri" pitchFamily="34" charset="-122"/>
                          <a:cs typeface="Calibri" pitchFamily="34" charset="-120"/>
                        </a:rPr>
                        <a:t>Moderate</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0">
                <a:tc>
                  <a:txBody>
                    <a:bodyPr/>
                    <a:lstStyle/>
                    <a:p>
                      <a:pPr indent="0" marL="0">
                        <a:buNone/>
                      </a:pPr>
                      <a:r>
                        <a:rPr lang="en-US" sz="850" b="1" dirty="0">
                          <a:solidFill>
                            <a:srgbClr val="333333"/>
                          </a:solidFill>
                          <a:latin typeface="Calibri" pitchFamily="34" charset="0"/>
                          <a:ea typeface="Calibri" pitchFamily="34" charset="-122"/>
                          <a:cs typeface="Calibri" pitchFamily="34" charset="-120"/>
                        </a:rPr>
                        <a:t>Reference &amp; Master Data</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Critical Data Elements (CDEs), Data Products</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333333"/>
                          </a:solidFill>
                          <a:latin typeface="Calibri" pitchFamily="34" charset="0"/>
                          <a:ea typeface="Calibri" pitchFamily="34" charset="-122"/>
                          <a:cs typeface="Calibri" pitchFamily="34" charset="-120"/>
                        </a:rPr>
                        <a:t>P4</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D4740E"/>
                          </a:solidFill>
                          <a:latin typeface="Calibri" pitchFamily="34" charset="0"/>
                          <a:ea typeface="Calibri" pitchFamily="34" charset="-122"/>
                          <a:cs typeface="Calibri" pitchFamily="34" charset="-120"/>
                        </a:rPr>
                        <a:t>Moderate</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333333"/>
                          </a:solidFill>
                          <a:latin typeface="Calibri" pitchFamily="34" charset="0"/>
                          <a:ea typeface="Calibri" pitchFamily="34" charset="-122"/>
                          <a:cs typeface="Calibri" pitchFamily="34" charset="-120"/>
                        </a:rPr>
                        <a:t>Data Warehousing &amp; BI</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Data Map (Power BI, Fabric connectors), Purview Analytics to OneLake</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900" b="1" dirty="0">
                          <a:solidFill>
                            <a:srgbClr val="333333"/>
                          </a:solidFill>
                          <a:latin typeface="Calibri" pitchFamily="34" charset="0"/>
                          <a:ea typeface="Calibri" pitchFamily="34" charset="-122"/>
                          <a:cs typeface="Calibri" pitchFamily="34" charset="-120"/>
                        </a:rPr>
                        <a:t>P1, P6</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900" b="1" dirty="0">
                          <a:solidFill>
                            <a:srgbClr val="D4740E"/>
                          </a:solidFill>
                          <a:latin typeface="Calibri" pitchFamily="34" charset="0"/>
                          <a:ea typeface="Calibri" pitchFamily="34" charset="-122"/>
                          <a:cs typeface="Calibri" pitchFamily="34" charset="-120"/>
                        </a:rPr>
                        <a:t>Moderate</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0">
                <a:tc>
                  <a:txBody>
                    <a:bodyPr/>
                    <a:lstStyle/>
                    <a:p>
                      <a:pPr indent="0" marL="0">
                        <a:buNone/>
                      </a:pPr>
                      <a:r>
                        <a:rPr lang="en-US" sz="850" b="1" dirty="0">
                          <a:solidFill>
                            <a:srgbClr val="333333"/>
                          </a:solidFill>
                          <a:latin typeface="Calibri" pitchFamily="34" charset="0"/>
                          <a:ea typeface="Calibri" pitchFamily="34" charset="-122"/>
                          <a:cs typeface="Calibri" pitchFamily="34" charset="-120"/>
                        </a:rPr>
                        <a:t>Metadata Management</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Data Map + Custom connectors (SaaS metadata) + Enterprise Glossary</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333333"/>
                          </a:solidFill>
                          <a:latin typeface="Calibri" pitchFamily="34" charset="0"/>
                          <a:ea typeface="Calibri" pitchFamily="34" charset="-122"/>
                          <a:cs typeface="Calibri" pitchFamily="34" charset="-120"/>
                        </a:rPr>
                        <a:t>P1, P3</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E7C7B"/>
                          </a:solidFill>
                          <a:latin typeface="Calibri" pitchFamily="34" charset="0"/>
                          <a:ea typeface="Calibri" pitchFamily="34" charset="-122"/>
                          <a:cs typeface="Calibri" pitchFamily="34" charset="-120"/>
                        </a:rPr>
                        <a:t>Full</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333333"/>
                          </a:solidFill>
                          <a:latin typeface="Calibri" pitchFamily="34" charset="0"/>
                          <a:ea typeface="Calibri" pitchFamily="34" charset="-122"/>
                          <a:cs typeface="Calibri" pitchFamily="34" charset="-120"/>
                        </a:rPr>
                        <a:t>Data Quality</a:t>
                      </a:r>
                      <a:endParaRPr lang="en-US" sz="8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Data Quality scanner, Health Controls, CDE quality rules</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900" b="1" dirty="0">
                          <a:solidFill>
                            <a:srgbClr val="333333"/>
                          </a:solidFill>
                          <a:latin typeface="Calibri" pitchFamily="34" charset="0"/>
                          <a:ea typeface="Calibri" pitchFamily="34" charset="-122"/>
                          <a:cs typeface="Calibri" pitchFamily="34" charset="-120"/>
                        </a:rPr>
                        <a:t>P4, P6</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900" b="1" dirty="0">
                          <a:solidFill>
                            <a:srgbClr val="0E7C7B"/>
                          </a:solidFill>
                          <a:latin typeface="Calibri" pitchFamily="34" charset="0"/>
                          <a:ea typeface="Calibri" pitchFamily="34" charset="-122"/>
                          <a:cs typeface="Calibri" pitchFamily="34" charset="-120"/>
                        </a:rPr>
                        <a:t>Full</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bl>
          </a:graphicData>
        </a:graphic>
      </p:graphicFrame>
      <p:sp>
        <p:nvSpPr>
          <p:cNvPr id="6" name="Text 3"/>
          <p:cNvSpPr/>
          <p:nvPr/>
        </p:nvSpPr>
        <p:spPr>
          <a:xfrm>
            <a:off x="182880" y="4434840"/>
            <a:ext cx="8778240" cy="365760"/>
          </a:xfrm>
          <a:prstGeom prst="rect">
            <a:avLst/>
          </a:prstGeom>
          <a:noFill/>
          <a:ln/>
        </p:spPr>
        <p:txBody>
          <a:bodyPr wrap="square" lIns="0" tIns="0" rIns="0" bIns="0" rtlCol="0" anchor="ctr"/>
          <a:lstStyle/>
          <a:p>
            <a:pPr indent="0" marL="0">
              <a:buNone/>
            </a:pPr>
            <a:r>
              <a:rPr lang="en-US" sz="900" b="1" dirty="0">
                <a:solidFill>
                  <a:srgbClr val="1B3A5C"/>
                </a:solidFill>
                <a:latin typeface="Calibri" pitchFamily="34" charset="0"/>
                <a:ea typeface="Calibri" pitchFamily="34" charset="-122"/>
                <a:cs typeface="Calibri" pitchFamily="34" charset="-120"/>
              </a:rPr>
              <a:t xml:space="preserve">Coverage: </a:t>
            </a:r>
            <a:pPr indent="0" marL="0">
              <a:buNone/>
            </a:pPr>
            <a:r>
              <a:rPr lang="en-US" sz="900" b="1" dirty="0">
                <a:solidFill>
                  <a:srgbClr val="0E7C7B"/>
                </a:solidFill>
                <a:latin typeface="Calibri" pitchFamily="34" charset="0"/>
                <a:ea typeface="Calibri" pitchFamily="34" charset="-122"/>
                <a:cs typeface="Calibri" pitchFamily="34" charset="-120"/>
              </a:rPr>
              <a:t>Full</a:t>
            </a:r>
            <a:pPr indent="0" marL="0">
              <a:buNone/>
            </a:pPr>
            <a:r>
              <a:rPr lang="en-US" sz="900" dirty="0">
                <a:solidFill>
                  <a:srgbClr val="333333"/>
                </a:solidFill>
                <a:latin typeface="Calibri" pitchFamily="34" charset="0"/>
                <a:ea typeface="Calibri" pitchFamily="34" charset="-122"/>
                <a:cs typeface="Calibri" pitchFamily="34" charset="-120"/>
              </a:rPr>
              <a:t xml:space="preserve"> = Purview (native + custom connectors) provides comprehensive capability  |  </a:t>
            </a:r>
            <a:pPr indent="0" marL="0">
              <a:buNone/>
            </a:pPr>
            <a:r>
              <a:rPr lang="en-US" sz="900" b="1" dirty="0">
                <a:solidFill>
                  <a:srgbClr val="D4740E"/>
                </a:solidFill>
                <a:latin typeface="Calibri" pitchFamily="34" charset="0"/>
                <a:ea typeface="Calibri" pitchFamily="34" charset="-122"/>
                <a:cs typeface="Calibri" pitchFamily="34" charset="-120"/>
              </a:rPr>
              <a:t>Moderate</a:t>
            </a:r>
            <a:pPr indent="0" marL="0">
              <a:buNone/>
            </a:pPr>
            <a:r>
              <a:rPr lang="en-US" sz="900" dirty="0">
                <a:solidFill>
                  <a:srgbClr val="333333"/>
                </a:solidFill>
                <a:latin typeface="Calibri" pitchFamily="34" charset="0"/>
                <a:ea typeface="Calibri" pitchFamily="34" charset="-122"/>
                <a:cs typeface="Calibri" pitchFamily="34" charset="-120"/>
              </a:rPr>
              <a:t xml:space="preserve"> = Purview covers key aspects; custom connectors extend reach  |  </a:t>
            </a:r>
            <a:pPr indent="0" marL="0">
              <a:buNone/>
            </a:pPr>
            <a:r>
              <a:rPr lang="en-US" sz="900" b="1" dirty="0">
                <a:solidFill>
                  <a:srgbClr val="999999"/>
                </a:solidFill>
                <a:latin typeface="Calibri" pitchFamily="34" charset="0"/>
                <a:ea typeface="Calibri" pitchFamily="34" charset="-122"/>
                <a:cs typeface="Calibri" pitchFamily="34" charset="-120"/>
              </a:rPr>
              <a:t>Partial</a:t>
            </a:r>
            <a:pPr indent="0" marL="0">
              <a:buNone/>
            </a:pPr>
            <a:r>
              <a:rPr lang="en-US" sz="900" dirty="0">
                <a:solidFill>
                  <a:srgbClr val="333333"/>
                </a:solidFill>
                <a:latin typeface="Calibri" pitchFamily="34" charset="0"/>
                <a:ea typeface="Calibri" pitchFamily="34" charset="-122"/>
                <a:cs typeface="Calibri" pitchFamily="34" charset="-120"/>
              </a:rPr>
              <a:t xml:space="preserve"> = Purview contributes metadata visibility; dedicated design tools needed</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9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5C"/>
          </a:solidFill>
          <a:ln/>
        </p:spPr>
      </p:sp>
      <p:sp>
        <p:nvSpPr>
          <p:cNvPr id="3" name="Text 1"/>
          <p:cNvSpPr/>
          <p:nvPr/>
        </p:nvSpPr>
        <p:spPr>
          <a:xfrm>
            <a:off x="548640" y="137160"/>
            <a:ext cx="8229600" cy="54864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DAMA Wheel → Purview: Where Each Area Lands</a:t>
            </a:r>
            <a:endParaRPr lang="en-US" sz="2200" dirty="0"/>
          </a:p>
        </p:txBody>
      </p:sp>
      <p:sp>
        <p:nvSpPr>
          <p:cNvPr id="4" name="Text 2"/>
          <p:cNvSpPr/>
          <p:nvPr/>
        </p:nvSpPr>
        <p:spPr>
          <a:xfrm>
            <a:off x="457200" y="960120"/>
            <a:ext cx="5486400" cy="256032"/>
          </a:xfrm>
          <a:prstGeom prst="rect">
            <a:avLst/>
          </a:prstGeom>
          <a:noFill/>
          <a:ln/>
        </p:spPr>
        <p:txBody>
          <a:bodyPr wrap="square" lIns="0" tIns="0" rIns="0" bIns="0" rtlCol="0" anchor="ctr"/>
          <a:lstStyle/>
          <a:p>
            <a:pPr indent="0" marL="0">
              <a:buNone/>
            </a:pPr>
            <a:r>
              <a:rPr lang="en-US" sz="1000" b="1" dirty="0">
                <a:solidFill>
                  <a:srgbClr val="0E7C7B"/>
                </a:solidFill>
                <a:latin typeface="Calibri" pitchFamily="34" charset="0"/>
                <a:ea typeface="Calibri" pitchFamily="34" charset="-122"/>
                <a:cs typeface="Calibri" pitchFamily="34" charset="-120"/>
              </a:rPr>
              <a:t>FULL COVERAGE – Purview native + custom connectors</a:t>
            </a:r>
            <a:endParaRPr lang="en-US" sz="1000" dirty="0"/>
          </a:p>
        </p:txBody>
      </p:sp>
      <p:sp>
        <p:nvSpPr>
          <p:cNvPr id="5" name="Shape 3"/>
          <p:cNvSpPr/>
          <p:nvPr/>
        </p:nvSpPr>
        <p:spPr>
          <a:xfrm>
            <a:off x="457200" y="1280160"/>
            <a:ext cx="1554480" cy="10515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457200" y="1280160"/>
            <a:ext cx="1554480" cy="256032"/>
          </a:xfrm>
          <a:prstGeom prst="rect">
            <a:avLst/>
          </a:prstGeom>
          <a:solidFill>
            <a:srgbClr val="0E7C7B"/>
          </a:solidFill>
          <a:ln/>
        </p:spPr>
      </p:sp>
      <p:sp>
        <p:nvSpPr>
          <p:cNvPr id="7" name="Text 5"/>
          <p:cNvSpPr/>
          <p:nvPr/>
        </p:nvSpPr>
        <p:spPr>
          <a:xfrm>
            <a:off x="512064" y="1298448"/>
            <a:ext cx="1444752" cy="219456"/>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Data Governance</a:t>
            </a:r>
            <a:endParaRPr lang="en-US" sz="850" dirty="0"/>
          </a:p>
        </p:txBody>
      </p:sp>
      <p:sp>
        <p:nvSpPr>
          <p:cNvPr id="8" name="Text 6"/>
          <p:cNvSpPr/>
          <p:nvPr/>
        </p:nvSpPr>
        <p:spPr>
          <a:xfrm>
            <a:off x="512064" y="1591056"/>
            <a:ext cx="1444752" cy="411480"/>
          </a:xfrm>
          <a:prstGeom prst="rect">
            <a:avLst/>
          </a:prstGeom>
          <a:noFill/>
          <a:ln/>
        </p:spPr>
        <p:txBody>
          <a:bodyPr wrap="square" lIns="0" tIns="0" rIns="0" bIns="0" rtlCol="0" anchor="ctr"/>
          <a:lstStyle/>
          <a:p>
            <a:pPr indent="0" marL="0">
              <a:buNone/>
            </a:pPr>
            <a:r>
              <a:rPr lang="en-US" sz="750" dirty="0">
                <a:solidFill>
                  <a:srgbClr val="333333"/>
                </a:solidFill>
                <a:latin typeface="Calibri" pitchFamily="34" charset="0"/>
                <a:ea typeface="Calibri" pitchFamily="34" charset="-122"/>
                <a:cs typeface="Calibri" pitchFamily="34" charset="-120"/>
              </a:rPr>
              <a:t>Unified Catalog, Domains, Health Controls</a:t>
            </a:r>
            <a:endParaRPr lang="en-US" sz="750" dirty="0"/>
          </a:p>
        </p:txBody>
      </p:sp>
      <p:sp>
        <p:nvSpPr>
          <p:cNvPr id="9" name="Text 7"/>
          <p:cNvSpPr/>
          <p:nvPr/>
        </p:nvSpPr>
        <p:spPr>
          <a:xfrm>
            <a:off x="512064" y="2057400"/>
            <a:ext cx="1444752" cy="164592"/>
          </a:xfrm>
          <a:prstGeom prst="rect">
            <a:avLst/>
          </a:prstGeom>
          <a:noFill/>
          <a:ln/>
        </p:spPr>
        <p:txBody>
          <a:bodyPr wrap="square" lIns="0" tIns="0" rIns="0" bIns="0" rtlCol="0" anchor="ctr"/>
          <a:lstStyle/>
          <a:p>
            <a:pPr indent="0" marL="0">
              <a:buNone/>
            </a:pPr>
            <a:r>
              <a:rPr lang="en-US" sz="750" b="1" dirty="0">
                <a:solidFill>
                  <a:srgbClr val="0E7C7B"/>
                </a:solidFill>
                <a:latin typeface="Calibri" pitchFamily="34" charset="0"/>
                <a:ea typeface="Calibri" pitchFamily="34" charset="-122"/>
                <a:cs typeface="Calibri" pitchFamily="34" charset="-120"/>
              </a:rPr>
              <a:t>P3 + P6</a:t>
            </a:r>
            <a:endParaRPr lang="en-US" sz="750" dirty="0"/>
          </a:p>
        </p:txBody>
      </p:sp>
      <p:sp>
        <p:nvSpPr>
          <p:cNvPr id="10" name="Shape 8"/>
          <p:cNvSpPr/>
          <p:nvPr/>
        </p:nvSpPr>
        <p:spPr>
          <a:xfrm>
            <a:off x="2148840" y="1280160"/>
            <a:ext cx="1554480" cy="10515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9"/>
          <p:cNvSpPr/>
          <p:nvPr/>
        </p:nvSpPr>
        <p:spPr>
          <a:xfrm>
            <a:off x="2148840" y="1280160"/>
            <a:ext cx="1554480" cy="256032"/>
          </a:xfrm>
          <a:prstGeom prst="rect">
            <a:avLst/>
          </a:prstGeom>
          <a:solidFill>
            <a:srgbClr val="0E7C7B"/>
          </a:solidFill>
          <a:ln/>
        </p:spPr>
      </p:sp>
      <p:sp>
        <p:nvSpPr>
          <p:cNvPr id="12" name="Text 10"/>
          <p:cNvSpPr/>
          <p:nvPr/>
        </p:nvSpPr>
        <p:spPr>
          <a:xfrm>
            <a:off x="2203704" y="1298448"/>
            <a:ext cx="1444752" cy="219456"/>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Data Security</a:t>
            </a:r>
            <a:endParaRPr lang="en-US" sz="850" dirty="0"/>
          </a:p>
        </p:txBody>
      </p:sp>
      <p:sp>
        <p:nvSpPr>
          <p:cNvPr id="13" name="Text 11"/>
          <p:cNvSpPr/>
          <p:nvPr/>
        </p:nvSpPr>
        <p:spPr>
          <a:xfrm>
            <a:off x="2203704" y="1591056"/>
            <a:ext cx="1444752" cy="411480"/>
          </a:xfrm>
          <a:prstGeom prst="rect">
            <a:avLst/>
          </a:prstGeom>
          <a:noFill/>
          <a:ln/>
        </p:spPr>
        <p:txBody>
          <a:bodyPr wrap="square" lIns="0" tIns="0" rIns="0" bIns="0" rtlCol="0" anchor="ctr"/>
          <a:lstStyle/>
          <a:p>
            <a:pPr indent="0" marL="0">
              <a:buNone/>
            </a:pPr>
            <a:r>
              <a:rPr lang="en-US" sz="750" dirty="0">
                <a:solidFill>
                  <a:srgbClr val="333333"/>
                </a:solidFill>
                <a:latin typeface="Calibri" pitchFamily="34" charset="0"/>
                <a:ea typeface="Calibri" pitchFamily="34" charset="-122"/>
                <a:cs typeface="Calibri" pitchFamily="34" charset="-120"/>
              </a:rPr>
              <a:t>DLP, Insider Risk, DSPM, Labels</a:t>
            </a:r>
            <a:endParaRPr lang="en-US" sz="750" dirty="0"/>
          </a:p>
        </p:txBody>
      </p:sp>
      <p:sp>
        <p:nvSpPr>
          <p:cNvPr id="14" name="Text 12"/>
          <p:cNvSpPr/>
          <p:nvPr/>
        </p:nvSpPr>
        <p:spPr>
          <a:xfrm>
            <a:off x="2203704" y="2057400"/>
            <a:ext cx="1444752" cy="164592"/>
          </a:xfrm>
          <a:prstGeom prst="rect">
            <a:avLst/>
          </a:prstGeom>
          <a:noFill/>
          <a:ln/>
        </p:spPr>
        <p:txBody>
          <a:bodyPr wrap="square" lIns="0" tIns="0" rIns="0" bIns="0" rtlCol="0" anchor="ctr"/>
          <a:lstStyle/>
          <a:p>
            <a:pPr indent="0" marL="0">
              <a:buNone/>
            </a:pPr>
            <a:r>
              <a:rPr lang="en-US" sz="750" b="1" dirty="0">
                <a:solidFill>
                  <a:srgbClr val="0E7C7B"/>
                </a:solidFill>
                <a:latin typeface="Calibri" pitchFamily="34" charset="0"/>
                <a:ea typeface="Calibri" pitchFamily="34" charset="-122"/>
                <a:cs typeface="Calibri" pitchFamily="34" charset="-120"/>
              </a:rPr>
              <a:t>P2 + P5</a:t>
            </a:r>
            <a:endParaRPr lang="en-US" sz="750" dirty="0"/>
          </a:p>
        </p:txBody>
      </p:sp>
      <p:sp>
        <p:nvSpPr>
          <p:cNvPr id="15" name="Shape 13"/>
          <p:cNvSpPr/>
          <p:nvPr/>
        </p:nvSpPr>
        <p:spPr>
          <a:xfrm>
            <a:off x="3840480" y="1280160"/>
            <a:ext cx="1554480" cy="10515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6" name="Shape 14"/>
          <p:cNvSpPr/>
          <p:nvPr/>
        </p:nvSpPr>
        <p:spPr>
          <a:xfrm>
            <a:off x="3840480" y="1280160"/>
            <a:ext cx="1554480" cy="256032"/>
          </a:xfrm>
          <a:prstGeom prst="rect">
            <a:avLst/>
          </a:prstGeom>
          <a:solidFill>
            <a:srgbClr val="0E7C7B"/>
          </a:solidFill>
          <a:ln/>
        </p:spPr>
      </p:sp>
      <p:sp>
        <p:nvSpPr>
          <p:cNvPr id="17" name="Text 15"/>
          <p:cNvSpPr/>
          <p:nvPr/>
        </p:nvSpPr>
        <p:spPr>
          <a:xfrm>
            <a:off x="3895344" y="1298448"/>
            <a:ext cx="1444752" cy="219456"/>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Metadata Management</a:t>
            </a:r>
            <a:endParaRPr lang="en-US" sz="850" dirty="0"/>
          </a:p>
        </p:txBody>
      </p:sp>
      <p:sp>
        <p:nvSpPr>
          <p:cNvPr id="18" name="Text 16"/>
          <p:cNvSpPr/>
          <p:nvPr/>
        </p:nvSpPr>
        <p:spPr>
          <a:xfrm>
            <a:off x="3895344" y="1591056"/>
            <a:ext cx="1444752" cy="411480"/>
          </a:xfrm>
          <a:prstGeom prst="rect">
            <a:avLst/>
          </a:prstGeom>
          <a:noFill/>
          <a:ln/>
        </p:spPr>
        <p:txBody>
          <a:bodyPr wrap="square" lIns="0" tIns="0" rIns="0" bIns="0" rtlCol="0" anchor="ctr"/>
          <a:lstStyle/>
          <a:p>
            <a:pPr indent="0" marL="0">
              <a:buNone/>
            </a:pPr>
            <a:r>
              <a:rPr lang="en-US" sz="750" dirty="0">
                <a:solidFill>
                  <a:srgbClr val="333333"/>
                </a:solidFill>
                <a:latin typeface="Calibri" pitchFamily="34" charset="0"/>
                <a:ea typeface="Calibri" pitchFamily="34" charset="-122"/>
                <a:cs typeface="Calibri" pitchFamily="34" charset="-120"/>
              </a:rPr>
              <a:t>Data Map + Custom Connectors + Glossary</a:t>
            </a:r>
            <a:endParaRPr lang="en-US" sz="750" dirty="0"/>
          </a:p>
        </p:txBody>
      </p:sp>
      <p:sp>
        <p:nvSpPr>
          <p:cNvPr id="19" name="Text 17"/>
          <p:cNvSpPr/>
          <p:nvPr/>
        </p:nvSpPr>
        <p:spPr>
          <a:xfrm>
            <a:off x="3895344" y="2057400"/>
            <a:ext cx="1444752" cy="164592"/>
          </a:xfrm>
          <a:prstGeom prst="rect">
            <a:avLst/>
          </a:prstGeom>
          <a:noFill/>
          <a:ln/>
        </p:spPr>
        <p:txBody>
          <a:bodyPr wrap="square" lIns="0" tIns="0" rIns="0" bIns="0" rtlCol="0" anchor="ctr"/>
          <a:lstStyle/>
          <a:p>
            <a:pPr indent="0" marL="0">
              <a:buNone/>
            </a:pPr>
            <a:r>
              <a:rPr lang="en-US" sz="750" b="1" dirty="0">
                <a:solidFill>
                  <a:srgbClr val="0E7C7B"/>
                </a:solidFill>
                <a:latin typeface="Calibri" pitchFamily="34" charset="0"/>
                <a:ea typeface="Calibri" pitchFamily="34" charset="-122"/>
                <a:cs typeface="Calibri" pitchFamily="34" charset="-120"/>
              </a:rPr>
              <a:t>P1 + P3</a:t>
            </a:r>
            <a:endParaRPr lang="en-US" sz="750" dirty="0"/>
          </a:p>
        </p:txBody>
      </p:sp>
      <p:sp>
        <p:nvSpPr>
          <p:cNvPr id="20" name="Shape 18"/>
          <p:cNvSpPr/>
          <p:nvPr/>
        </p:nvSpPr>
        <p:spPr>
          <a:xfrm>
            <a:off x="5532120" y="1280160"/>
            <a:ext cx="1554480" cy="10515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1" name="Shape 19"/>
          <p:cNvSpPr/>
          <p:nvPr/>
        </p:nvSpPr>
        <p:spPr>
          <a:xfrm>
            <a:off x="5532120" y="1280160"/>
            <a:ext cx="1554480" cy="256032"/>
          </a:xfrm>
          <a:prstGeom prst="rect">
            <a:avLst/>
          </a:prstGeom>
          <a:solidFill>
            <a:srgbClr val="0E7C7B"/>
          </a:solidFill>
          <a:ln/>
        </p:spPr>
      </p:sp>
      <p:sp>
        <p:nvSpPr>
          <p:cNvPr id="22" name="Text 20"/>
          <p:cNvSpPr/>
          <p:nvPr/>
        </p:nvSpPr>
        <p:spPr>
          <a:xfrm>
            <a:off x="5586984" y="1298448"/>
            <a:ext cx="1444752" cy="219456"/>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Data Quality</a:t>
            </a:r>
            <a:endParaRPr lang="en-US" sz="850" dirty="0"/>
          </a:p>
        </p:txBody>
      </p:sp>
      <p:sp>
        <p:nvSpPr>
          <p:cNvPr id="23" name="Text 21"/>
          <p:cNvSpPr/>
          <p:nvPr/>
        </p:nvSpPr>
        <p:spPr>
          <a:xfrm>
            <a:off x="5586984" y="1591056"/>
            <a:ext cx="1444752" cy="411480"/>
          </a:xfrm>
          <a:prstGeom prst="rect">
            <a:avLst/>
          </a:prstGeom>
          <a:noFill/>
          <a:ln/>
        </p:spPr>
        <p:txBody>
          <a:bodyPr wrap="square" lIns="0" tIns="0" rIns="0" bIns="0" rtlCol="0" anchor="ctr"/>
          <a:lstStyle/>
          <a:p>
            <a:pPr indent="0" marL="0">
              <a:buNone/>
            </a:pPr>
            <a:r>
              <a:rPr lang="en-US" sz="750" dirty="0">
                <a:solidFill>
                  <a:srgbClr val="333333"/>
                </a:solidFill>
                <a:latin typeface="Calibri" pitchFamily="34" charset="0"/>
                <a:ea typeface="Calibri" pitchFamily="34" charset="-122"/>
                <a:cs typeface="Calibri" pitchFamily="34" charset="-120"/>
              </a:rPr>
              <a:t>Quality Scanner, CDEs, Health Controls</a:t>
            </a:r>
            <a:endParaRPr lang="en-US" sz="750" dirty="0"/>
          </a:p>
        </p:txBody>
      </p:sp>
      <p:sp>
        <p:nvSpPr>
          <p:cNvPr id="24" name="Text 22"/>
          <p:cNvSpPr/>
          <p:nvPr/>
        </p:nvSpPr>
        <p:spPr>
          <a:xfrm>
            <a:off x="5586984" y="2057400"/>
            <a:ext cx="1444752" cy="164592"/>
          </a:xfrm>
          <a:prstGeom prst="rect">
            <a:avLst/>
          </a:prstGeom>
          <a:noFill/>
          <a:ln/>
        </p:spPr>
        <p:txBody>
          <a:bodyPr wrap="square" lIns="0" tIns="0" rIns="0" bIns="0" rtlCol="0" anchor="ctr"/>
          <a:lstStyle/>
          <a:p>
            <a:pPr indent="0" marL="0">
              <a:buNone/>
            </a:pPr>
            <a:r>
              <a:rPr lang="en-US" sz="750" b="1" dirty="0">
                <a:solidFill>
                  <a:srgbClr val="0E7C7B"/>
                </a:solidFill>
                <a:latin typeface="Calibri" pitchFamily="34" charset="0"/>
                <a:ea typeface="Calibri" pitchFamily="34" charset="-122"/>
                <a:cs typeface="Calibri" pitchFamily="34" charset="-120"/>
              </a:rPr>
              <a:t>P4 + P6</a:t>
            </a:r>
            <a:endParaRPr lang="en-US" sz="750" dirty="0"/>
          </a:p>
        </p:txBody>
      </p:sp>
      <p:sp>
        <p:nvSpPr>
          <p:cNvPr id="25" name="Shape 23"/>
          <p:cNvSpPr/>
          <p:nvPr/>
        </p:nvSpPr>
        <p:spPr>
          <a:xfrm>
            <a:off x="7223760" y="1280160"/>
            <a:ext cx="1554480" cy="10515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6" name="Shape 24"/>
          <p:cNvSpPr/>
          <p:nvPr/>
        </p:nvSpPr>
        <p:spPr>
          <a:xfrm>
            <a:off x="7223760" y="1280160"/>
            <a:ext cx="1554480" cy="256032"/>
          </a:xfrm>
          <a:prstGeom prst="rect">
            <a:avLst/>
          </a:prstGeom>
          <a:solidFill>
            <a:srgbClr val="0E7C7B"/>
          </a:solidFill>
          <a:ln/>
        </p:spPr>
      </p:sp>
      <p:sp>
        <p:nvSpPr>
          <p:cNvPr id="27" name="Text 25"/>
          <p:cNvSpPr/>
          <p:nvPr/>
        </p:nvSpPr>
        <p:spPr>
          <a:xfrm>
            <a:off x="7278624" y="1298448"/>
            <a:ext cx="1444752" cy="219456"/>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Data Integration</a:t>
            </a:r>
            <a:endParaRPr lang="en-US" sz="850" dirty="0"/>
          </a:p>
        </p:txBody>
      </p:sp>
      <p:sp>
        <p:nvSpPr>
          <p:cNvPr id="28" name="Text 26"/>
          <p:cNvSpPr/>
          <p:nvPr/>
        </p:nvSpPr>
        <p:spPr>
          <a:xfrm>
            <a:off x="7278624" y="1591056"/>
            <a:ext cx="1444752" cy="411480"/>
          </a:xfrm>
          <a:prstGeom prst="rect">
            <a:avLst/>
          </a:prstGeom>
          <a:noFill/>
          <a:ln/>
        </p:spPr>
        <p:txBody>
          <a:bodyPr wrap="square" lIns="0" tIns="0" rIns="0" bIns="0" rtlCol="0" anchor="ctr"/>
          <a:lstStyle/>
          <a:p>
            <a:pPr indent="0" marL="0">
              <a:buNone/>
            </a:pPr>
            <a:r>
              <a:rPr lang="en-US" sz="750" dirty="0">
                <a:solidFill>
                  <a:srgbClr val="333333"/>
                </a:solidFill>
                <a:latin typeface="Calibri" pitchFamily="34" charset="0"/>
                <a:ea typeface="Calibri" pitchFamily="34" charset="-122"/>
                <a:cs typeface="Calibri" pitchFamily="34" charset="-120"/>
              </a:rPr>
              <a:t>Custom connectors: cross-system lineage via Atlas v2</a:t>
            </a:r>
            <a:endParaRPr lang="en-US" sz="750" dirty="0"/>
          </a:p>
        </p:txBody>
      </p:sp>
      <p:sp>
        <p:nvSpPr>
          <p:cNvPr id="29" name="Text 27"/>
          <p:cNvSpPr/>
          <p:nvPr/>
        </p:nvSpPr>
        <p:spPr>
          <a:xfrm>
            <a:off x="7278624" y="2057400"/>
            <a:ext cx="1444752" cy="164592"/>
          </a:xfrm>
          <a:prstGeom prst="rect">
            <a:avLst/>
          </a:prstGeom>
          <a:noFill/>
          <a:ln/>
        </p:spPr>
        <p:txBody>
          <a:bodyPr wrap="square" lIns="0" tIns="0" rIns="0" bIns="0" rtlCol="0" anchor="ctr"/>
          <a:lstStyle/>
          <a:p>
            <a:pPr indent="0" marL="0">
              <a:buNone/>
            </a:pPr>
            <a:r>
              <a:rPr lang="en-US" sz="750" b="1" dirty="0">
                <a:solidFill>
                  <a:srgbClr val="0E7C7B"/>
                </a:solidFill>
                <a:latin typeface="Calibri" pitchFamily="34" charset="0"/>
                <a:ea typeface="Calibri" pitchFamily="34" charset="-122"/>
                <a:cs typeface="Calibri" pitchFamily="34" charset="-120"/>
              </a:rPr>
              <a:t>P1 + P4</a:t>
            </a:r>
            <a:endParaRPr lang="en-US" sz="750" dirty="0"/>
          </a:p>
        </p:txBody>
      </p:sp>
      <p:sp>
        <p:nvSpPr>
          <p:cNvPr id="30" name="Text 28"/>
          <p:cNvSpPr/>
          <p:nvPr/>
        </p:nvSpPr>
        <p:spPr>
          <a:xfrm>
            <a:off x="457200" y="2514600"/>
            <a:ext cx="7315200" cy="256032"/>
          </a:xfrm>
          <a:prstGeom prst="rect">
            <a:avLst/>
          </a:prstGeom>
          <a:noFill/>
          <a:ln/>
        </p:spPr>
        <p:txBody>
          <a:bodyPr wrap="square" lIns="0" tIns="0" rIns="0" bIns="0" rtlCol="0" anchor="ctr"/>
          <a:lstStyle/>
          <a:p>
            <a:pPr indent="0" marL="0">
              <a:buNone/>
            </a:pPr>
            <a:r>
              <a:rPr lang="en-US" sz="1000" b="1" dirty="0">
                <a:solidFill>
                  <a:srgbClr val="D4740E"/>
                </a:solidFill>
                <a:latin typeface="Calibri" pitchFamily="34" charset="0"/>
                <a:ea typeface="Calibri" pitchFamily="34" charset="-122"/>
                <a:cs typeface="Calibri" pitchFamily="34" charset="-120"/>
              </a:rPr>
              <a:t>MODERATE COVERAGE – Purview covers key aspects; custom connectors extend reach</a:t>
            </a:r>
            <a:endParaRPr lang="en-US" sz="1000" dirty="0"/>
          </a:p>
        </p:txBody>
      </p:sp>
      <p:sp>
        <p:nvSpPr>
          <p:cNvPr id="31" name="Shape 29"/>
          <p:cNvSpPr/>
          <p:nvPr/>
        </p:nvSpPr>
        <p:spPr>
          <a:xfrm>
            <a:off x="457200" y="2834640"/>
            <a:ext cx="1920240" cy="9144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32" name="Shape 30"/>
          <p:cNvSpPr/>
          <p:nvPr/>
        </p:nvSpPr>
        <p:spPr>
          <a:xfrm>
            <a:off x="457200" y="2834640"/>
            <a:ext cx="1920240" cy="274320"/>
          </a:xfrm>
          <a:prstGeom prst="rect">
            <a:avLst/>
          </a:prstGeom>
          <a:solidFill>
            <a:srgbClr val="D4740E"/>
          </a:solidFill>
          <a:ln/>
        </p:spPr>
      </p:sp>
      <p:sp>
        <p:nvSpPr>
          <p:cNvPr id="33" name="Text 31"/>
          <p:cNvSpPr/>
          <p:nvPr/>
        </p:nvSpPr>
        <p:spPr>
          <a:xfrm>
            <a:off x="530352" y="2852928"/>
            <a:ext cx="1773936" cy="237744"/>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Data Storage &amp; Ops</a:t>
            </a:r>
            <a:endParaRPr lang="en-US" sz="900" dirty="0"/>
          </a:p>
        </p:txBody>
      </p:sp>
      <p:sp>
        <p:nvSpPr>
          <p:cNvPr id="34" name="Text 32"/>
          <p:cNvSpPr/>
          <p:nvPr/>
        </p:nvSpPr>
        <p:spPr>
          <a:xfrm>
            <a:off x="530352" y="3182112"/>
            <a:ext cx="1773936" cy="320040"/>
          </a:xfrm>
          <a:prstGeom prst="rect">
            <a:avLst/>
          </a:prstGeom>
          <a:noFill/>
          <a:ln/>
        </p:spPr>
        <p:txBody>
          <a:bodyPr wrap="square" lIns="0" tIns="0" rIns="0" bIns="0" rtlCol="0" anchor="ctr"/>
          <a:lstStyle/>
          <a:p>
            <a:pPr indent="0" marL="0">
              <a:buNone/>
            </a:pPr>
            <a:r>
              <a:rPr lang="en-US" sz="800" dirty="0">
                <a:solidFill>
                  <a:srgbClr val="333333"/>
                </a:solidFill>
                <a:latin typeface="Calibri" pitchFamily="34" charset="0"/>
                <a:ea typeface="Calibri" pitchFamily="34" charset="-122"/>
                <a:cs typeface="Calibri" pitchFamily="34" charset="-120"/>
              </a:rPr>
              <a:t>Native + custom connectors for SaaS sources</a:t>
            </a:r>
            <a:endParaRPr lang="en-US" sz="800" dirty="0"/>
          </a:p>
        </p:txBody>
      </p:sp>
      <p:sp>
        <p:nvSpPr>
          <p:cNvPr id="35" name="Text 33"/>
          <p:cNvSpPr/>
          <p:nvPr/>
        </p:nvSpPr>
        <p:spPr>
          <a:xfrm>
            <a:off x="530352" y="3520440"/>
            <a:ext cx="1773936" cy="164592"/>
          </a:xfrm>
          <a:prstGeom prst="rect">
            <a:avLst/>
          </a:prstGeom>
          <a:noFill/>
          <a:ln/>
        </p:spPr>
        <p:txBody>
          <a:bodyPr wrap="square" lIns="0" tIns="0" rIns="0" bIns="0" rtlCol="0" anchor="ctr"/>
          <a:lstStyle/>
          <a:p>
            <a:pPr indent="0" marL="0">
              <a:buNone/>
            </a:pPr>
            <a:r>
              <a:rPr lang="en-US" sz="800" b="1" dirty="0">
                <a:solidFill>
                  <a:srgbClr val="D4740E"/>
                </a:solidFill>
                <a:latin typeface="Calibri" pitchFamily="34" charset="0"/>
                <a:ea typeface="Calibri" pitchFamily="34" charset="-122"/>
                <a:cs typeface="Calibri" pitchFamily="34" charset="-120"/>
              </a:rPr>
              <a:t>P1</a:t>
            </a:r>
            <a:endParaRPr lang="en-US" sz="800" dirty="0"/>
          </a:p>
        </p:txBody>
      </p:sp>
      <p:sp>
        <p:nvSpPr>
          <p:cNvPr id="36" name="Shape 34"/>
          <p:cNvSpPr/>
          <p:nvPr/>
        </p:nvSpPr>
        <p:spPr>
          <a:xfrm>
            <a:off x="2560320" y="2834640"/>
            <a:ext cx="1920240" cy="9144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37" name="Shape 35"/>
          <p:cNvSpPr/>
          <p:nvPr/>
        </p:nvSpPr>
        <p:spPr>
          <a:xfrm>
            <a:off x="2560320" y="2834640"/>
            <a:ext cx="1920240" cy="274320"/>
          </a:xfrm>
          <a:prstGeom prst="rect">
            <a:avLst/>
          </a:prstGeom>
          <a:solidFill>
            <a:srgbClr val="D4740E"/>
          </a:solidFill>
          <a:ln/>
        </p:spPr>
      </p:sp>
      <p:sp>
        <p:nvSpPr>
          <p:cNvPr id="38" name="Text 36"/>
          <p:cNvSpPr/>
          <p:nvPr/>
        </p:nvSpPr>
        <p:spPr>
          <a:xfrm>
            <a:off x="2633472" y="2852928"/>
            <a:ext cx="1773936" cy="237744"/>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Document &amp; Content</a:t>
            </a:r>
            <a:endParaRPr lang="en-US" sz="900" dirty="0"/>
          </a:p>
        </p:txBody>
      </p:sp>
      <p:sp>
        <p:nvSpPr>
          <p:cNvPr id="39" name="Text 37"/>
          <p:cNvSpPr/>
          <p:nvPr/>
        </p:nvSpPr>
        <p:spPr>
          <a:xfrm>
            <a:off x="2633472" y="3182112"/>
            <a:ext cx="1773936" cy="320040"/>
          </a:xfrm>
          <a:prstGeom prst="rect">
            <a:avLst/>
          </a:prstGeom>
          <a:noFill/>
          <a:ln/>
        </p:spPr>
        <p:txBody>
          <a:bodyPr wrap="square" lIns="0" tIns="0" rIns="0" bIns="0" rtlCol="0" anchor="ctr"/>
          <a:lstStyle/>
          <a:p>
            <a:pPr indent="0" marL="0">
              <a:buNone/>
            </a:pPr>
            <a:r>
              <a:rPr lang="en-US" sz="800" dirty="0">
                <a:solidFill>
                  <a:srgbClr val="333333"/>
                </a:solidFill>
                <a:latin typeface="Calibri" pitchFamily="34" charset="0"/>
                <a:ea typeface="Calibri" pitchFamily="34" charset="-122"/>
                <a:cs typeface="Calibri" pitchFamily="34" charset="-120"/>
              </a:rPr>
              <a:t>Sensitivity Labels on M365</a:t>
            </a:r>
            <a:endParaRPr lang="en-US" sz="800" dirty="0"/>
          </a:p>
        </p:txBody>
      </p:sp>
      <p:sp>
        <p:nvSpPr>
          <p:cNvPr id="40" name="Text 38"/>
          <p:cNvSpPr/>
          <p:nvPr/>
        </p:nvSpPr>
        <p:spPr>
          <a:xfrm>
            <a:off x="2633472" y="3520440"/>
            <a:ext cx="1773936" cy="164592"/>
          </a:xfrm>
          <a:prstGeom prst="rect">
            <a:avLst/>
          </a:prstGeom>
          <a:noFill/>
          <a:ln/>
        </p:spPr>
        <p:txBody>
          <a:bodyPr wrap="square" lIns="0" tIns="0" rIns="0" bIns="0" rtlCol="0" anchor="ctr"/>
          <a:lstStyle/>
          <a:p>
            <a:pPr indent="0" marL="0">
              <a:buNone/>
            </a:pPr>
            <a:r>
              <a:rPr lang="en-US" sz="800" b="1" dirty="0">
                <a:solidFill>
                  <a:srgbClr val="D4740E"/>
                </a:solidFill>
                <a:latin typeface="Calibri" pitchFamily="34" charset="0"/>
                <a:ea typeface="Calibri" pitchFamily="34" charset="-122"/>
                <a:cs typeface="Calibri" pitchFamily="34" charset="-120"/>
              </a:rPr>
              <a:t>P2 + P6</a:t>
            </a:r>
            <a:endParaRPr lang="en-US" sz="800" dirty="0"/>
          </a:p>
        </p:txBody>
      </p:sp>
      <p:sp>
        <p:nvSpPr>
          <p:cNvPr id="41" name="Shape 39"/>
          <p:cNvSpPr/>
          <p:nvPr/>
        </p:nvSpPr>
        <p:spPr>
          <a:xfrm>
            <a:off x="4663440" y="2834640"/>
            <a:ext cx="1920240" cy="9144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42" name="Shape 40"/>
          <p:cNvSpPr/>
          <p:nvPr/>
        </p:nvSpPr>
        <p:spPr>
          <a:xfrm>
            <a:off x="4663440" y="2834640"/>
            <a:ext cx="1920240" cy="274320"/>
          </a:xfrm>
          <a:prstGeom prst="rect">
            <a:avLst/>
          </a:prstGeom>
          <a:solidFill>
            <a:srgbClr val="D4740E"/>
          </a:solidFill>
          <a:ln/>
        </p:spPr>
      </p:sp>
      <p:sp>
        <p:nvSpPr>
          <p:cNvPr id="43" name="Text 41"/>
          <p:cNvSpPr/>
          <p:nvPr/>
        </p:nvSpPr>
        <p:spPr>
          <a:xfrm>
            <a:off x="4736592" y="2852928"/>
            <a:ext cx="1773936" cy="237744"/>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Reference &amp; Master Data</a:t>
            </a:r>
            <a:endParaRPr lang="en-US" sz="900" dirty="0"/>
          </a:p>
        </p:txBody>
      </p:sp>
      <p:sp>
        <p:nvSpPr>
          <p:cNvPr id="44" name="Text 42"/>
          <p:cNvSpPr/>
          <p:nvPr/>
        </p:nvSpPr>
        <p:spPr>
          <a:xfrm>
            <a:off x="4736592" y="3182112"/>
            <a:ext cx="1773936" cy="320040"/>
          </a:xfrm>
          <a:prstGeom prst="rect">
            <a:avLst/>
          </a:prstGeom>
          <a:noFill/>
          <a:ln/>
        </p:spPr>
        <p:txBody>
          <a:bodyPr wrap="square" lIns="0" tIns="0" rIns="0" bIns="0" rtlCol="0" anchor="ctr"/>
          <a:lstStyle/>
          <a:p>
            <a:pPr indent="0" marL="0">
              <a:buNone/>
            </a:pPr>
            <a:r>
              <a:rPr lang="en-US" sz="800" dirty="0">
                <a:solidFill>
                  <a:srgbClr val="333333"/>
                </a:solidFill>
                <a:latin typeface="Calibri" pitchFamily="34" charset="0"/>
                <a:ea typeface="Calibri" pitchFamily="34" charset="-122"/>
                <a:cs typeface="Calibri" pitchFamily="34" charset="-120"/>
              </a:rPr>
              <a:t>CDEs + Data Products</a:t>
            </a:r>
            <a:endParaRPr lang="en-US" sz="800" dirty="0"/>
          </a:p>
        </p:txBody>
      </p:sp>
      <p:sp>
        <p:nvSpPr>
          <p:cNvPr id="45" name="Text 43"/>
          <p:cNvSpPr/>
          <p:nvPr/>
        </p:nvSpPr>
        <p:spPr>
          <a:xfrm>
            <a:off x="4736592" y="3520440"/>
            <a:ext cx="1773936" cy="164592"/>
          </a:xfrm>
          <a:prstGeom prst="rect">
            <a:avLst/>
          </a:prstGeom>
          <a:noFill/>
          <a:ln/>
        </p:spPr>
        <p:txBody>
          <a:bodyPr wrap="square" lIns="0" tIns="0" rIns="0" bIns="0" rtlCol="0" anchor="ctr"/>
          <a:lstStyle/>
          <a:p>
            <a:pPr indent="0" marL="0">
              <a:buNone/>
            </a:pPr>
            <a:r>
              <a:rPr lang="en-US" sz="800" b="1" dirty="0">
                <a:solidFill>
                  <a:srgbClr val="D4740E"/>
                </a:solidFill>
                <a:latin typeface="Calibri" pitchFamily="34" charset="0"/>
                <a:ea typeface="Calibri" pitchFamily="34" charset="-122"/>
                <a:cs typeface="Calibri" pitchFamily="34" charset="-120"/>
              </a:rPr>
              <a:t>P4</a:t>
            </a:r>
            <a:endParaRPr lang="en-US" sz="800" dirty="0"/>
          </a:p>
        </p:txBody>
      </p:sp>
      <p:sp>
        <p:nvSpPr>
          <p:cNvPr id="46" name="Shape 44"/>
          <p:cNvSpPr/>
          <p:nvPr/>
        </p:nvSpPr>
        <p:spPr>
          <a:xfrm>
            <a:off x="6766560" y="2834640"/>
            <a:ext cx="1920240" cy="9144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47" name="Shape 45"/>
          <p:cNvSpPr/>
          <p:nvPr/>
        </p:nvSpPr>
        <p:spPr>
          <a:xfrm>
            <a:off x="6766560" y="2834640"/>
            <a:ext cx="1920240" cy="274320"/>
          </a:xfrm>
          <a:prstGeom prst="rect">
            <a:avLst/>
          </a:prstGeom>
          <a:solidFill>
            <a:srgbClr val="D4740E"/>
          </a:solidFill>
          <a:ln/>
        </p:spPr>
      </p:sp>
      <p:sp>
        <p:nvSpPr>
          <p:cNvPr id="48" name="Text 46"/>
          <p:cNvSpPr/>
          <p:nvPr/>
        </p:nvSpPr>
        <p:spPr>
          <a:xfrm>
            <a:off x="6839712" y="2852928"/>
            <a:ext cx="1773936" cy="237744"/>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DW &amp; BI</a:t>
            </a:r>
            <a:endParaRPr lang="en-US" sz="900" dirty="0"/>
          </a:p>
        </p:txBody>
      </p:sp>
      <p:sp>
        <p:nvSpPr>
          <p:cNvPr id="49" name="Text 47"/>
          <p:cNvSpPr/>
          <p:nvPr/>
        </p:nvSpPr>
        <p:spPr>
          <a:xfrm>
            <a:off x="6839712" y="3182112"/>
            <a:ext cx="1773936" cy="320040"/>
          </a:xfrm>
          <a:prstGeom prst="rect">
            <a:avLst/>
          </a:prstGeom>
          <a:noFill/>
          <a:ln/>
        </p:spPr>
        <p:txBody>
          <a:bodyPr wrap="square" lIns="0" tIns="0" rIns="0" bIns="0" rtlCol="0" anchor="ctr"/>
          <a:lstStyle/>
          <a:p>
            <a:pPr indent="0" marL="0">
              <a:buNone/>
            </a:pPr>
            <a:r>
              <a:rPr lang="en-US" sz="800" dirty="0">
                <a:solidFill>
                  <a:srgbClr val="333333"/>
                </a:solidFill>
                <a:latin typeface="Calibri" pitchFamily="34" charset="0"/>
                <a:ea typeface="Calibri" pitchFamily="34" charset="-122"/>
                <a:cs typeface="Calibri" pitchFamily="34" charset="-120"/>
              </a:rPr>
              <a:t>Power BI / Fabric connectors</a:t>
            </a:r>
            <a:endParaRPr lang="en-US" sz="800" dirty="0"/>
          </a:p>
        </p:txBody>
      </p:sp>
      <p:sp>
        <p:nvSpPr>
          <p:cNvPr id="50" name="Text 48"/>
          <p:cNvSpPr/>
          <p:nvPr/>
        </p:nvSpPr>
        <p:spPr>
          <a:xfrm>
            <a:off x="6839712" y="3520440"/>
            <a:ext cx="1773936" cy="164592"/>
          </a:xfrm>
          <a:prstGeom prst="rect">
            <a:avLst/>
          </a:prstGeom>
          <a:noFill/>
          <a:ln/>
        </p:spPr>
        <p:txBody>
          <a:bodyPr wrap="square" lIns="0" tIns="0" rIns="0" bIns="0" rtlCol="0" anchor="ctr"/>
          <a:lstStyle/>
          <a:p>
            <a:pPr indent="0" marL="0">
              <a:buNone/>
            </a:pPr>
            <a:r>
              <a:rPr lang="en-US" sz="800" b="1" dirty="0">
                <a:solidFill>
                  <a:srgbClr val="D4740E"/>
                </a:solidFill>
                <a:latin typeface="Calibri" pitchFamily="34" charset="0"/>
                <a:ea typeface="Calibri" pitchFamily="34" charset="-122"/>
                <a:cs typeface="Calibri" pitchFamily="34" charset="-120"/>
              </a:rPr>
              <a:t>P1 + P6</a:t>
            </a:r>
            <a:endParaRPr lang="en-US" sz="800" dirty="0"/>
          </a:p>
        </p:txBody>
      </p:sp>
      <p:sp>
        <p:nvSpPr>
          <p:cNvPr id="51" name="Text 49"/>
          <p:cNvSpPr/>
          <p:nvPr/>
        </p:nvSpPr>
        <p:spPr>
          <a:xfrm>
            <a:off x="457200" y="3886200"/>
            <a:ext cx="6400800" cy="228600"/>
          </a:xfrm>
          <a:prstGeom prst="rect">
            <a:avLst/>
          </a:prstGeom>
          <a:noFill/>
          <a:ln/>
        </p:spPr>
        <p:txBody>
          <a:bodyPr wrap="square" lIns="0" tIns="0" rIns="0" bIns="0" rtlCol="0" anchor="ctr"/>
          <a:lstStyle/>
          <a:p>
            <a:pPr indent="0" marL="0">
              <a:buNone/>
            </a:pPr>
            <a:r>
              <a:rPr lang="en-US" sz="1000" b="1" dirty="0">
                <a:solidFill>
                  <a:srgbClr val="777777"/>
                </a:solidFill>
                <a:latin typeface="Calibri" pitchFamily="34" charset="0"/>
                <a:ea typeface="Calibri" pitchFamily="34" charset="-122"/>
                <a:cs typeface="Calibri" pitchFamily="34" charset="-120"/>
              </a:rPr>
              <a:t>PARTIAL – Metadata visibility only; dedicated design tooling needed</a:t>
            </a:r>
            <a:endParaRPr lang="en-US" sz="1000" dirty="0"/>
          </a:p>
        </p:txBody>
      </p:sp>
      <p:sp>
        <p:nvSpPr>
          <p:cNvPr id="52" name="Shape 50"/>
          <p:cNvSpPr/>
          <p:nvPr/>
        </p:nvSpPr>
        <p:spPr>
          <a:xfrm>
            <a:off x="457200" y="4160520"/>
            <a:ext cx="1920240" cy="7772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3" name="Shape 51"/>
          <p:cNvSpPr/>
          <p:nvPr/>
        </p:nvSpPr>
        <p:spPr>
          <a:xfrm>
            <a:off x="457200" y="4160520"/>
            <a:ext cx="1920240" cy="228600"/>
          </a:xfrm>
          <a:prstGeom prst="rect">
            <a:avLst/>
          </a:prstGeom>
          <a:solidFill>
            <a:srgbClr val="777777"/>
          </a:solidFill>
          <a:ln/>
        </p:spPr>
      </p:sp>
      <p:sp>
        <p:nvSpPr>
          <p:cNvPr id="54" name="Text 52"/>
          <p:cNvSpPr/>
          <p:nvPr/>
        </p:nvSpPr>
        <p:spPr>
          <a:xfrm>
            <a:off x="530352" y="4169664"/>
            <a:ext cx="1773936" cy="201168"/>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Data Architecture</a:t>
            </a:r>
            <a:endParaRPr lang="en-US" sz="900" dirty="0"/>
          </a:p>
        </p:txBody>
      </p:sp>
      <p:sp>
        <p:nvSpPr>
          <p:cNvPr id="55" name="Text 53"/>
          <p:cNvSpPr/>
          <p:nvPr/>
        </p:nvSpPr>
        <p:spPr>
          <a:xfrm>
            <a:off x="530352" y="4443984"/>
            <a:ext cx="1773936" cy="274320"/>
          </a:xfrm>
          <a:prstGeom prst="rect">
            <a:avLst/>
          </a:prstGeom>
          <a:noFill/>
          <a:ln/>
        </p:spPr>
        <p:txBody>
          <a:bodyPr wrap="square" lIns="0" tIns="0" rIns="0" bIns="0" rtlCol="0" anchor="ctr"/>
          <a:lstStyle/>
          <a:p>
            <a:pPr indent="0" marL="0">
              <a:buNone/>
            </a:pPr>
            <a:r>
              <a:rPr lang="en-US" sz="800" dirty="0">
                <a:solidFill>
                  <a:srgbClr val="333333"/>
                </a:solidFill>
                <a:latin typeface="Calibri" pitchFamily="34" charset="0"/>
                <a:ea typeface="Calibri" pitchFamily="34" charset="-122"/>
                <a:cs typeface="Calibri" pitchFamily="34" charset="-120"/>
              </a:rPr>
              <a:t>Data Map source registration &amp; collections</a:t>
            </a:r>
            <a:endParaRPr lang="en-US" sz="800" dirty="0"/>
          </a:p>
        </p:txBody>
      </p:sp>
      <p:sp>
        <p:nvSpPr>
          <p:cNvPr id="56" name="Text 54"/>
          <p:cNvSpPr/>
          <p:nvPr/>
        </p:nvSpPr>
        <p:spPr>
          <a:xfrm>
            <a:off x="530352" y="4718304"/>
            <a:ext cx="1773936" cy="146304"/>
          </a:xfrm>
          <a:prstGeom prst="rect">
            <a:avLst/>
          </a:prstGeom>
          <a:noFill/>
          <a:ln/>
        </p:spPr>
        <p:txBody>
          <a:bodyPr wrap="square" lIns="0" tIns="0" rIns="0" bIns="0" rtlCol="0" anchor="ctr"/>
          <a:lstStyle/>
          <a:p>
            <a:pPr indent="0" marL="0">
              <a:buNone/>
            </a:pPr>
            <a:r>
              <a:rPr lang="en-US" sz="800" b="1" dirty="0">
                <a:solidFill>
                  <a:srgbClr val="777777"/>
                </a:solidFill>
                <a:latin typeface="Calibri" pitchFamily="34" charset="0"/>
                <a:ea typeface="Calibri" pitchFamily="34" charset="-122"/>
                <a:cs typeface="Calibri" pitchFamily="34" charset="-120"/>
              </a:rPr>
              <a:t>P1</a:t>
            </a:r>
            <a:endParaRPr lang="en-US" sz="800" dirty="0"/>
          </a:p>
        </p:txBody>
      </p:sp>
      <p:sp>
        <p:nvSpPr>
          <p:cNvPr id="57" name="Shape 55"/>
          <p:cNvSpPr/>
          <p:nvPr/>
        </p:nvSpPr>
        <p:spPr>
          <a:xfrm>
            <a:off x="2560320" y="4160520"/>
            <a:ext cx="1920240" cy="7772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8" name="Shape 56"/>
          <p:cNvSpPr/>
          <p:nvPr/>
        </p:nvSpPr>
        <p:spPr>
          <a:xfrm>
            <a:off x="2560320" y="4160520"/>
            <a:ext cx="1920240" cy="228600"/>
          </a:xfrm>
          <a:prstGeom prst="rect">
            <a:avLst/>
          </a:prstGeom>
          <a:solidFill>
            <a:srgbClr val="777777"/>
          </a:solidFill>
          <a:ln/>
        </p:spPr>
      </p:sp>
      <p:sp>
        <p:nvSpPr>
          <p:cNvPr id="59" name="Text 57"/>
          <p:cNvSpPr/>
          <p:nvPr/>
        </p:nvSpPr>
        <p:spPr>
          <a:xfrm>
            <a:off x="2633472" y="4169664"/>
            <a:ext cx="1773936" cy="201168"/>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Data Modeling &amp; Design</a:t>
            </a:r>
            <a:endParaRPr lang="en-US" sz="900" dirty="0"/>
          </a:p>
        </p:txBody>
      </p:sp>
      <p:sp>
        <p:nvSpPr>
          <p:cNvPr id="60" name="Text 58"/>
          <p:cNvSpPr/>
          <p:nvPr/>
        </p:nvSpPr>
        <p:spPr>
          <a:xfrm>
            <a:off x="2633472" y="4443984"/>
            <a:ext cx="1773936" cy="274320"/>
          </a:xfrm>
          <a:prstGeom prst="rect">
            <a:avLst/>
          </a:prstGeom>
          <a:noFill/>
          <a:ln/>
        </p:spPr>
        <p:txBody>
          <a:bodyPr wrap="square" lIns="0" tIns="0" rIns="0" bIns="0" rtlCol="0" anchor="ctr"/>
          <a:lstStyle/>
          <a:p>
            <a:pPr indent="0" marL="0">
              <a:buNone/>
            </a:pPr>
            <a:r>
              <a:rPr lang="en-US" sz="800" dirty="0">
                <a:solidFill>
                  <a:srgbClr val="333333"/>
                </a:solidFill>
                <a:latin typeface="Calibri" pitchFamily="34" charset="0"/>
                <a:ea typeface="Calibri" pitchFamily="34" charset="-122"/>
                <a:cs typeface="Calibri" pitchFamily="34" charset="-120"/>
              </a:rPr>
              <a:t>Schema capture &amp; lineage visualisation</a:t>
            </a:r>
            <a:endParaRPr lang="en-US" sz="800" dirty="0"/>
          </a:p>
        </p:txBody>
      </p:sp>
      <p:sp>
        <p:nvSpPr>
          <p:cNvPr id="61" name="Text 59"/>
          <p:cNvSpPr/>
          <p:nvPr/>
        </p:nvSpPr>
        <p:spPr>
          <a:xfrm>
            <a:off x="2633472" y="4718304"/>
            <a:ext cx="1773936" cy="146304"/>
          </a:xfrm>
          <a:prstGeom prst="rect">
            <a:avLst/>
          </a:prstGeom>
          <a:noFill/>
          <a:ln/>
        </p:spPr>
        <p:txBody>
          <a:bodyPr wrap="square" lIns="0" tIns="0" rIns="0" bIns="0" rtlCol="0" anchor="ctr"/>
          <a:lstStyle/>
          <a:p>
            <a:pPr indent="0" marL="0">
              <a:buNone/>
            </a:pPr>
            <a:r>
              <a:rPr lang="en-US" sz="800" b="1" dirty="0">
                <a:solidFill>
                  <a:srgbClr val="777777"/>
                </a:solidFill>
                <a:latin typeface="Calibri" pitchFamily="34" charset="0"/>
                <a:ea typeface="Calibri" pitchFamily="34" charset="-122"/>
                <a:cs typeface="Calibri" pitchFamily="34" charset="-120"/>
              </a:rPr>
              <a:t>P1</a:t>
            </a:r>
            <a:endParaRPr lang="en-US" sz="800" dirty="0"/>
          </a:p>
        </p:txBody>
      </p:sp>
      <p:sp>
        <p:nvSpPr>
          <p:cNvPr id="62" name="Shape 60"/>
          <p:cNvSpPr/>
          <p:nvPr/>
        </p:nvSpPr>
        <p:spPr>
          <a:xfrm>
            <a:off x="4663440" y="4160520"/>
            <a:ext cx="4114800" cy="777240"/>
          </a:xfrm>
          <a:prstGeom prst="rect">
            <a:avLst/>
          </a:prstGeom>
          <a:solidFill>
            <a:srgbClr val="E8EEF4"/>
          </a:solidFill>
          <a:ln/>
        </p:spPr>
      </p:sp>
      <p:sp>
        <p:nvSpPr>
          <p:cNvPr id="63" name="Text 61"/>
          <p:cNvSpPr/>
          <p:nvPr/>
        </p:nvSpPr>
        <p:spPr>
          <a:xfrm>
            <a:off x="4754880" y="4187952"/>
            <a:ext cx="3931920" cy="713232"/>
          </a:xfrm>
          <a:prstGeom prst="rect">
            <a:avLst/>
          </a:prstGeom>
          <a:noFill/>
          <a:ln/>
        </p:spPr>
        <p:txBody>
          <a:bodyPr wrap="square" lIns="0" tIns="0" rIns="0" bIns="0" rtlCol="0" anchor="ctr"/>
          <a:lstStyle/>
          <a:p>
            <a:pPr indent="0" marL="0">
              <a:buNone/>
            </a:pPr>
            <a:r>
              <a:rPr lang="en-US" sz="900" b="1" dirty="0">
                <a:solidFill>
                  <a:srgbClr val="1B3A5C"/>
                </a:solidFill>
                <a:latin typeface="Calibri" pitchFamily="34" charset="0"/>
                <a:ea typeface="Calibri" pitchFamily="34" charset="-122"/>
                <a:cs typeface="Calibri" pitchFamily="34" charset="-120"/>
              </a:rPr>
              <a:t xml:space="preserve">Remaining Gaps: </a:t>
            </a:r>
            <a:pPr indent="0" marL="0">
              <a:buNone/>
            </a:pPr>
            <a:r>
              <a:rPr lang="en-US" sz="800" dirty="0">
                <a:solidFill>
                  <a:srgbClr val="333333"/>
                </a:solidFill>
                <a:latin typeface="Calibri" pitchFamily="34" charset="0"/>
                <a:ea typeface="Calibri" pitchFamily="34" charset="-122"/>
                <a:cs typeface="Calibri" pitchFamily="34" charset="-120"/>
              </a:rPr>
              <a:t>Custom connectors have closed the SaaS classification and lineage gaps (Salesforce, NetSuite, Workday). Data Architecture and Data Modeling remain the only areas where Purview provides metadata visibility but not design tooling. Pair with dedicated tools (e.g., erwin, ER/Studio) for complete DAMA coverage.</a:t>
            </a:r>
            <a:endParaRPr lang="en-US" sz="900" dirty="0"/>
          </a:p>
        </p:txBody>
      </p:sp>
      <p:sp>
        <p:nvSpPr>
          <p:cNvPr id="64" name="Text 62"/>
          <p:cNvSpPr/>
          <p:nvPr/>
        </p:nvSpPr>
        <p:spPr>
          <a:xfrm>
            <a:off x="274320" y="4983480"/>
            <a:ext cx="8229600" cy="137160"/>
          </a:xfrm>
          <a:prstGeom prst="rect">
            <a:avLst/>
          </a:prstGeom>
          <a:noFill/>
          <a:ln/>
        </p:spPr>
        <p:txBody>
          <a:bodyPr wrap="square" lIns="0" tIns="0" rIns="0" bIns="0" rtlCol="0" anchor="ctr"/>
          <a:lstStyle/>
          <a:p>
            <a:pPr indent="0" marL="0">
              <a:buNone/>
            </a:pPr>
            <a:r>
              <a:rPr lang="en-US" sz="700" dirty="0">
                <a:solidFill>
                  <a:srgbClr val="888888"/>
                </a:solidFill>
                <a:latin typeface="Calibri" pitchFamily="34" charset="0"/>
                <a:ea typeface="Calibri" pitchFamily="34" charset="-122"/>
                <a:cs typeface="Calibri" pitchFamily="34" charset="-120"/>
              </a:rPr>
              <a:t>Framework: DAMA-DMBOK2R, DAMA International, 2024. Diagram © 2024 DAMA International.</a:t>
            </a:r>
            <a:endParaRPr lang="en-US" sz="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7C7B"/>
          </a:solidFill>
          <a:ln/>
        </p:spPr>
      </p:sp>
      <p:sp>
        <p:nvSpPr>
          <p:cNvPr id="3" name="Text 1"/>
          <p:cNvSpPr/>
          <p:nvPr/>
        </p:nvSpPr>
        <p:spPr>
          <a:xfrm>
            <a:off x="0" y="1097280"/>
            <a:ext cx="9144000" cy="731520"/>
          </a:xfrm>
          <a:prstGeom prst="rect">
            <a:avLst/>
          </a:prstGeom>
          <a:noFill/>
          <a:ln/>
        </p:spPr>
        <p:txBody>
          <a:bodyPr wrap="square" lIns="0" tIns="0" rIns="0" bIns="0" rtlCol="0" anchor="ctr"/>
          <a:lstStyle/>
          <a:p>
            <a:pPr algn="ctr" indent="0" marL="0">
              <a:buNone/>
            </a:pPr>
            <a:r>
              <a:rPr lang="en-US" sz="4000" b="1" dirty="0">
                <a:solidFill>
                  <a:srgbClr val="FFFFFF"/>
                </a:solidFill>
                <a:latin typeface="Trebuchet MS" pitchFamily="34" charset="0"/>
                <a:ea typeface="Trebuchet MS" pitchFamily="34" charset="-122"/>
                <a:cs typeface="Trebuchet MS" pitchFamily="34" charset="-120"/>
              </a:rPr>
              <a:t>Best Practices</a:t>
            </a:r>
            <a:endParaRPr lang="en-US" sz="4000" dirty="0"/>
          </a:p>
        </p:txBody>
      </p:sp>
      <p:sp>
        <p:nvSpPr>
          <p:cNvPr id="4" name="Shape 2"/>
          <p:cNvSpPr/>
          <p:nvPr/>
        </p:nvSpPr>
        <p:spPr>
          <a:xfrm>
            <a:off x="3657600" y="1920240"/>
            <a:ext cx="1828800" cy="36576"/>
          </a:xfrm>
          <a:prstGeom prst="rect">
            <a:avLst/>
          </a:prstGeom>
          <a:solidFill>
            <a:srgbClr val="0E7C7B"/>
          </a:solidFill>
          <a:ln/>
        </p:spPr>
      </p:sp>
      <p:sp>
        <p:nvSpPr>
          <p:cNvPr id="5" name="Text 3"/>
          <p:cNvSpPr/>
          <p:nvPr/>
        </p:nvSpPr>
        <p:spPr>
          <a:xfrm>
            <a:off x="914400" y="2194560"/>
            <a:ext cx="7315200" cy="457200"/>
          </a:xfrm>
          <a:prstGeom prst="rect">
            <a:avLst/>
          </a:prstGeom>
          <a:noFill/>
          <a:ln/>
        </p:spPr>
        <p:txBody>
          <a:bodyPr wrap="square" lIns="0" tIns="0" rIns="0" bIns="0" rtlCol="0" anchor="ctr"/>
          <a:lstStyle/>
          <a:p>
            <a:pPr algn="ctr" indent="0" marL="0">
              <a:buNone/>
            </a:pPr>
            <a:r>
              <a:rPr lang="en-US" sz="1600" dirty="0">
                <a:solidFill>
                  <a:srgbClr val="888888"/>
                </a:solidFill>
                <a:latin typeface="Calibri" pitchFamily="34" charset="0"/>
                <a:ea typeface="Calibri" pitchFamily="34" charset="-122"/>
                <a:cs typeface="Calibri" pitchFamily="34" charset="-120"/>
              </a:rPr>
              <a:t>Key Recommendations from the Data Governance Handbook</a:t>
            </a:r>
            <a:endParaRPr lang="en-US" sz="1600" dirty="0"/>
          </a:p>
        </p:txBody>
      </p:sp>
      <p:sp>
        <p:nvSpPr>
          <p:cNvPr id="6" name="Text 4"/>
          <p:cNvSpPr/>
          <p:nvPr/>
        </p:nvSpPr>
        <p:spPr>
          <a:xfrm>
            <a:off x="914400" y="2651760"/>
            <a:ext cx="7315200" cy="320040"/>
          </a:xfrm>
          <a:prstGeom prst="rect">
            <a:avLst/>
          </a:prstGeom>
          <a:noFill/>
          <a:ln/>
        </p:spPr>
        <p:txBody>
          <a:bodyPr wrap="square" lIns="0" tIns="0" rIns="0" bIns="0" rtlCol="0" anchor="ctr"/>
          <a:lstStyle/>
          <a:p>
            <a:pPr algn="ctr" indent="0" marL="0">
              <a:buNone/>
            </a:pPr>
            <a:r>
              <a:rPr lang="en-US" sz="1200" i="1" dirty="0">
                <a:solidFill>
                  <a:srgbClr val="888888"/>
                </a:solidFill>
                <a:latin typeface="Calibri" pitchFamily="34" charset="0"/>
                <a:ea typeface="Calibri" pitchFamily="34" charset="-122"/>
                <a:cs typeface="Calibri" pitchFamily="34" charset="-120"/>
              </a:rPr>
              <a:t>Wendy S. Batchelder (Packt, 2024)</a:t>
            </a:r>
            <a:endParaRPr lang="en-US" sz="1200" dirty="0"/>
          </a:p>
        </p:txBody>
      </p:sp>
      <p:sp>
        <p:nvSpPr>
          <p:cNvPr id="7" name="Text 5"/>
          <p:cNvSpPr/>
          <p:nvPr/>
        </p:nvSpPr>
        <p:spPr>
          <a:xfrm>
            <a:off x="914400" y="3108960"/>
            <a:ext cx="7315200" cy="320040"/>
          </a:xfrm>
          <a:prstGeom prst="rect">
            <a:avLst/>
          </a:prstGeom>
          <a:noFill/>
          <a:ln/>
        </p:spPr>
        <p:txBody>
          <a:bodyPr wrap="square" lIns="0" tIns="0" rIns="0" bIns="0" rtlCol="0" anchor="ctr"/>
          <a:lstStyle/>
          <a:p>
            <a:pPr algn="ctr" indent="0" marL="0">
              <a:buNone/>
            </a:pPr>
            <a:r>
              <a:rPr lang="en-US" sz="1300" b="1" dirty="0">
                <a:solidFill>
                  <a:srgbClr val="0E7C7B"/>
                </a:solidFill>
                <a:latin typeface="Calibri" pitchFamily="34" charset="0"/>
                <a:ea typeface="Calibri" pitchFamily="34" charset="-122"/>
                <a:cs typeface="Calibri" pitchFamily="34" charset="-120"/>
              </a:rPr>
              <a:t>Integrated into our Microsoft Purview roadmap</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9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5C"/>
          </a:solidFill>
          <a:ln/>
        </p:spPr>
      </p:sp>
      <p:sp>
        <p:nvSpPr>
          <p:cNvPr id="3" name="Text 1"/>
          <p:cNvSpPr/>
          <p:nvPr/>
        </p:nvSpPr>
        <p:spPr>
          <a:xfrm>
            <a:off x="548640" y="137160"/>
            <a:ext cx="7315200" cy="54864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Treat Data as Both Asset and Liability</a:t>
            </a:r>
            <a:endParaRPr lang="en-US" sz="2200" dirty="0"/>
          </a:p>
        </p:txBody>
      </p:sp>
      <p:sp>
        <p:nvSpPr>
          <p:cNvPr id="4" name="Text 2"/>
          <p:cNvSpPr/>
          <p:nvPr/>
        </p:nvSpPr>
        <p:spPr>
          <a:xfrm>
            <a:off x="548640" y="502920"/>
            <a:ext cx="7315200" cy="274320"/>
          </a:xfrm>
          <a:prstGeom prst="rect">
            <a:avLst/>
          </a:prstGeom>
          <a:noFill/>
          <a:ln/>
        </p:spPr>
        <p:txBody>
          <a:bodyPr wrap="square" lIns="0" tIns="0" rIns="0" bIns="0" rtlCol="0" anchor="ctr"/>
          <a:lstStyle/>
          <a:p>
            <a:pPr indent="0" marL="0">
              <a:buNone/>
            </a:pPr>
            <a:r>
              <a:rPr lang="en-US" sz="1000" i="1" dirty="0">
                <a:solidFill>
                  <a:srgbClr val="AABBCC"/>
                </a:solidFill>
                <a:latin typeface="Calibri" pitchFamily="34" charset="0"/>
                <a:ea typeface="Calibri" pitchFamily="34" charset="-122"/>
                <a:cs typeface="Calibri" pitchFamily="34" charset="-120"/>
              </a:rPr>
              <a:t>Batchelder Ch.1 – Applied to Phase 1 (Data Map)</a:t>
            </a:r>
            <a:endParaRPr lang="en-US" sz="1000" dirty="0"/>
          </a:p>
        </p:txBody>
      </p:sp>
      <p:sp>
        <p:nvSpPr>
          <p:cNvPr id="5" name="Shape 3"/>
          <p:cNvSpPr/>
          <p:nvPr/>
        </p:nvSpPr>
        <p:spPr>
          <a:xfrm>
            <a:off x="457200" y="1005840"/>
            <a:ext cx="3931920" cy="23774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457200" y="1005840"/>
            <a:ext cx="3931920" cy="320040"/>
          </a:xfrm>
          <a:prstGeom prst="rect">
            <a:avLst/>
          </a:prstGeom>
          <a:solidFill>
            <a:srgbClr val="0E7C7B"/>
          </a:solidFill>
          <a:ln/>
        </p:spPr>
      </p:sp>
      <p:sp>
        <p:nvSpPr>
          <p:cNvPr id="7" name="Text 5"/>
          <p:cNvSpPr/>
          <p:nvPr/>
        </p:nvSpPr>
        <p:spPr>
          <a:xfrm>
            <a:off x="594360" y="1024128"/>
            <a:ext cx="365760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DATA AS ASSET – Creates Value</a:t>
            </a:r>
            <a:endParaRPr lang="en-US" sz="1100" dirty="0"/>
          </a:p>
        </p:txBody>
      </p:sp>
      <p:sp>
        <p:nvSpPr>
          <p:cNvPr id="8" name="Text 6"/>
          <p:cNvSpPr/>
          <p:nvPr/>
        </p:nvSpPr>
        <p:spPr>
          <a:xfrm>
            <a:off x="640080" y="1463040"/>
            <a:ext cx="3566160" cy="1645920"/>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333333"/>
                </a:solidFill>
                <a:latin typeface="Calibri" pitchFamily="34" charset="0"/>
                <a:ea typeface="Calibri" pitchFamily="34" charset="-122"/>
                <a:cs typeface="Calibri" pitchFamily="34" charset="-120"/>
              </a:rPr>
              <a:t>Curated datasets used for multiple purposes</a:t>
            </a:r>
            <a:endParaRPr lang="en-US" sz="1000" dirty="0"/>
          </a:p>
          <a:p>
            <a:pPr marL="342900" indent="-342900">
              <a:spcAft>
                <a:spcPts val="600"/>
              </a:spcAft>
              <a:buSzPct val="100000"/>
              <a:buChar char="•"/>
            </a:pPr>
            <a:r>
              <a:rPr lang="en-US" sz="1000" dirty="0">
                <a:solidFill>
                  <a:srgbClr val="333333"/>
                </a:solidFill>
                <a:latin typeface="Calibri" pitchFamily="34" charset="0"/>
                <a:ea typeface="Calibri" pitchFamily="34" charset="-122"/>
                <a:cs typeface="Calibri" pitchFamily="34" charset="-120"/>
              </a:rPr>
              <a:t>Customer health scoring models</a:t>
            </a:r>
            <a:endParaRPr lang="en-US" sz="1000" dirty="0"/>
          </a:p>
          <a:p>
            <a:pPr marL="342900" indent="-342900">
              <a:spcAft>
                <a:spcPts val="600"/>
              </a:spcAft>
              <a:buSzPct val="100000"/>
              <a:buChar char="•"/>
            </a:pPr>
            <a:r>
              <a:rPr lang="en-US" sz="1000" dirty="0">
                <a:solidFill>
                  <a:srgbClr val="333333"/>
                </a:solidFill>
                <a:latin typeface="Calibri" pitchFamily="34" charset="0"/>
                <a:ea typeface="Calibri" pitchFamily="34" charset="-122"/>
                <a:cs typeface="Calibri" pitchFamily="34" charset="-120"/>
              </a:rPr>
              <a:t>Authorised provisioning points (golden sources)</a:t>
            </a:r>
            <a:endParaRPr lang="en-US" sz="1000" dirty="0"/>
          </a:p>
          <a:p>
            <a:pPr marL="342900" indent="-342900">
              <a:spcAft>
                <a:spcPts val="600"/>
              </a:spcAft>
              <a:buSzPct val="100000"/>
              <a:buChar char="•"/>
            </a:pPr>
            <a:r>
              <a:rPr lang="en-US" sz="1000" dirty="0">
                <a:solidFill>
                  <a:srgbClr val="333333"/>
                </a:solidFill>
                <a:latin typeface="Calibri" pitchFamily="34" charset="0"/>
                <a:ea typeface="Calibri" pitchFamily="34" charset="-122"/>
                <a:cs typeface="Calibri" pitchFamily="34" charset="-120"/>
              </a:rPr>
              <a:t>Predictive models from trusted data</a:t>
            </a:r>
            <a:endParaRPr lang="en-US" sz="1000" dirty="0"/>
          </a:p>
        </p:txBody>
      </p:sp>
      <p:sp>
        <p:nvSpPr>
          <p:cNvPr id="9" name="Shape 7"/>
          <p:cNvSpPr/>
          <p:nvPr/>
        </p:nvSpPr>
        <p:spPr>
          <a:xfrm>
            <a:off x="640080" y="2880360"/>
            <a:ext cx="3566160" cy="365760"/>
          </a:xfrm>
          <a:prstGeom prst="rect">
            <a:avLst/>
          </a:prstGeom>
          <a:solidFill>
            <a:srgbClr val="E0F2F1"/>
          </a:solidFill>
          <a:ln/>
        </p:spPr>
      </p:sp>
      <p:sp>
        <p:nvSpPr>
          <p:cNvPr id="10" name="Text 8"/>
          <p:cNvSpPr/>
          <p:nvPr/>
        </p:nvSpPr>
        <p:spPr>
          <a:xfrm>
            <a:off x="731520" y="2907792"/>
            <a:ext cx="3383280" cy="320040"/>
          </a:xfrm>
          <a:prstGeom prst="rect">
            <a:avLst/>
          </a:prstGeom>
          <a:noFill/>
          <a:ln/>
        </p:spPr>
        <p:txBody>
          <a:bodyPr wrap="square" lIns="0" tIns="0" rIns="0" bIns="0" rtlCol="0" anchor="ctr"/>
          <a:lstStyle/>
          <a:p>
            <a:pPr indent="0" marL="0">
              <a:buNone/>
            </a:pPr>
            <a:r>
              <a:rPr lang="en-US" sz="850" b="1" dirty="0">
                <a:solidFill>
                  <a:srgbClr val="0E7C7B"/>
                </a:solidFill>
                <a:latin typeface="Calibri" pitchFamily="34" charset="0"/>
                <a:ea typeface="Calibri" pitchFamily="34" charset="-122"/>
                <a:cs typeface="Calibri" pitchFamily="34" charset="-120"/>
              </a:rPr>
              <a:t>Purview Action: Endorse Data Products in Unified Catalog to signal certified, reusable assets.</a:t>
            </a:r>
            <a:endParaRPr lang="en-US" sz="850" dirty="0"/>
          </a:p>
        </p:txBody>
      </p:sp>
      <p:sp>
        <p:nvSpPr>
          <p:cNvPr id="11" name="Shape 9"/>
          <p:cNvSpPr/>
          <p:nvPr/>
        </p:nvSpPr>
        <p:spPr>
          <a:xfrm>
            <a:off x="4754880" y="1005840"/>
            <a:ext cx="3931920" cy="23774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2" name="Shape 10"/>
          <p:cNvSpPr/>
          <p:nvPr/>
        </p:nvSpPr>
        <p:spPr>
          <a:xfrm>
            <a:off x="4754880" y="1005840"/>
            <a:ext cx="3931920" cy="320040"/>
          </a:xfrm>
          <a:prstGeom prst="rect">
            <a:avLst/>
          </a:prstGeom>
          <a:solidFill>
            <a:srgbClr val="D4740E"/>
          </a:solidFill>
          <a:ln/>
        </p:spPr>
      </p:sp>
      <p:sp>
        <p:nvSpPr>
          <p:cNvPr id="13" name="Text 11"/>
          <p:cNvSpPr/>
          <p:nvPr/>
        </p:nvSpPr>
        <p:spPr>
          <a:xfrm>
            <a:off x="4892040" y="1024128"/>
            <a:ext cx="365760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DATA AS LIABILITY – Creates Risk</a:t>
            </a:r>
            <a:endParaRPr lang="en-US" sz="1100" dirty="0"/>
          </a:p>
        </p:txBody>
      </p:sp>
      <p:sp>
        <p:nvSpPr>
          <p:cNvPr id="14" name="Text 12"/>
          <p:cNvSpPr/>
          <p:nvPr/>
        </p:nvSpPr>
        <p:spPr>
          <a:xfrm>
            <a:off x="4937760" y="1463040"/>
            <a:ext cx="3566160" cy="1645920"/>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333333"/>
                </a:solidFill>
                <a:latin typeface="Calibri" pitchFamily="34" charset="0"/>
                <a:ea typeface="Calibri" pitchFamily="34" charset="-122"/>
                <a:cs typeface="Calibri" pitchFamily="34" charset="-120"/>
              </a:rPr>
              <a:t>Non-catalogued data with no known owner</a:t>
            </a:r>
            <a:endParaRPr lang="en-US" sz="1000" dirty="0"/>
          </a:p>
          <a:p>
            <a:pPr marL="342900" indent="-342900">
              <a:spcAft>
                <a:spcPts val="600"/>
              </a:spcAft>
              <a:buSzPct val="100000"/>
              <a:buChar char="•"/>
            </a:pPr>
            <a:r>
              <a:rPr lang="en-US" sz="1000" dirty="0">
                <a:solidFill>
                  <a:srgbClr val="333333"/>
                </a:solidFill>
                <a:latin typeface="Calibri" pitchFamily="34" charset="0"/>
                <a:ea typeface="Calibri" pitchFamily="34" charset="-122"/>
                <a:cs typeface="Calibri" pitchFamily="34" charset="-120"/>
              </a:rPr>
              <a:t>Data used for decisions it was never intended for</a:t>
            </a:r>
            <a:endParaRPr lang="en-US" sz="1000" dirty="0"/>
          </a:p>
          <a:p>
            <a:pPr marL="342900" indent="-342900">
              <a:spcAft>
                <a:spcPts val="600"/>
              </a:spcAft>
              <a:buSzPct val="100000"/>
              <a:buChar char="•"/>
            </a:pPr>
            <a:r>
              <a:rPr lang="en-US" sz="1000" dirty="0">
                <a:solidFill>
                  <a:srgbClr val="333333"/>
                </a:solidFill>
                <a:latin typeface="Calibri" pitchFamily="34" charset="0"/>
                <a:ea typeface="Calibri" pitchFamily="34" charset="-122"/>
                <a:cs typeface="Calibri" pitchFamily="34" charset="-120"/>
              </a:rPr>
              <a:t>Security risk from not knowing where data resides</a:t>
            </a:r>
            <a:endParaRPr lang="en-US" sz="1000" dirty="0"/>
          </a:p>
          <a:p>
            <a:pPr marL="342900" indent="-342900">
              <a:spcAft>
                <a:spcPts val="600"/>
              </a:spcAft>
              <a:buSzPct val="100000"/>
              <a:buChar char="•"/>
            </a:pPr>
            <a:r>
              <a:rPr lang="en-US" sz="1000" dirty="0">
                <a:solidFill>
                  <a:srgbClr val="333333"/>
                </a:solidFill>
                <a:latin typeface="Calibri" pitchFamily="34" charset="0"/>
                <a:ea typeface="Calibri" pitchFamily="34" charset="-122"/>
                <a:cs typeface="Calibri" pitchFamily="34" charset="-120"/>
              </a:rPr>
              <a:t>Unmanaged data = higher liability, not more data</a:t>
            </a:r>
            <a:endParaRPr lang="en-US" sz="1000" dirty="0"/>
          </a:p>
        </p:txBody>
      </p:sp>
      <p:sp>
        <p:nvSpPr>
          <p:cNvPr id="15" name="Shape 13"/>
          <p:cNvSpPr/>
          <p:nvPr/>
        </p:nvSpPr>
        <p:spPr>
          <a:xfrm>
            <a:off x="4937760" y="2880360"/>
            <a:ext cx="3566160" cy="365760"/>
          </a:xfrm>
          <a:prstGeom prst="rect">
            <a:avLst/>
          </a:prstGeom>
          <a:solidFill>
            <a:srgbClr val="FFF3E8"/>
          </a:solidFill>
          <a:ln/>
        </p:spPr>
      </p:sp>
      <p:sp>
        <p:nvSpPr>
          <p:cNvPr id="16" name="Text 14"/>
          <p:cNvSpPr/>
          <p:nvPr/>
        </p:nvSpPr>
        <p:spPr>
          <a:xfrm>
            <a:off x="5029200" y="2907792"/>
            <a:ext cx="3383280" cy="320040"/>
          </a:xfrm>
          <a:prstGeom prst="rect">
            <a:avLst/>
          </a:prstGeom>
          <a:noFill/>
          <a:ln/>
        </p:spPr>
        <p:txBody>
          <a:bodyPr wrap="square" lIns="0" tIns="0" rIns="0" bIns="0" rtlCol="0" anchor="ctr"/>
          <a:lstStyle/>
          <a:p>
            <a:pPr indent="0" marL="0">
              <a:buNone/>
            </a:pPr>
            <a:r>
              <a:rPr lang="en-US" sz="850" b="1" dirty="0">
                <a:solidFill>
                  <a:srgbClr val="D4740E"/>
                </a:solidFill>
                <a:latin typeface="Calibri" pitchFamily="34" charset="0"/>
                <a:ea typeface="Calibri" pitchFamily="34" charset="-122"/>
                <a:cs typeface="Calibri" pitchFamily="34" charset="-120"/>
              </a:rPr>
              <a:t>Purview Action: Use Data Map scanning + DSPM to surface uncatalogued, unprotected data liabilities.</a:t>
            </a:r>
            <a:endParaRPr lang="en-US" sz="850" dirty="0"/>
          </a:p>
        </p:txBody>
      </p:sp>
      <p:sp>
        <p:nvSpPr>
          <p:cNvPr id="17" name="Shape 15"/>
          <p:cNvSpPr/>
          <p:nvPr/>
        </p:nvSpPr>
        <p:spPr>
          <a:xfrm>
            <a:off x="457200" y="3657600"/>
            <a:ext cx="8229600" cy="640080"/>
          </a:xfrm>
          <a:prstGeom prst="rect">
            <a:avLst/>
          </a:prstGeom>
          <a:solidFill>
            <a:srgbClr val="E8EEF4"/>
          </a:solidFill>
          <a:ln/>
        </p:spPr>
      </p:sp>
      <p:sp>
        <p:nvSpPr>
          <p:cNvPr id="18" name="Text 16"/>
          <p:cNvSpPr/>
          <p:nvPr/>
        </p:nvSpPr>
        <p:spPr>
          <a:xfrm>
            <a:off x="640080" y="3703320"/>
            <a:ext cx="7863840" cy="548640"/>
          </a:xfrm>
          <a:prstGeom prst="rect">
            <a:avLst/>
          </a:prstGeom>
          <a:noFill/>
          <a:ln/>
        </p:spPr>
        <p:txBody>
          <a:bodyPr wrap="square" lIns="0" tIns="0" rIns="0" bIns="0" rtlCol="0" anchor="ctr"/>
          <a:lstStyle/>
          <a:p>
            <a:pPr indent="0" marL="0">
              <a:buNone/>
            </a:pPr>
            <a:r>
              <a:rPr lang="en-US" sz="1100" b="1" dirty="0">
                <a:solidFill>
                  <a:srgbClr val="1B3A5C"/>
                </a:solidFill>
                <a:latin typeface="Calibri" pitchFamily="34" charset="0"/>
                <a:ea typeface="Calibri" pitchFamily="34" charset="-122"/>
                <a:cs typeface="Calibri" pitchFamily="34" charset="-120"/>
              </a:rPr>
              <a:t xml:space="preserve">Key Principle: </a:t>
            </a:r>
            <a:pPr indent="0" marL="0">
              <a:buNone/>
            </a:pPr>
            <a:r>
              <a:rPr lang="en-US" sz="1000" i="1" dirty="0">
                <a:solidFill>
                  <a:srgbClr val="333333"/>
                </a:solidFill>
                <a:latin typeface="Calibri" pitchFamily="34" charset="0"/>
                <a:ea typeface="Calibri" pitchFamily="34" charset="-122"/>
                <a:cs typeface="Calibri" pitchFamily="34" charset="-120"/>
              </a:rPr>
              <a:t>"Data equity increases through delivery. Momentum created by delivery should translate directly to an increase in data equity over time." – Batchelder</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9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5C"/>
          </a:solidFill>
          <a:ln/>
        </p:spPr>
      </p:sp>
      <p:sp>
        <p:nvSpPr>
          <p:cNvPr id="3" name="Text 1"/>
          <p:cNvSpPr/>
          <p:nvPr/>
        </p:nvSpPr>
        <p:spPr>
          <a:xfrm>
            <a:off x="548640" y="137160"/>
            <a:ext cx="8229600" cy="54864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Build a Coalition of Advocates Before You Launch</a:t>
            </a:r>
            <a:endParaRPr lang="en-US" sz="2200" dirty="0"/>
          </a:p>
        </p:txBody>
      </p:sp>
      <p:sp>
        <p:nvSpPr>
          <p:cNvPr id="4" name="Text 2"/>
          <p:cNvSpPr/>
          <p:nvPr/>
        </p:nvSpPr>
        <p:spPr>
          <a:xfrm>
            <a:off x="548640" y="502920"/>
            <a:ext cx="7315200" cy="274320"/>
          </a:xfrm>
          <a:prstGeom prst="rect">
            <a:avLst/>
          </a:prstGeom>
          <a:noFill/>
          <a:ln/>
        </p:spPr>
        <p:txBody>
          <a:bodyPr wrap="square" lIns="0" tIns="0" rIns="0" bIns="0" rtlCol="0" anchor="ctr"/>
          <a:lstStyle/>
          <a:p>
            <a:pPr indent="0" marL="0">
              <a:buNone/>
            </a:pPr>
            <a:r>
              <a:rPr lang="en-US" sz="1000" i="1" dirty="0">
                <a:solidFill>
                  <a:srgbClr val="AABBCC"/>
                </a:solidFill>
                <a:latin typeface="Calibri" pitchFamily="34" charset="0"/>
                <a:ea typeface="Calibri" pitchFamily="34" charset="-122"/>
                <a:cs typeface="Calibri" pitchFamily="34" charset="-120"/>
              </a:rPr>
              <a:t>Batchelder Ch.2 – Applied Across All Phases</a:t>
            </a:r>
            <a:endParaRPr lang="en-US" sz="1000" dirty="0"/>
          </a:p>
        </p:txBody>
      </p:sp>
      <p:sp>
        <p:nvSpPr>
          <p:cNvPr id="5" name="Shape 3"/>
          <p:cNvSpPr/>
          <p:nvPr/>
        </p:nvSpPr>
        <p:spPr>
          <a:xfrm>
            <a:off x="457200" y="1005840"/>
            <a:ext cx="3931920" cy="16002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457200" y="1005840"/>
            <a:ext cx="54864" cy="1600200"/>
          </a:xfrm>
          <a:prstGeom prst="rect">
            <a:avLst/>
          </a:prstGeom>
          <a:solidFill>
            <a:srgbClr val="0E7C7B"/>
          </a:solidFill>
          <a:ln/>
        </p:spPr>
      </p:sp>
      <p:sp>
        <p:nvSpPr>
          <p:cNvPr id="7" name="Text 5"/>
          <p:cNvSpPr/>
          <p:nvPr/>
        </p:nvSpPr>
        <p:spPr>
          <a:xfrm>
            <a:off x="594360" y="1078992"/>
            <a:ext cx="320040" cy="320040"/>
          </a:xfrm>
          <a:prstGeom prst="rect">
            <a:avLst/>
          </a:prstGeom>
          <a:noFill/>
          <a:ln/>
        </p:spPr>
        <p:txBody>
          <a:bodyPr wrap="square" lIns="0" tIns="0" rIns="0" bIns="0" rtlCol="0" anchor="ctr"/>
          <a:lstStyle/>
          <a:p>
            <a:pPr indent="0" marL="0">
              <a:buNone/>
            </a:pPr>
            <a:r>
              <a:rPr lang="en-US" sz="2000" b="1" dirty="0">
                <a:solidFill>
                  <a:srgbClr val="0E7C7B"/>
                </a:solidFill>
                <a:latin typeface="Trebuchet MS" pitchFamily="34" charset="0"/>
                <a:ea typeface="Trebuchet MS" pitchFamily="34" charset="-122"/>
                <a:cs typeface="Trebuchet MS" pitchFamily="34" charset="-120"/>
              </a:rPr>
              <a:t>1</a:t>
            </a:r>
            <a:endParaRPr lang="en-US" sz="2000" dirty="0"/>
          </a:p>
        </p:txBody>
      </p:sp>
      <p:sp>
        <p:nvSpPr>
          <p:cNvPr id="8" name="Text 6"/>
          <p:cNvSpPr/>
          <p:nvPr/>
        </p:nvSpPr>
        <p:spPr>
          <a:xfrm>
            <a:off x="914400" y="1078992"/>
            <a:ext cx="3200400" cy="274320"/>
          </a:xfrm>
          <a:prstGeom prst="rect">
            <a:avLst/>
          </a:prstGeom>
          <a:noFill/>
          <a:ln/>
        </p:spPr>
        <p:txBody>
          <a:bodyPr wrap="square" lIns="0" tIns="0" rIns="0" bIns="0" rtlCol="0" anchor="ctr"/>
          <a:lstStyle/>
          <a:p>
            <a:pPr indent="0" marL="0">
              <a:buNone/>
            </a:pPr>
            <a:r>
              <a:rPr lang="en-US" sz="1200" b="1" dirty="0">
                <a:solidFill>
                  <a:srgbClr val="1B3A5C"/>
                </a:solidFill>
                <a:latin typeface="Calibri" pitchFamily="34" charset="0"/>
                <a:ea typeface="Calibri" pitchFamily="34" charset="-122"/>
                <a:cs typeface="Calibri" pitchFamily="34" charset="-120"/>
              </a:rPr>
              <a:t>Land an Executive Sponsor</a:t>
            </a:r>
            <a:endParaRPr lang="en-US" sz="1200" dirty="0"/>
          </a:p>
        </p:txBody>
      </p:sp>
      <p:sp>
        <p:nvSpPr>
          <p:cNvPr id="9" name="Text 7"/>
          <p:cNvSpPr/>
          <p:nvPr/>
        </p:nvSpPr>
        <p:spPr>
          <a:xfrm>
            <a:off x="640080" y="1389888"/>
            <a:ext cx="3566160" cy="548640"/>
          </a:xfrm>
          <a:prstGeom prst="rect">
            <a:avLst/>
          </a:prstGeom>
          <a:noFill/>
          <a:ln/>
        </p:spPr>
        <p:txBody>
          <a:bodyPr wrap="square" lIns="0" tIns="0" rIns="0" bIns="0" rtlCol="0" anchor="ctr"/>
          <a:lstStyle/>
          <a:p>
            <a:pPr indent="0" marL="0">
              <a:buNone/>
            </a:pPr>
            <a:r>
              <a:rPr lang="en-US" sz="950" dirty="0">
                <a:solidFill>
                  <a:srgbClr val="333333"/>
                </a:solidFill>
                <a:latin typeface="Calibri" pitchFamily="34" charset="0"/>
                <a:ea typeface="Calibri" pitchFamily="34" charset="-122"/>
                <a:cs typeface="Calibri" pitchFamily="34" charset="-120"/>
              </a:rPr>
              <a:t>Identify someone with authority, funding, and a vested interest in data outcomes. Without sponsorship, governance becomes a cost centre.</a:t>
            </a:r>
            <a:endParaRPr lang="en-US" sz="950" dirty="0"/>
          </a:p>
        </p:txBody>
      </p:sp>
      <p:sp>
        <p:nvSpPr>
          <p:cNvPr id="10" name="Shape 8"/>
          <p:cNvSpPr/>
          <p:nvPr/>
        </p:nvSpPr>
        <p:spPr>
          <a:xfrm>
            <a:off x="640080" y="2011680"/>
            <a:ext cx="3566160" cy="457200"/>
          </a:xfrm>
          <a:prstGeom prst="rect">
            <a:avLst/>
          </a:prstGeom>
          <a:solidFill>
            <a:srgbClr val="E0F2F1"/>
          </a:solidFill>
          <a:ln/>
        </p:spPr>
      </p:sp>
      <p:sp>
        <p:nvSpPr>
          <p:cNvPr id="11" name="Text 9"/>
          <p:cNvSpPr/>
          <p:nvPr/>
        </p:nvSpPr>
        <p:spPr>
          <a:xfrm>
            <a:off x="731520" y="2029968"/>
            <a:ext cx="3383280" cy="411480"/>
          </a:xfrm>
          <a:prstGeom prst="rect">
            <a:avLst/>
          </a:prstGeom>
          <a:noFill/>
          <a:ln/>
        </p:spPr>
        <p:txBody>
          <a:bodyPr wrap="square" lIns="0" tIns="0" rIns="0" bIns="0" rtlCol="0" anchor="ctr"/>
          <a:lstStyle/>
          <a:p>
            <a:pPr indent="0" marL="0">
              <a:buNone/>
            </a:pPr>
            <a:r>
              <a:rPr lang="en-US" sz="800" b="1" dirty="0">
                <a:solidFill>
                  <a:srgbClr val="0E7C7B"/>
                </a:solidFill>
                <a:latin typeface="Calibri" pitchFamily="34" charset="0"/>
                <a:ea typeface="Calibri" pitchFamily="34" charset="-122"/>
                <a:cs typeface="Calibri" pitchFamily="34" charset="-120"/>
              </a:rPr>
              <a:t>Map to Purview: Sponsor must approve Data Governance Admin role assignment (Phase 1).</a:t>
            </a:r>
            <a:endParaRPr lang="en-US" sz="800" dirty="0"/>
          </a:p>
        </p:txBody>
      </p:sp>
      <p:sp>
        <p:nvSpPr>
          <p:cNvPr id="12" name="Shape 10"/>
          <p:cNvSpPr/>
          <p:nvPr/>
        </p:nvSpPr>
        <p:spPr>
          <a:xfrm>
            <a:off x="4663440" y="1005840"/>
            <a:ext cx="3931920" cy="16002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3" name="Shape 11"/>
          <p:cNvSpPr/>
          <p:nvPr/>
        </p:nvSpPr>
        <p:spPr>
          <a:xfrm>
            <a:off x="4663440" y="1005840"/>
            <a:ext cx="54864" cy="1600200"/>
          </a:xfrm>
          <a:prstGeom prst="rect">
            <a:avLst/>
          </a:prstGeom>
          <a:solidFill>
            <a:srgbClr val="0E7C7B"/>
          </a:solidFill>
          <a:ln/>
        </p:spPr>
      </p:sp>
      <p:sp>
        <p:nvSpPr>
          <p:cNvPr id="14" name="Text 12"/>
          <p:cNvSpPr/>
          <p:nvPr/>
        </p:nvSpPr>
        <p:spPr>
          <a:xfrm>
            <a:off x="4800600" y="1078992"/>
            <a:ext cx="320040" cy="320040"/>
          </a:xfrm>
          <a:prstGeom prst="rect">
            <a:avLst/>
          </a:prstGeom>
          <a:noFill/>
          <a:ln/>
        </p:spPr>
        <p:txBody>
          <a:bodyPr wrap="square" lIns="0" tIns="0" rIns="0" bIns="0" rtlCol="0" anchor="ctr"/>
          <a:lstStyle/>
          <a:p>
            <a:pPr indent="0" marL="0">
              <a:buNone/>
            </a:pPr>
            <a:r>
              <a:rPr lang="en-US" sz="2000" b="1" dirty="0">
                <a:solidFill>
                  <a:srgbClr val="0E7C7B"/>
                </a:solidFill>
                <a:latin typeface="Trebuchet MS" pitchFamily="34" charset="0"/>
                <a:ea typeface="Trebuchet MS" pitchFamily="34" charset="-122"/>
                <a:cs typeface="Trebuchet MS" pitchFamily="34" charset="-120"/>
              </a:rPr>
              <a:t>2</a:t>
            </a:r>
            <a:endParaRPr lang="en-US" sz="2000" dirty="0"/>
          </a:p>
        </p:txBody>
      </p:sp>
      <p:sp>
        <p:nvSpPr>
          <p:cNvPr id="15" name="Text 13"/>
          <p:cNvSpPr/>
          <p:nvPr/>
        </p:nvSpPr>
        <p:spPr>
          <a:xfrm>
            <a:off x="5120640" y="1078992"/>
            <a:ext cx="3200400" cy="274320"/>
          </a:xfrm>
          <a:prstGeom prst="rect">
            <a:avLst/>
          </a:prstGeom>
          <a:noFill/>
          <a:ln/>
        </p:spPr>
        <p:txBody>
          <a:bodyPr wrap="square" lIns="0" tIns="0" rIns="0" bIns="0" rtlCol="0" anchor="ctr"/>
          <a:lstStyle/>
          <a:p>
            <a:pPr indent="0" marL="0">
              <a:buNone/>
            </a:pPr>
            <a:r>
              <a:rPr lang="en-US" sz="1200" b="1" dirty="0">
                <a:solidFill>
                  <a:srgbClr val="1B3A5C"/>
                </a:solidFill>
                <a:latin typeface="Calibri" pitchFamily="34" charset="0"/>
                <a:ea typeface="Calibri" pitchFamily="34" charset="-122"/>
                <a:cs typeface="Calibri" pitchFamily="34" charset="-120"/>
              </a:rPr>
              <a:t>Build a Stakeholder Map</a:t>
            </a:r>
            <a:endParaRPr lang="en-US" sz="1200" dirty="0"/>
          </a:p>
        </p:txBody>
      </p:sp>
      <p:sp>
        <p:nvSpPr>
          <p:cNvPr id="16" name="Text 14"/>
          <p:cNvSpPr/>
          <p:nvPr/>
        </p:nvSpPr>
        <p:spPr>
          <a:xfrm>
            <a:off x="4846320" y="1389888"/>
            <a:ext cx="3566160" cy="548640"/>
          </a:xfrm>
          <a:prstGeom prst="rect">
            <a:avLst/>
          </a:prstGeom>
          <a:noFill/>
          <a:ln/>
        </p:spPr>
        <p:txBody>
          <a:bodyPr wrap="square" lIns="0" tIns="0" rIns="0" bIns="0" rtlCol="0" anchor="ctr"/>
          <a:lstStyle/>
          <a:p>
            <a:pPr indent="0" marL="0">
              <a:buNone/>
            </a:pPr>
            <a:r>
              <a:rPr lang="en-US" sz="950" dirty="0">
                <a:solidFill>
                  <a:srgbClr val="333333"/>
                </a:solidFill>
                <a:latin typeface="Calibri" pitchFamily="34" charset="0"/>
                <a:ea typeface="Calibri" pitchFamily="34" charset="-122"/>
                <a:cs typeface="Calibri" pitchFamily="34" charset="-120"/>
              </a:rPr>
              <a:t>Identify primary, secondary, and tertiary stakeholders. Understand their pain points through listening sessions, not presentations.</a:t>
            </a:r>
            <a:endParaRPr lang="en-US" sz="950" dirty="0"/>
          </a:p>
        </p:txBody>
      </p:sp>
      <p:sp>
        <p:nvSpPr>
          <p:cNvPr id="17" name="Shape 15"/>
          <p:cNvSpPr/>
          <p:nvPr/>
        </p:nvSpPr>
        <p:spPr>
          <a:xfrm>
            <a:off x="4846320" y="2011680"/>
            <a:ext cx="3566160" cy="457200"/>
          </a:xfrm>
          <a:prstGeom prst="rect">
            <a:avLst/>
          </a:prstGeom>
          <a:solidFill>
            <a:srgbClr val="E0F2F1"/>
          </a:solidFill>
          <a:ln/>
        </p:spPr>
      </p:sp>
      <p:sp>
        <p:nvSpPr>
          <p:cNvPr id="18" name="Text 16"/>
          <p:cNvSpPr/>
          <p:nvPr/>
        </p:nvSpPr>
        <p:spPr>
          <a:xfrm>
            <a:off x="4937760" y="2029968"/>
            <a:ext cx="3383280" cy="411480"/>
          </a:xfrm>
          <a:prstGeom prst="rect">
            <a:avLst/>
          </a:prstGeom>
          <a:noFill/>
          <a:ln/>
        </p:spPr>
        <p:txBody>
          <a:bodyPr wrap="square" lIns="0" tIns="0" rIns="0" bIns="0" rtlCol="0" anchor="ctr"/>
          <a:lstStyle/>
          <a:p>
            <a:pPr indent="0" marL="0">
              <a:buNone/>
            </a:pPr>
            <a:r>
              <a:rPr lang="en-US" sz="800" b="1" dirty="0">
                <a:solidFill>
                  <a:srgbClr val="0E7C7B"/>
                </a:solidFill>
                <a:latin typeface="Calibri" pitchFamily="34" charset="0"/>
                <a:ea typeface="Calibri" pitchFamily="34" charset="-122"/>
                <a:cs typeface="Calibri" pitchFamily="34" charset="-120"/>
              </a:rPr>
              <a:t>Map to Purview: Stakeholder map informs governance domain ownership (Phase 3).</a:t>
            </a:r>
            <a:endParaRPr lang="en-US" sz="800" dirty="0"/>
          </a:p>
        </p:txBody>
      </p:sp>
      <p:sp>
        <p:nvSpPr>
          <p:cNvPr id="19" name="Shape 17"/>
          <p:cNvSpPr/>
          <p:nvPr/>
        </p:nvSpPr>
        <p:spPr>
          <a:xfrm>
            <a:off x="457200" y="2834640"/>
            <a:ext cx="3931920" cy="16002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0" name="Shape 18"/>
          <p:cNvSpPr/>
          <p:nvPr/>
        </p:nvSpPr>
        <p:spPr>
          <a:xfrm>
            <a:off x="457200" y="2834640"/>
            <a:ext cx="54864" cy="1600200"/>
          </a:xfrm>
          <a:prstGeom prst="rect">
            <a:avLst/>
          </a:prstGeom>
          <a:solidFill>
            <a:srgbClr val="0E7C7B"/>
          </a:solidFill>
          <a:ln/>
        </p:spPr>
      </p:sp>
      <p:sp>
        <p:nvSpPr>
          <p:cNvPr id="21" name="Text 19"/>
          <p:cNvSpPr/>
          <p:nvPr/>
        </p:nvSpPr>
        <p:spPr>
          <a:xfrm>
            <a:off x="594360" y="2907792"/>
            <a:ext cx="320040" cy="320040"/>
          </a:xfrm>
          <a:prstGeom prst="rect">
            <a:avLst/>
          </a:prstGeom>
          <a:noFill/>
          <a:ln/>
        </p:spPr>
        <p:txBody>
          <a:bodyPr wrap="square" lIns="0" tIns="0" rIns="0" bIns="0" rtlCol="0" anchor="ctr"/>
          <a:lstStyle/>
          <a:p>
            <a:pPr indent="0" marL="0">
              <a:buNone/>
            </a:pPr>
            <a:r>
              <a:rPr lang="en-US" sz="2000" b="1" dirty="0">
                <a:solidFill>
                  <a:srgbClr val="0E7C7B"/>
                </a:solidFill>
                <a:latin typeface="Trebuchet MS" pitchFamily="34" charset="0"/>
                <a:ea typeface="Trebuchet MS" pitchFamily="34" charset="-122"/>
                <a:cs typeface="Trebuchet MS" pitchFamily="34" charset="-120"/>
              </a:rPr>
              <a:t>3</a:t>
            </a:r>
            <a:endParaRPr lang="en-US" sz="2000" dirty="0"/>
          </a:p>
        </p:txBody>
      </p:sp>
      <p:sp>
        <p:nvSpPr>
          <p:cNvPr id="22" name="Text 20"/>
          <p:cNvSpPr/>
          <p:nvPr/>
        </p:nvSpPr>
        <p:spPr>
          <a:xfrm>
            <a:off x="914400" y="2907792"/>
            <a:ext cx="3200400" cy="274320"/>
          </a:xfrm>
          <a:prstGeom prst="rect">
            <a:avLst/>
          </a:prstGeom>
          <a:noFill/>
          <a:ln/>
        </p:spPr>
        <p:txBody>
          <a:bodyPr wrap="square" lIns="0" tIns="0" rIns="0" bIns="0" rtlCol="0" anchor="ctr"/>
          <a:lstStyle/>
          <a:p>
            <a:pPr indent="0" marL="0">
              <a:buNone/>
            </a:pPr>
            <a:r>
              <a:rPr lang="en-US" sz="1200" b="1" dirty="0">
                <a:solidFill>
                  <a:srgbClr val="1B3A5C"/>
                </a:solidFill>
                <a:latin typeface="Calibri" pitchFamily="34" charset="0"/>
                <a:ea typeface="Calibri" pitchFamily="34" charset="-122"/>
                <a:cs typeface="Calibri" pitchFamily="34" charset="-120"/>
              </a:rPr>
              <a:t>Focus on Trust, Not Culture</a:t>
            </a:r>
            <a:endParaRPr lang="en-US" sz="1200" dirty="0"/>
          </a:p>
        </p:txBody>
      </p:sp>
      <p:sp>
        <p:nvSpPr>
          <p:cNvPr id="23" name="Text 21"/>
          <p:cNvSpPr/>
          <p:nvPr/>
        </p:nvSpPr>
        <p:spPr>
          <a:xfrm>
            <a:off x="640080" y="3218688"/>
            <a:ext cx="3566160" cy="548640"/>
          </a:xfrm>
          <a:prstGeom prst="rect">
            <a:avLst/>
          </a:prstGeom>
          <a:noFill/>
          <a:ln/>
        </p:spPr>
        <p:txBody>
          <a:bodyPr wrap="square" lIns="0" tIns="0" rIns="0" bIns="0" rtlCol="0" anchor="ctr"/>
          <a:lstStyle/>
          <a:p>
            <a:pPr indent="0" marL="0">
              <a:buNone/>
            </a:pPr>
            <a:r>
              <a:rPr lang="en-US" sz="950" dirty="0">
                <a:solidFill>
                  <a:srgbClr val="333333"/>
                </a:solidFill>
                <a:latin typeface="Calibri" pitchFamily="34" charset="0"/>
                <a:ea typeface="Calibri" pitchFamily="34" charset="-122"/>
                <a:cs typeface="Calibri" pitchFamily="34" charset="-120"/>
              </a:rPr>
              <a:t>Batchelder argues "data culture" programmes often fail. Instead, focus on building trust in data through transparent, reliable delivery.</a:t>
            </a:r>
            <a:endParaRPr lang="en-US" sz="950" dirty="0"/>
          </a:p>
        </p:txBody>
      </p:sp>
      <p:sp>
        <p:nvSpPr>
          <p:cNvPr id="24" name="Shape 22"/>
          <p:cNvSpPr/>
          <p:nvPr/>
        </p:nvSpPr>
        <p:spPr>
          <a:xfrm>
            <a:off x="640080" y="3840480"/>
            <a:ext cx="3566160" cy="457200"/>
          </a:xfrm>
          <a:prstGeom prst="rect">
            <a:avLst/>
          </a:prstGeom>
          <a:solidFill>
            <a:srgbClr val="E0F2F1"/>
          </a:solidFill>
          <a:ln/>
        </p:spPr>
      </p:sp>
      <p:sp>
        <p:nvSpPr>
          <p:cNvPr id="25" name="Text 23"/>
          <p:cNvSpPr/>
          <p:nvPr/>
        </p:nvSpPr>
        <p:spPr>
          <a:xfrm>
            <a:off x="731520" y="3858768"/>
            <a:ext cx="3383280" cy="411480"/>
          </a:xfrm>
          <a:prstGeom prst="rect">
            <a:avLst/>
          </a:prstGeom>
          <a:noFill/>
          <a:ln/>
        </p:spPr>
        <p:txBody>
          <a:bodyPr wrap="square" lIns="0" tIns="0" rIns="0" bIns="0" rtlCol="0" anchor="ctr"/>
          <a:lstStyle/>
          <a:p>
            <a:pPr indent="0" marL="0">
              <a:buNone/>
            </a:pPr>
            <a:r>
              <a:rPr lang="en-US" sz="800" b="1" dirty="0">
                <a:solidFill>
                  <a:srgbClr val="0E7C7B"/>
                </a:solidFill>
                <a:latin typeface="Calibri" pitchFamily="34" charset="0"/>
                <a:ea typeface="Calibri" pitchFamily="34" charset="-122"/>
                <a:cs typeface="Calibri" pitchFamily="34" charset="-120"/>
              </a:rPr>
              <a:t>Map to Purview: Data Quality scoring + Endorsed products = trust signals (Phase 4).</a:t>
            </a:r>
            <a:endParaRPr lang="en-US" sz="800" dirty="0"/>
          </a:p>
        </p:txBody>
      </p:sp>
      <p:sp>
        <p:nvSpPr>
          <p:cNvPr id="26" name="Shape 24"/>
          <p:cNvSpPr/>
          <p:nvPr/>
        </p:nvSpPr>
        <p:spPr>
          <a:xfrm>
            <a:off x="4663440" y="2834640"/>
            <a:ext cx="3931920" cy="16002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7" name="Shape 25"/>
          <p:cNvSpPr/>
          <p:nvPr/>
        </p:nvSpPr>
        <p:spPr>
          <a:xfrm>
            <a:off x="4663440" y="2834640"/>
            <a:ext cx="54864" cy="1600200"/>
          </a:xfrm>
          <a:prstGeom prst="rect">
            <a:avLst/>
          </a:prstGeom>
          <a:solidFill>
            <a:srgbClr val="0E7C7B"/>
          </a:solidFill>
          <a:ln/>
        </p:spPr>
      </p:sp>
      <p:sp>
        <p:nvSpPr>
          <p:cNvPr id="28" name="Text 26"/>
          <p:cNvSpPr/>
          <p:nvPr/>
        </p:nvSpPr>
        <p:spPr>
          <a:xfrm>
            <a:off x="4800600" y="2907792"/>
            <a:ext cx="320040" cy="320040"/>
          </a:xfrm>
          <a:prstGeom prst="rect">
            <a:avLst/>
          </a:prstGeom>
          <a:noFill/>
          <a:ln/>
        </p:spPr>
        <p:txBody>
          <a:bodyPr wrap="square" lIns="0" tIns="0" rIns="0" bIns="0" rtlCol="0" anchor="ctr"/>
          <a:lstStyle/>
          <a:p>
            <a:pPr indent="0" marL="0">
              <a:buNone/>
            </a:pPr>
            <a:r>
              <a:rPr lang="en-US" sz="2000" b="1" dirty="0">
                <a:solidFill>
                  <a:srgbClr val="0E7C7B"/>
                </a:solidFill>
                <a:latin typeface="Trebuchet MS" pitchFamily="34" charset="0"/>
                <a:ea typeface="Trebuchet MS" pitchFamily="34" charset="-122"/>
                <a:cs typeface="Trebuchet MS" pitchFamily="34" charset="-120"/>
              </a:rPr>
              <a:t>4</a:t>
            </a:r>
            <a:endParaRPr lang="en-US" sz="2000" dirty="0"/>
          </a:p>
        </p:txBody>
      </p:sp>
      <p:sp>
        <p:nvSpPr>
          <p:cNvPr id="29" name="Text 27"/>
          <p:cNvSpPr/>
          <p:nvPr/>
        </p:nvSpPr>
        <p:spPr>
          <a:xfrm>
            <a:off x="5120640" y="2907792"/>
            <a:ext cx="3200400" cy="274320"/>
          </a:xfrm>
          <a:prstGeom prst="rect">
            <a:avLst/>
          </a:prstGeom>
          <a:noFill/>
          <a:ln/>
        </p:spPr>
        <p:txBody>
          <a:bodyPr wrap="square" lIns="0" tIns="0" rIns="0" bIns="0" rtlCol="0" anchor="ctr"/>
          <a:lstStyle/>
          <a:p>
            <a:pPr indent="0" marL="0">
              <a:buNone/>
            </a:pPr>
            <a:r>
              <a:rPr lang="en-US" sz="1200" b="1" dirty="0">
                <a:solidFill>
                  <a:srgbClr val="1B3A5C"/>
                </a:solidFill>
                <a:latin typeface="Calibri" pitchFamily="34" charset="0"/>
                <a:ea typeface="Calibri" pitchFamily="34" charset="-122"/>
                <a:cs typeface="Calibri" pitchFamily="34" charset="-120"/>
              </a:rPr>
              <a:t>Translate to Business Outcomes</a:t>
            </a:r>
            <a:endParaRPr lang="en-US" sz="1200" dirty="0"/>
          </a:p>
        </p:txBody>
      </p:sp>
      <p:sp>
        <p:nvSpPr>
          <p:cNvPr id="30" name="Text 28"/>
          <p:cNvSpPr/>
          <p:nvPr/>
        </p:nvSpPr>
        <p:spPr>
          <a:xfrm>
            <a:off x="4846320" y="3218688"/>
            <a:ext cx="3566160" cy="548640"/>
          </a:xfrm>
          <a:prstGeom prst="rect">
            <a:avLst/>
          </a:prstGeom>
          <a:noFill/>
          <a:ln/>
        </p:spPr>
        <p:txBody>
          <a:bodyPr wrap="square" lIns="0" tIns="0" rIns="0" bIns="0" rtlCol="0" anchor="ctr"/>
          <a:lstStyle/>
          <a:p>
            <a:pPr indent="0" marL="0">
              <a:buNone/>
            </a:pPr>
            <a:r>
              <a:rPr lang="en-US" sz="950" dirty="0">
                <a:solidFill>
                  <a:srgbClr val="333333"/>
                </a:solidFill>
                <a:latin typeface="Calibri" pitchFamily="34" charset="0"/>
                <a:ea typeface="Calibri" pitchFamily="34" charset="-122"/>
                <a:cs typeface="Calibri" pitchFamily="34" charset="-120"/>
              </a:rPr>
              <a:t>Governance fails when framed in data terms. Reframe every capability in terms of revenue, cost savings, or risk reduction.</a:t>
            </a:r>
            <a:endParaRPr lang="en-US" sz="950" dirty="0"/>
          </a:p>
        </p:txBody>
      </p:sp>
      <p:sp>
        <p:nvSpPr>
          <p:cNvPr id="31" name="Shape 29"/>
          <p:cNvSpPr/>
          <p:nvPr/>
        </p:nvSpPr>
        <p:spPr>
          <a:xfrm>
            <a:off x="4846320" y="3840480"/>
            <a:ext cx="3566160" cy="457200"/>
          </a:xfrm>
          <a:prstGeom prst="rect">
            <a:avLst/>
          </a:prstGeom>
          <a:solidFill>
            <a:srgbClr val="E0F2F1"/>
          </a:solidFill>
          <a:ln/>
        </p:spPr>
      </p:sp>
      <p:sp>
        <p:nvSpPr>
          <p:cNvPr id="32" name="Text 30"/>
          <p:cNvSpPr/>
          <p:nvPr/>
        </p:nvSpPr>
        <p:spPr>
          <a:xfrm>
            <a:off x="4937760" y="3858768"/>
            <a:ext cx="3383280" cy="411480"/>
          </a:xfrm>
          <a:prstGeom prst="rect">
            <a:avLst/>
          </a:prstGeom>
          <a:noFill/>
          <a:ln/>
        </p:spPr>
        <p:txBody>
          <a:bodyPr wrap="square" lIns="0" tIns="0" rIns="0" bIns="0" rtlCol="0" anchor="ctr"/>
          <a:lstStyle/>
          <a:p>
            <a:pPr indent="0" marL="0">
              <a:buNone/>
            </a:pPr>
            <a:r>
              <a:rPr lang="en-US" sz="800" b="1" dirty="0">
                <a:solidFill>
                  <a:srgbClr val="0E7C7B"/>
                </a:solidFill>
                <a:latin typeface="Calibri" pitchFamily="34" charset="0"/>
                <a:ea typeface="Calibri" pitchFamily="34" charset="-122"/>
                <a:cs typeface="Calibri" pitchFamily="34" charset="-120"/>
              </a:rPr>
              <a:t>Map to Purview: OKRs in Unified Catalog connect governance directly to business goals (Phase 4).</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8F9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5C"/>
          </a:solidFill>
          <a:ln/>
        </p:spPr>
      </p:sp>
      <p:sp>
        <p:nvSpPr>
          <p:cNvPr id="3" name="Text 1"/>
          <p:cNvSpPr/>
          <p:nvPr/>
        </p:nvSpPr>
        <p:spPr>
          <a:xfrm>
            <a:off x="548640" y="137160"/>
            <a:ext cx="8229600" cy="54864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Baseline Before You Build – Maturity Assessment</a:t>
            </a:r>
            <a:endParaRPr lang="en-US" sz="2200" dirty="0"/>
          </a:p>
        </p:txBody>
      </p:sp>
      <p:sp>
        <p:nvSpPr>
          <p:cNvPr id="4" name="Text 2"/>
          <p:cNvSpPr/>
          <p:nvPr/>
        </p:nvSpPr>
        <p:spPr>
          <a:xfrm>
            <a:off x="548640" y="502920"/>
            <a:ext cx="7315200" cy="274320"/>
          </a:xfrm>
          <a:prstGeom prst="rect">
            <a:avLst/>
          </a:prstGeom>
          <a:noFill/>
          <a:ln/>
        </p:spPr>
        <p:txBody>
          <a:bodyPr wrap="square" lIns="0" tIns="0" rIns="0" bIns="0" rtlCol="0" anchor="ctr"/>
          <a:lstStyle/>
          <a:p>
            <a:pPr indent="0" marL="0">
              <a:buNone/>
            </a:pPr>
            <a:r>
              <a:rPr lang="en-US" sz="1000" i="1" dirty="0">
                <a:solidFill>
                  <a:srgbClr val="AABBCC"/>
                </a:solidFill>
                <a:latin typeface="Calibri" pitchFamily="34" charset="0"/>
                <a:ea typeface="Calibri" pitchFamily="34" charset="-122"/>
                <a:cs typeface="Calibri" pitchFamily="34" charset="-120"/>
              </a:rPr>
              <a:t>Batchelder Ch.4 – Applied to Phase 1 &amp; Ongoing</a:t>
            </a:r>
            <a:endParaRPr lang="en-US" sz="1000" dirty="0"/>
          </a:p>
        </p:txBody>
      </p:sp>
      <p:sp>
        <p:nvSpPr>
          <p:cNvPr id="5" name="Text 3"/>
          <p:cNvSpPr/>
          <p:nvPr/>
        </p:nvSpPr>
        <p:spPr>
          <a:xfrm>
            <a:off x="457200" y="1005840"/>
            <a:ext cx="8229600" cy="320040"/>
          </a:xfrm>
          <a:prstGeom prst="rect">
            <a:avLst/>
          </a:prstGeom>
          <a:noFill/>
          <a:ln/>
        </p:spPr>
        <p:txBody>
          <a:bodyPr wrap="square" lIns="0" tIns="0" rIns="0" bIns="0" rtlCol="0" anchor="ctr"/>
          <a:lstStyle/>
          <a:p>
            <a:pPr indent="0" marL="0">
              <a:buNone/>
            </a:pPr>
            <a:r>
              <a:rPr lang="en-US" sz="1100" dirty="0">
                <a:solidFill>
                  <a:srgbClr val="333333"/>
                </a:solidFill>
                <a:latin typeface="Calibri" pitchFamily="34" charset="0"/>
                <a:ea typeface="Calibri" pitchFamily="34" charset="-122"/>
                <a:cs typeface="Calibri" pitchFamily="34" charset="-120"/>
              </a:rPr>
              <a:t>Batchelder’s 10-step maturity assessment process, mapped to our Purview phases:</a:t>
            </a:r>
            <a:endParaRPr lang="en-US" sz="11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274320" y="1417320"/>
          <a:ext cx="8595360" cy="914400"/>
        </p:xfrm>
        <a:graphic>
          <a:graphicData uri="http://schemas.openxmlformats.org/drawingml/2006/table">
            <a:tbl>
              <a:tblPr/>
              <a:tblGrid>
                <a:gridCol w="1463040"/>
                <a:gridCol w="3200400"/>
                <a:gridCol w="3931920"/>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Step</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E7C7B"/>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What It Means</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E7C7B"/>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Purview Mapping</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E7C7B"/>
                    </a:solidFill>
                  </a:tcPr>
                </a:tc>
              </a:tr>
              <a:tr h="0">
                <a:tc>
                  <a:txBody>
                    <a:bodyPr/>
                    <a:lstStyle/>
                    <a:p>
                      <a:pPr indent="0" marL="0">
                        <a:buNone/>
                      </a:pPr>
                      <a:r>
                        <a:rPr lang="en-US" sz="800" b="1" dirty="0">
                          <a:solidFill>
                            <a:srgbClr val="333333"/>
                          </a:solidFill>
                          <a:latin typeface="Calibri" pitchFamily="34" charset="0"/>
                          <a:ea typeface="Calibri" pitchFamily="34" charset="-122"/>
                          <a:cs typeface="Calibri" pitchFamily="34" charset="-120"/>
                        </a:rPr>
                        <a:t>1. Define scope</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Determine which data domains, systems &amp; divisions to assess</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Phase 1: Align with Data Map source registration scope</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0">
                <a:tc>
                  <a:txBody>
                    <a:bodyPr/>
                    <a:lstStyle/>
                    <a:p>
                      <a:pPr indent="0" marL="0">
                        <a:buNone/>
                      </a:pPr>
                      <a:r>
                        <a:rPr lang="en-US" sz="800" b="1" dirty="0">
                          <a:solidFill>
                            <a:srgbClr val="333333"/>
                          </a:solidFill>
                          <a:latin typeface="Calibri" pitchFamily="34" charset="0"/>
                          <a:ea typeface="Calibri" pitchFamily="34" charset="-122"/>
                          <a:cs typeface="Calibri" pitchFamily="34" charset="-120"/>
                        </a:rPr>
                        <a:t>2. Identify stakeholders</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Use RACI – responsible, accountable, consulted, informed</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Phase 1: Governance Admin + domain executives</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800" b="1" dirty="0">
                          <a:solidFill>
                            <a:srgbClr val="333333"/>
                          </a:solidFill>
                          <a:latin typeface="Calibri" pitchFamily="34" charset="0"/>
                          <a:ea typeface="Calibri" pitchFamily="34" charset="-122"/>
                          <a:cs typeface="Calibri" pitchFamily="34" charset="-120"/>
                        </a:rPr>
                        <a:t>3. Select maturity model</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DCAM, CMMI-DMM, or custom – use established model first</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Aligns to our Level 1-5 Maturity Framework (Section 7)</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0">
                <a:tc>
                  <a:txBody>
                    <a:bodyPr/>
                    <a:lstStyle/>
                    <a:p>
                      <a:pPr indent="0" marL="0">
                        <a:buNone/>
                      </a:pPr>
                      <a:r>
                        <a:rPr lang="en-US" sz="800" b="1" dirty="0">
                          <a:solidFill>
                            <a:srgbClr val="333333"/>
                          </a:solidFill>
                          <a:latin typeface="Calibri" pitchFamily="34" charset="0"/>
                          <a:ea typeface="Calibri" pitchFamily="34" charset="-122"/>
                          <a:cs typeface="Calibri" pitchFamily="34" charset="-120"/>
                        </a:rPr>
                        <a:t>4. Execute assessment</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Workshops preferred over self-scoring to prevent gaming</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Pre-Phase 1: Run before Purview deployment begins</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800" b="1" dirty="0">
                          <a:solidFill>
                            <a:srgbClr val="333333"/>
                          </a:solidFill>
                          <a:latin typeface="Calibri" pitchFamily="34" charset="0"/>
                          <a:ea typeface="Calibri" pitchFamily="34" charset="-122"/>
                          <a:cs typeface="Calibri" pitchFamily="34" charset="-120"/>
                        </a:rPr>
                        <a:t>5. Analyse data</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Quantitative scores + qualitative themes from listening</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Informs which Purview phases to prioritise</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0">
                <a:tc>
                  <a:txBody>
                    <a:bodyPr/>
                    <a:lstStyle/>
                    <a:p>
                      <a:pPr indent="0" marL="0">
                        <a:buNone/>
                      </a:pPr>
                      <a:r>
                        <a:rPr lang="en-US" sz="800" b="1" dirty="0">
                          <a:solidFill>
                            <a:srgbClr val="333333"/>
                          </a:solidFill>
                          <a:latin typeface="Calibri" pitchFamily="34" charset="0"/>
                          <a:ea typeface="Calibri" pitchFamily="34" charset="-122"/>
                          <a:cs typeface="Calibri" pitchFamily="34" charset="-120"/>
                        </a:rPr>
                        <a:t>6. Communicate results</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Aggregated enterprise score first; disaggregate later</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Present to Enterprise Data Committee</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800" b="1" dirty="0">
                          <a:solidFill>
                            <a:srgbClr val="333333"/>
                          </a:solidFill>
                          <a:latin typeface="Calibri" pitchFamily="34" charset="0"/>
                          <a:ea typeface="Calibri" pitchFamily="34" charset="-122"/>
                          <a:cs typeface="Calibri" pitchFamily="34" charset="-120"/>
                        </a:rPr>
                        <a:t>7. Develop a plan</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Prioritise common themes that benefit the whole org</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This roadmap is the plan – adapt phase timelines to baseline</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0">
                <a:tc>
                  <a:txBody>
                    <a:bodyPr/>
                    <a:lstStyle/>
                    <a:p>
                      <a:pPr indent="0" marL="0">
                        <a:buNone/>
                      </a:pPr>
                      <a:r>
                        <a:rPr lang="en-US" sz="800" b="1" dirty="0">
                          <a:solidFill>
                            <a:srgbClr val="333333"/>
                          </a:solidFill>
                          <a:latin typeface="Calibri" pitchFamily="34" charset="0"/>
                          <a:ea typeface="Calibri" pitchFamily="34" charset="-122"/>
                          <a:cs typeface="Calibri" pitchFamily="34" charset="-120"/>
                        </a:rPr>
                        <a:t>8. Implement the plan</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Follow the six-phase Purview roadmap</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Phases 1-6 with parallel execution windows</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800" b="1" dirty="0">
                          <a:solidFill>
                            <a:srgbClr val="333333"/>
                          </a:solidFill>
                          <a:latin typeface="Calibri" pitchFamily="34" charset="0"/>
                          <a:ea typeface="Calibri" pitchFamily="34" charset="-122"/>
                          <a:cs typeface="Calibri" pitchFamily="34" charset="-120"/>
                        </a:rPr>
                        <a:t>9. Monitor progress</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Track via Health Controls in Unified Catalog</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Phase 6: Ongoing health scoring</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0">
                <a:tc>
                  <a:txBody>
                    <a:bodyPr/>
                    <a:lstStyle/>
                    <a:p>
                      <a:pPr indent="0" marL="0">
                        <a:buNone/>
                      </a:pPr>
                      <a:r>
                        <a:rPr lang="en-US" sz="800" b="1" dirty="0">
                          <a:solidFill>
                            <a:srgbClr val="333333"/>
                          </a:solidFill>
                          <a:latin typeface="Calibri" pitchFamily="34" charset="0"/>
                          <a:ea typeface="Calibri" pitchFamily="34" charset="-122"/>
                          <a:cs typeface="Calibri" pitchFamily="34" charset="-120"/>
                        </a:rPr>
                        <a:t>10. Reassess maturity</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Annual reassessment to measure improvement</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Calibri" pitchFamily="34" charset="0"/>
                          <a:ea typeface="Calibri" pitchFamily="34" charset="-122"/>
                          <a:cs typeface="Calibri" pitchFamily="34" charset="-120"/>
                        </a:rPr>
                        <a:t>Annual: Compare against original baseline</a:t>
                      </a:r>
                      <a:endParaRPr lang="en-US" sz="8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8F9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5C"/>
          </a:solidFill>
          <a:ln/>
        </p:spPr>
      </p:sp>
      <p:sp>
        <p:nvSpPr>
          <p:cNvPr id="3" name="Text 1"/>
          <p:cNvSpPr/>
          <p:nvPr/>
        </p:nvSpPr>
        <p:spPr>
          <a:xfrm>
            <a:off x="548640" y="137160"/>
            <a:ext cx="8229600" cy="54864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Quick Wins &amp; Continuous Delivery Model</a:t>
            </a:r>
            <a:endParaRPr lang="en-US" sz="2200" dirty="0"/>
          </a:p>
        </p:txBody>
      </p:sp>
      <p:sp>
        <p:nvSpPr>
          <p:cNvPr id="4" name="Text 2"/>
          <p:cNvSpPr/>
          <p:nvPr/>
        </p:nvSpPr>
        <p:spPr>
          <a:xfrm>
            <a:off x="548640" y="502920"/>
            <a:ext cx="7315200" cy="274320"/>
          </a:xfrm>
          <a:prstGeom prst="rect">
            <a:avLst/>
          </a:prstGeom>
          <a:noFill/>
          <a:ln/>
        </p:spPr>
        <p:txBody>
          <a:bodyPr wrap="square" lIns="0" tIns="0" rIns="0" bIns="0" rtlCol="0" anchor="ctr"/>
          <a:lstStyle/>
          <a:p>
            <a:pPr indent="0" marL="0">
              <a:buNone/>
            </a:pPr>
            <a:r>
              <a:rPr lang="en-US" sz="1000" i="1" dirty="0">
                <a:solidFill>
                  <a:srgbClr val="AABBCC"/>
                </a:solidFill>
                <a:latin typeface="Calibri" pitchFamily="34" charset="0"/>
                <a:ea typeface="Calibri" pitchFamily="34" charset="-122"/>
                <a:cs typeface="Calibri" pitchFamily="34" charset="-120"/>
              </a:rPr>
              <a:t>Batchelder Ch.13 – Applied Across Phases 1-4</a:t>
            </a:r>
            <a:endParaRPr lang="en-US" sz="1000" dirty="0"/>
          </a:p>
        </p:txBody>
      </p:sp>
      <p:sp>
        <p:nvSpPr>
          <p:cNvPr id="5" name="Shape 3"/>
          <p:cNvSpPr/>
          <p:nvPr/>
        </p:nvSpPr>
        <p:spPr>
          <a:xfrm>
            <a:off x="457200" y="1005840"/>
            <a:ext cx="8229600" cy="640080"/>
          </a:xfrm>
          <a:prstGeom prst="rect">
            <a:avLst/>
          </a:prstGeom>
          <a:solidFill>
            <a:srgbClr val="E8EEF4"/>
          </a:solidFill>
          <a:ln/>
        </p:spPr>
      </p:sp>
      <p:sp>
        <p:nvSpPr>
          <p:cNvPr id="6" name="Text 4"/>
          <p:cNvSpPr/>
          <p:nvPr/>
        </p:nvSpPr>
        <p:spPr>
          <a:xfrm>
            <a:off x="640080" y="1051560"/>
            <a:ext cx="7863840" cy="548640"/>
          </a:xfrm>
          <a:prstGeom prst="rect">
            <a:avLst/>
          </a:prstGeom>
          <a:noFill/>
          <a:ln/>
        </p:spPr>
        <p:txBody>
          <a:bodyPr wrap="square" lIns="0" tIns="0" rIns="0" bIns="0" rtlCol="0" anchor="ctr"/>
          <a:lstStyle/>
          <a:p>
            <a:pPr indent="0" marL="0">
              <a:buNone/>
            </a:pPr>
            <a:r>
              <a:rPr lang="en-US" sz="1100" b="1" dirty="0">
                <a:solidFill>
                  <a:srgbClr val="1B3A5C"/>
                </a:solidFill>
                <a:latin typeface="Calibri" pitchFamily="34" charset="0"/>
                <a:ea typeface="Calibri" pitchFamily="34" charset="-122"/>
                <a:cs typeface="Calibri" pitchFamily="34" charset="-120"/>
              </a:rPr>
              <a:t xml:space="preserve">Key Insight: </a:t>
            </a:r>
            <a:pPr indent="0" marL="0">
              <a:buNone/>
            </a:pPr>
            <a:r>
              <a:rPr lang="en-US" sz="1000" i="1" dirty="0">
                <a:solidFill>
                  <a:srgbClr val="333333"/>
                </a:solidFill>
                <a:latin typeface="Calibri" pitchFamily="34" charset="0"/>
                <a:ea typeface="Calibri" pitchFamily="34" charset="-122"/>
                <a:cs typeface="Calibri" pitchFamily="34" charset="-120"/>
              </a:rPr>
              <a:t>"Data leaders who bet exclusively on big transformational platforms often lose stakeholder interest by the time results are realised. Shorten time to first value." – Batchelder</a:t>
            </a:r>
            <a:endParaRPr lang="en-US" sz="1100" dirty="0"/>
          </a:p>
        </p:txBody>
      </p:sp>
      <p:sp>
        <p:nvSpPr>
          <p:cNvPr id="7" name="Shape 5"/>
          <p:cNvSpPr/>
          <p:nvPr/>
        </p:nvSpPr>
        <p:spPr>
          <a:xfrm>
            <a:off x="457200" y="1920240"/>
            <a:ext cx="2560320" cy="11430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Shape 6"/>
          <p:cNvSpPr/>
          <p:nvPr/>
        </p:nvSpPr>
        <p:spPr>
          <a:xfrm>
            <a:off x="457200" y="1920240"/>
            <a:ext cx="2560320" cy="320040"/>
          </a:xfrm>
          <a:prstGeom prst="rect">
            <a:avLst/>
          </a:prstGeom>
          <a:solidFill>
            <a:srgbClr val="1B3A5C"/>
          </a:solidFill>
          <a:ln/>
        </p:spPr>
      </p:sp>
      <p:sp>
        <p:nvSpPr>
          <p:cNvPr id="9" name="Text 7"/>
          <p:cNvSpPr/>
          <p:nvPr/>
        </p:nvSpPr>
        <p:spPr>
          <a:xfrm>
            <a:off x="548640" y="1965960"/>
            <a:ext cx="23774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1. Intake</a:t>
            </a:r>
            <a:endParaRPr lang="en-US" sz="1100" dirty="0"/>
          </a:p>
        </p:txBody>
      </p:sp>
      <p:sp>
        <p:nvSpPr>
          <p:cNvPr id="10" name="Text 8"/>
          <p:cNvSpPr/>
          <p:nvPr/>
        </p:nvSpPr>
        <p:spPr>
          <a:xfrm>
            <a:off x="548640" y="2331720"/>
            <a:ext cx="2377440" cy="594360"/>
          </a:xfrm>
          <a:prstGeom prst="rect">
            <a:avLst/>
          </a:prstGeom>
          <a:noFill/>
          <a:ln/>
        </p:spPr>
        <p:txBody>
          <a:bodyPr wrap="square" lIns="0" tIns="0" rIns="0" bIns="0" rtlCol="0" anchor="ctr"/>
          <a:lstStyle/>
          <a:p>
            <a:pPr indent="0" marL="0">
              <a:buNone/>
            </a:pPr>
            <a:r>
              <a:rPr lang="en-US" sz="900" dirty="0">
                <a:solidFill>
                  <a:srgbClr val="333333"/>
                </a:solidFill>
                <a:latin typeface="Calibri" pitchFamily="34" charset="0"/>
                <a:ea typeface="Calibri" pitchFamily="34" charset="-122"/>
                <a:cs typeface="Calibri" pitchFamily="34" charset="-120"/>
              </a:rPr>
              <a:t>Collect issues from stakeholder listening sessions. Document everything.</a:t>
            </a:r>
            <a:endParaRPr lang="en-US" sz="900" dirty="0"/>
          </a:p>
        </p:txBody>
      </p:sp>
      <p:sp>
        <p:nvSpPr>
          <p:cNvPr id="11" name="Shape 9"/>
          <p:cNvSpPr/>
          <p:nvPr/>
        </p:nvSpPr>
        <p:spPr>
          <a:xfrm>
            <a:off x="3291840" y="1920240"/>
            <a:ext cx="2560320" cy="11430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2" name="Shape 10"/>
          <p:cNvSpPr/>
          <p:nvPr/>
        </p:nvSpPr>
        <p:spPr>
          <a:xfrm>
            <a:off x="3291840" y="1920240"/>
            <a:ext cx="2560320" cy="320040"/>
          </a:xfrm>
          <a:prstGeom prst="rect">
            <a:avLst/>
          </a:prstGeom>
          <a:solidFill>
            <a:srgbClr val="0E7C7B"/>
          </a:solidFill>
          <a:ln/>
        </p:spPr>
      </p:sp>
      <p:sp>
        <p:nvSpPr>
          <p:cNvPr id="13" name="Text 11"/>
          <p:cNvSpPr/>
          <p:nvPr/>
        </p:nvSpPr>
        <p:spPr>
          <a:xfrm>
            <a:off x="3383280" y="1965960"/>
            <a:ext cx="23774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2. Prioritise</a:t>
            </a:r>
            <a:endParaRPr lang="en-US" sz="1100" dirty="0"/>
          </a:p>
        </p:txBody>
      </p:sp>
      <p:sp>
        <p:nvSpPr>
          <p:cNvPr id="14" name="Text 12"/>
          <p:cNvSpPr/>
          <p:nvPr/>
        </p:nvSpPr>
        <p:spPr>
          <a:xfrm>
            <a:off x="3383280" y="2331720"/>
            <a:ext cx="2377440" cy="594360"/>
          </a:xfrm>
          <a:prstGeom prst="rect">
            <a:avLst/>
          </a:prstGeom>
          <a:noFill/>
          <a:ln/>
        </p:spPr>
        <p:txBody>
          <a:bodyPr wrap="square" lIns="0" tIns="0" rIns="0" bIns="0" rtlCol="0" anchor="ctr"/>
          <a:lstStyle/>
          <a:p>
            <a:pPr indent="0" marL="0">
              <a:buNone/>
            </a:pPr>
            <a:r>
              <a:rPr lang="en-US" sz="900" dirty="0">
                <a:solidFill>
                  <a:srgbClr val="333333"/>
                </a:solidFill>
                <a:latin typeface="Calibri" pitchFamily="34" charset="0"/>
                <a:ea typeface="Calibri" pitchFamily="34" charset="-122"/>
                <a:cs typeface="Calibri" pitchFamily="34" charset="-120"/>
              </a:rPr>
              <a:t>Score by impact (H/M/L) and effort. Focus on high-impact, low-effort first.</a:t>
            </a:r>
            <a:endParaRPr lang="en-US" sz="900" dirty="0"/>
          </a:p>
        </p:txBody>
      </p:sp>
      <p:sp>
        <p:nvSpPr>
          <p:cNvPr id="15" name="Shape 13"/>
          <p:cNvSpPr/>
          <p:nvPr/>
        </p:nvSpPr>
        <p:spPr>
          <a:xfrm>
            <a:off x="6126480" y="1920240"/>
            <a:ext cx="2560320" cy="11430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6" name="Shape 14"/>
          <p:cNvSpPr/>
          <p:nvPr/>
        </p:nvSpPr>
        <p:spPr>
          <a:xfrm>
            <a:off x="6126480" y="1920240"/>
            <a:ext cx="2560320" cy="320040"/>
          </a:xfrm>
          <a:prstGeom prst="rect">
            <a:avLst/>
          </a:prstGeom>
          <a:solidFill>
            <a:srgbClr val="0A6665"/>
          </a:solidFill>
          <a:ln/>
        </p:spPr>
      </p:sp>
      <p:sp>
        <p:nvSpPr>
          <p:cNvPr id="17" name="Text 15"/>
          <p:cNvSpPr/>
          <p:nvPr/>
        </p:nvSpPr>
        <p:spPr>
          <a:xfrm>
            <a:off x="6217920" y="1965960"/>
            <a:ext cx="23774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3. Build MVP</a:t>
            </a:r>
            <a:endParaRPr lang="en-US" sz="1100" dirty="0"/>
          </a:p>
        </p:txBody>
      </p:sp>
      <p:sp>
        <p:nvSpPr>
          <p:cNvPr id="18" name="Text 16"/>
          <p:cNvSpPr/>
          <p:nvPr/>
        </p:nvSpPr>
        <p:spPr>
          <a:xfrm>
            <a:off x="6217920" y="2331720"/>
            <a:ext cx="2377440" cy="594360"/>
          </a:xfrm>
          <a:prstGeom prst="rect">
            <a:avLst/>
          </a:prstGeom>
          <a:noFill/>
          <a:ln/>
        </p:spPr>
        <p:txBody>
          <a:bodyPr wrap="square" lIns="0" tIns="0" rIns="0" bIns="0" rtlCol="0" anchor="ctr"/>
          <a:lstStyle/>
          <a:p>
            <a:pPr indent="0" marL="0">
              <a:buNone/>
            </a:pPr>
            <a:r>
              <a:rPr lang="en-US" sz="900" dirty="0">
                <a:solidFill>
                  <a:srgbClr val="333333"/>
                </a:solidFill>
                <a:latin typeface="Calibri" pitchFamily="34" charset="0"/>
                <a:ea typeface="Calibri" pitchFamily="34" charset="-122"/>
                <a:cs typeface="Calibri" pitchFamily="34" charset="-120"/>
              </a:rPr>
              <a:t>Deliver minimum viable product. Apply product mindset to data capabilities.</a:t>
            </a:r>
            <a:endParaRPr lang="en-US" sz="900" dirty="0"/>
          </a:p>
        </p:txBody>
      </p:sp>
      <p:sp>
        <p:nvSpPr>
          <p:cNvPr id="19" name="Shape 17"/>
          <p:cNvSpPr/>
          <p:nvPr/>
        </p:nvSpPr>
        <p:spPr>
          <a:xfrm>
            <a:off x="457200" y="3291840"/>
            <a:ext cx="2560320" cy="11430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0" name="Shape 18"/>
          <p:cNvSpPr/>
          <p:nvPr/>
        </p:nvSpPr>
        <p:spPr>
          <a:xfrm>
            <a:off x="457200" y="3291840"/>
            <a:ext cx="2560320" cy="320040"/>
          </a:xfrm>
          <a:prstGeom prst="rect">
            <a:avLst/>
          </a:prstGeom>
          <a:solidFill>
            <a:srgbClr val="1B3A5C"/>
          </a:solidFill>
          <a:ln/>
        </p:spPr>
      </p:sp>
      <p:sp>
        <p:nvSpPr>
          <p:cNvPr id="21" name="Text 19"/>
          <p:cNvSpPr/>
          <p:nvPr/>
        </p:nvSpPr>
        <p:spPr>
          <a:xfrm>
            <a:off x="548640" y="3337560"/>
            <a:ext cx="23774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4. Demo &amp; Iterate</a:t>
            </a:r>
            <a:endParaRPr lang="en-US" sz="1100" dirty="0"/>
          </a:p>
        </p:txBody>
      </p:sp>
      <p:sp>
        <p:nvSpPr>
          <p:cNvPr id="22" name="Text 20"/>
          <p:cNvSpPr/>
          <p:nvPr/>
        </p:nvSpPr>
        <p:spPr>
          <a:xfrm>
            <a:off x="548640" y="3703320"/>
            <a:ext cx="2377440" cy="594360"/>
          </a:xfrm>
          <a:prstGeom prst="rect">
            <a:avLst/>
          </a:prstGeom>
          <a:noFill/>
          <a:ln/>
        </p:spPr>
        <p:txBody>
          <a:bodyPr wrap="square" lIns="0" tIns="0" rIns="0" bIns="0" rtlCol="0" anchor="ctr"/>
          <a:lstStyle/>
          <a:p>
            <a:pPr indent="0" marL="0">
              <a:buNone/>
            </a:pPr>
            <a:r>
              <a:rPr lang="en-US" sz="900" dirty="0">
                <a:solidFill>
                  <a:srgbClr val="333333"/>
                </a:solidFill>
                <a:latin typeface="Calibri" pitchFamily="34" charset="0"/>
                <a:ea typeface="Calibri" pitchFamily="34" charset="-122"/>
                <a:cs typeface="Calibri" pitchFamily="34" charset="-120"/>
              </a:rPr>
              <a:t>Show stakeholders early. Get feedback. Don’t wait until it’s perfect.</a:t>
            </a:r>
            <a:endParaRPr lang="en-US" sz="900" dirty="0"/>
          </a:p>
        </p:txBody>
      </p:sp>
      <p:sp>
        <p:nvSpPr>
          <p:cNvPr id="23" name="Shape 21"/>
          <p:cNvSpPr/>
          <p:nvPr/>
        </p:nvSpPr>
        <p:spPr>
          <a:xfrm>
            <a:off x="3291840" y="3291840"/>
            <a:ext cx="2560320" cy="11430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4" name="Shape 22"/>
          <p:cNvSpPr/>
          <p:nvPr/>
        </p:nvSpPr>
        <p:spPr>
          <a:xfrm>
            <a:off x="3291840" y="3291840"/>
            <a:ext cx="2560320" cy="320040"/>
          </a:xfrm>
          <a:prstGeom prst="rect">
            <a:avLst/>
          </a:prstGeom>
          <a:solidFill>
            <a:srgbClr val="0E7C7B"/>
          </a:solidFill>
          <a:ln/>
        </p:spPr>
      </p:sp>
      <p:sp>
        <p:nvSpPr>
          <p:cNvPr id="25" name="Text 23"/>
          <p:cNvSpPr/>
          <p:nvPr/>
        </p:nvSpPr>
        <p:spPr>
          <a:xfrm>
            <a:off x="3383280" y="3337560"/>
            <a:ext cx="23774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5. Go Live</a:t>
            </a:r>
            <a:endParaRPr lang="en-US" sz="1100" dirty="0"/>
          </a:p>
        </p:txBody>
      </p:sp>
      <p:sp>
        <p:nvSpPr>
          <p:cNvPr id="26" name="Text 24"/>
          <p:cNvSpPr/>
          <p:nvPr/>
        </p:nvSpPr>
        <p:spPr>
          <a:xfrm>
            <a:off x="3383280" y="3703320"/>
            <a:ext cx="2377440" cy="594360"/>
          </a:xfrm>
          <a:prstGeom prst="rect">
            <a:avLst/>
          </a:prstGeom>
          <a:noFill/>
          <a:ln/>
        </p:spPr>
        <p:txBody>
          <a:bodyPr wrap="square" lIns="0" tIns="0" rIns="0" bIns="0" rtlCol="0" anchor="ctr"/>
          <a:lstStyle/>
          <a:p>
            <a:pPr indent="0" marL="0">
              <a:buNone/>
            </a:pPr>
            <a:r>
              <a:rPr lang="en-US" sz="900" dirty="0">
                <a:solidFill>
                  <a:srgbClr val="333333"/>
                </a:solidFill>
                <a:latin typeface="Calibri" pitchFamily="34" charset="0"/>
                <a:ea typeface="Calibri" pitchFamily="34" charset="-122"/>
                <a:cs typeface="Calibri" pitchFamily="34" charset="-120"/>
              </a:rPr>
              <a:t>Turn on with urgency. Continue delivering features post-launch.</a:t>
            </a:r>
            <a:endParaRPr lang="en-US" sz="900" dirty="0"/>
          </a:p>
        </p:txBody>
      </p:sp>
      <p:sp>
        <p:nvSpPr>
          <p:cNvPr id="27" name="Shape 25"/>
          <p:cNvSpPr/>
          <p:nvPr/>
        </p:nvSpPr>
        <p:spPr>
          <a:xfrm>
            <a:off x="6126480" y="3291840"/>
            <a:ext cx="2560320" cy="11430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8" name="Shape 26"/>
          <p:cNvSpPr/>
          <p:nvPr/>
        </p:nvSpPr>
        <p:spPr>
          <a:xfrm>
            <a:off x="6126480" y="3291840"/>
            <a:ext cx="2560320" cy="320040"/>
          </a:xfrm>
          <a:prstGeom prst="rect">
            <a:avLst/>
          </a:prstGeom>
          <a:solidFill>
            <a:srgbClr val="0A6665"/>
          </a:solidFill>
          <a:ln/>
        </p:spPr>
      </p:sp>
      <p:sp>
        <p:nvSpPr>
          <p:cNvPr id="29" name="Text 27"/>
          <p:cNvSpPr/>
          <p:nvPr/>
        </p:nvSpPr>
        <p:spPr>
          <a:xfrm>
            <a:off x="6217920" y="3337560"/>
            <a:ext cx="23774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6. Communicate</a:t>
            </a:r>
            <a:endParaRPr lang="en-US" sz="1100" dirty="0"/>
          </a:p>
        </p:txBody>
      </p:sp>
      <p:sp>
        <p:nvSpPr>
          <p:cNvPr id="30" name="Text 28"/>
          <p:cNvSpPr/>
          <p:nvPr/>
        </p:nvSpPr>
        <p:spPr>
          <a:xfrm>
            <a:off x="6217920" y="3703320"/>
            <a:ext cx="2377440" cy="594360"/>
          </a:xfrm>
          <a:prstGeom prst="rect">
            <a:avLst/>
          </a:prstGeom>
          <a:noFill/>
          <a:ln/>
        </p:spPr>
        <p:txBody>
          <a:bodyPr wrap="square" lIns="0" tIns="0" rIns="0" bIns="0" rtlCol="0" anchor="ctr"/>
          <a:lstStyle/>
          <a:p>
            <a:pPr indent="0" marL="0">
              <a:buNone/>
            </a:pPr>
            <a:r>
              <a:rPr lang="en-US" sz="900" dirty="0">
                <a:solidFill>
                  <a:srgbClr val="333333"/>
                </a:solidFill>
                <a:latin typeface="Calibri" pitchFamily="34" charset="0"/>
                <a:ea typeface="Calibri" pitchFamily="34" charset="-122"/>
                <a:cs typeface="Calibri" pitchFamily="34" charset="-120"/>
              </a:rPr>
              <a:t>Share wins broadly. Quantify impact: time saved, revenue found, risk reduced.</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8F9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5C"/>
          </a:solidFill>
          <a:ln/>
        </p:spPr>
      </p:sp>
      <p:sp>
        <p:nvSpPr>
          <p:cNvPr id="3" name="Text 1"/>
          <p:cNvSpPr/>
          <p:nvPr/>
        </p:nvSpPr>
        <p:spPr>
          <a:xfrm>
            <a:off x="548640" y="137160"/>
            <a:ext cx="8229600" cy="54864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Metadata, Glossary &amp; Building Trust in Data</a:t>
            </a:r>
            <a:endParaRPr lang="en-US" sz="2200" dirty="0"/>
          </a:p>
        </p:txBody>
      </p:sp>
      <p:sp>
        <p:nvSpPr>
          <p:cNvPr id="4" name="Text 2"/>
          <p:cNvSpPr/>
          <p:nvPr/>
        </p:nvSpPr>
        <p:spPr>
          <a:xfrm>
            <a:off x="548640" y="502920"/>
            <a:ext cx="7315200" cy="274320"/>
          </a:xfrm>
          <a:prstGeom prst="rect">
            <a:avLst/>
          </a:prstGeom>
          <a:noFill/>
          <a:ln/>
        </p:spPr>
        <p:txBody>
          <a:bodyPr wrap="square" lIns="0" tIns="0" rIns="0" bIns="0" rtlCol="0" anchor="ctr"/>
          <a:lstStyle/>
          <a:p>
            <a:pPr indent="0" marL="0">
              <a:buNone/>
            </a:pPr>
            <a:r>
              <a:rPr lang="en-US" sz="1000" i="1" dirty="0">
                <a:solidFill>
                  <a:srgbClr val="AABBCC"/>
                </a:solidFill>
                <a:latin typeface="Calibri" pitchFamily="34" charset="0"/>
                <a:ea typeface="Calibri" pitchFamily="34" charset="-122"/>
                <a:cs typeface="Calibri" pitchFamily="34" charset="-120"/>
              </a:rPr>
              <a:t>Batchelder Ch.6-8 – Applied to Phases 1, 3, 4</a:t>
            </a:r>
            <a:endParaRPr lang="en-US" sz="1000" dirty="0"/>
          </a:p>
        </p:txBody>
      </p:sp>
      <p:sp>
        <p:nvSpPr>
          <p:cNvPr id="5" name="Shape 3"/>
          <p:cNvSpPr/>
          <p:nvPr/>
        </p:nvSpPr>
        <p:spPr>
          <a:xfrm>
            <a:off x="457200" y="960120"/>
            <a:ext cx="8229600" cy="1188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457200" y="960120"/>
            <a:ext cx="73152" cy="1188720"/>
          </a:xfrm>
          <a:prstGeom prst="rect">
            <a:avLst/>
          </a:prstGeom>
          <a:solidFill>
            <a:srgbClr val="0E7C7B"/>
          </a:solidFill>
          <a:ln/>
        </p:spPr>
      </p:sp>
      <p:sp>
        <p:nvSpPr>
          <p:cNvPr id="7" name="Text 5"/>
          <p:cNvSpPr/>
          <p:nvPr/>
        </p:nvSpPr>
        <p:spPr>
          <a:xfrm>
            <a:off x="685800" y="996696"/>
            <a:ext cx="3657600" cy="228600"/>
          </a:xfrm>
          <a:prstGeom prst="rect">
            <a:avLst/>
          </a:prstGeom>
          <a:noFill/>
          <a:ln/>
        </p:spPr>
        <p:txBody>
          <a:bodyPr wrap="square" lIns="0" tIns="0" rIns="0" bIns="0" rtlCol="0" anchor="ctr"/>
          <a:lstStyle/>
          <a:p>
            <a:pPr indent="0" marL="0">
              <a:buNone/>
            </a:pPr>
            <a:r>
              <a:rPr lang="en-US" sz="1200" b="1" dirty="0">
                <a:solidFill>
                  <a:srgbClr val="1B3A5C"/>
                </a:solidFill>
                <a:latin typeface="Calibri" pitchFamily="34" charset="0"/>
                <a:ea typeface="Calibri" pitchFamily="34" charset="-122"/>
                <a:cs typeface="Calibri" pitchFamily="34" charset="-120"/>
              </a:rPr>
              <a:t>Business Glossary Best Practices</a:t>
            </a:r>
            <a:endParaRPr lang="en-US" sz="1200" dirty="0"/>
          </a:p>
        </p:txBody>
      </p:sp>
      <p:sp>
        <p:nvSpPr>
          <p:cNvPr id="8" name="Text 6"/>
          <p:cNvSpPr/>
          <p:nvPr/>
        </p:nvSpPr>
        <p:spPr>
          <a:xfrm>
            <a:off x="685800" y="1234440"/>
            <a:ext cx="4572000" cy="182880"/>
          </a:xfrm>
          <a:prstGeom prst="rect">
            <a:avLst/>
          </a:prstGeom>
          <a:noFill/>
          <a:ln/>
        </p:spPr>
        <p:txBody>
          <a:bodyPr wrap="square" lIns="0" tIns="0" rIns="0" bIns="0" rtlCol="0" anchor="ctr"/>
          <a:lstStyle/>
          <a:p>
            <a:pPr marL="342900" indent="-342900">
              <a:buSzPct val="100000"/>
              <a:buChar char="•"/>
            </a:pPr>
            <a:r>
              <a:rPr lang="en-US" sz="850" dirty="0">
                <a:solidFill>
                  <a:srgbClr val="333333"/>
                </a:solidFill>
                <a:latin typeface="Calibri" pitchFamily="34" charset="0"/>
                <a:ea typeface="Calibri" pitchFamily="34" charset="-122"/>
                <a:cs typeface="Calibri" pitchFamily="34" charset="-120"/>
              </a:rPr>
              <a:t>Start with terms teams already use – don’t invent new vocabulary</a:t>
            </a:r>
            <a:endParaRPr lang="en-US" sz="850" dirty="0"/>
          </a:p>
        </p:txBody>
      </p:sp>
      <p:sp>
        <p:nvSpPr>
          <p:cNvPr id="9" name="Text 7"/>
          <p:cNvSpPr/>
          <p:nvPr/>
        </p:nvSpPr>
        <p:spPr>
          <a:xfrm>
            <a:off x="685800" y="1417320"/>
            <a:ext cx="4572000" cy="182880"/>
          </a:xfrm>
          <a:prstGeom prst="rect">
            <a:avLst/>
          </a:prstGeom>
          <a:noFill/>
          <a:ln/>
        </p:spPr>
        <p:txBody>
          <a:bodyPr wrap="square" lIns="0" tIns="0" rIns="0" bIns="0" rtlCol="0" anchor="ctr"/>
          <a:lstStyle/>
          <a:p>
            <a:pPr marL="342900" indent="-342900">
              <a:buSzPct val="100000"/>
              <a:buChar char="•"/>
            </a:pPr>
            <a:r>
              <a:rPr lang="en-US" sz="850" dirty="0">
                <a:solidFill>
                  <a:srgbClr val="333333"/>
                </a:solidFill>
                <a:latin typeface="Calibri" pitchFamily="34" charset="0"/>
                <a:ea typeface="Calibri" pitchFamily="34" charset="-122"/>
                <a:cs typeface="Calibri" pitchFamily="34" charset="-120"/>
              </a:rPr>
              <a:t>Publish a quick reference guide of basic terms accessible to the whole org</a:t>
            </a:r>
            <a:endParaRPr lang="en-US" sz="850" dirty="0"/>
          </a:p>
        </p:txBody>
      </p:sp>
      <p:sp>
        <p:nvSpPr>
          <p:cNvPr id="10" name="Text 8"/>
          <p:cNvSpPr/>
          <p:nvPr/>
        </p:nvSpPr>
        <p:spPr>
          <a:xfrm>
            <a:off x="685800" y="1600200"/>
            <a:ext cx="4572000" cy="182880"/>
          </a:xfrm>
          <a:prstGeom prst="rect">
            <a:avLst/>
          </a:prstGeom>
          <a:noFill/>
          <a:ln/>
        </p:spPr>
        <p:txBody>
          <a:bodyPr wrap="square" lIns="0" tIns="0" rIns="0" bIns="0" rtlCol="0" anchor="ctr"/>
          <a:lstStyle/>
          <a:p>
            <a:pPr marL="342900" indent="-342900">
              <a:buSzPct val="100000"/>
              <a:buChar char="•"/>
            </a:pPr>
            <a:r>
              <a:rPr lang="en-US" sz="850" dirty="0">
                <a:solidFill>
                  <a:srgbClr val="333333"/>
                </a:solidFill>
                <a:latin typeface="Calibri" pitchFamily="34" charset="0"/>
                <a:ea typeface="Calibri" pitchFamily="34" charset="-122"/>
                <a:cs typeface="Calibri" pitchFamily="34" charset="-120"/>
              </a:rPr>
              <a:t>Measure: terms defined / total terms; terms with assigned owners / total terms</a:t>
            </a:r>
            <a:endParaRPr lang="en-US" sz="850" dirty="0"/>
          </a:p>
        </p:txBody>
      </p:sp>
      <p:sp>
        <p:nvSpPr>
          <p:cNvPr id="11" name="Text 9"/>
          <p:cNvSpPr/>
          <p:nvPr/>
        </p:nvSpPr>
        <p:spPr>
          <a:xfrm>
            <a:off x="685800" y="1783080"/>
            <a:ext cx="4572000" cy="182880"/>
          </a:xfrm>
          <a:prstGeom prst="rect">
            <a:avLst/>
          </a:prstGeom>
          <a:noFill/>
          <a:ln/>
        </p:spPr>
        <p:txBody>
          <a:bodyPr wrap="square" lIns="0" tIns="0" rIns="0" bIns="0" rtlCol="0" anchor="ctr"/>
          <a:lstStyle/>
          <a:p>
            <a:pPr marL="342900" indent="-342900">
              <a:buSzPct val="100000"/>
              <a:buChar char="•"/>
            </a:pPr>
            <a:r>
              <a:rPr lang="en-US" sz="850" dirty="0">
                <a:solidFill>
                  <a:srgbClr val="333333"/>
                </a:solidFill>
                <a:latin typeface="Calibri" pitchFamily="34" charset="0"/>
                <a:ea typeface="Calibri" pitchFamily="34" charset="-122"/>
                <a:cs typeface="Calibri" pitchFamily="34" charset="-120"/>
              </a:rPr>
              <a:t>Glossary drives clarity, reusability, and is the foundation for all subsequent capabilities</a:t>
            </a:r>
            <a:endParaRPr lang="en-US" sz="850" dirty="0"/>
          </a:p>
        </p:txBody>
      </p:sp>
      <p:sp>
        <p:nvSpPr>
          <p:cNvPr id="12" name="Shape 10"/>
          <p:cNvSpPr/>
          <p:nvPr/>
        </p:nvSpPr>
        <p:spPr>
          <a:xfrm>
            <a:off x="5486400" y="1097280"/>
            <a:ext cx="3017520" cy="868680"/>
          </a:xfrm>
          <a:prstGeom prst="rect">
            <a:avLst/>
          </a:prstGeom>
          <a:solidFill>
            <a:srgbClr val="E0F2F1"/>
          </a:solidFill>
          <a:ln/>
        </p:spPr>
      </p:sp>
      <p:sp>
        <p:nvSpPr>
          <p:cNvPr id="13" name="Text 11"/>
          <p:cNvSpPr/>
          <p:nvPr/>
        </p:nvSpPr>
        <p:spPr>
          <a:xfrm>
            <a:off x="5577840" y="1143000"/>
            <a:ext cx="2834640" cy="777240"/>
          </a:xfrm>
          <a:prstGeom prst="rect">
            <a:avLst/>
          </a:prstGeom>
          <a:noFill/>
          <a:ln/>
        </p:spPr>
        <p:txBody>
          <a:bodyPr wrap="square" lIns="0" tIns="0" rIns="0" bIns="0" rtlCol="0" anchor="ctr"/>
          <a:lstStyle/>
          <a:p>
            <a:pPr indent="0" marL="0">
              <a:buNone/>
            </a:pPr>
            <a:r>
              <a:rPr lang="en-US" sz="800" b="1" dirty="0">
                <a:solidFill>
                  <a:srgbClr val="0E7C7B"/>
                </a:solidFill>
                <a:latin typeface="Calibri" pitchFamily="34" charset="0"/>
                <a:ea typeface="Calibri" pitchFamily="34" charset="-122"/>
                <a:cs typeface="Calibri" pitchFamily="34" charset="-120"/>
              </a:rPr>
              <a:t>Purview: Build glossary terms in Unified Catalog (Phase 3) before creating Data Products (Phase 4).</a:t>
            </a:r>
            <a:endParaRPr lang="en-US" sz="800" dirty="0"/>
          </a:p>
        </p:txBody>
      </p:sp>
      <p:sp>
        <p:nvSpPr>
          <p:cNvPr id="14" name="Shape 12"/>
          <p:cNvSpPr/>
          <p:nvPr/>
        </p:nvSpPr>
        <p:spPr>
          <a:xfrm>
            <a:off x="457200" y="2331720"/>
            <a:ext cx="8229600" cy="1188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5" name="Shape 13"/>
          <p:cNvSpPr/>
          <p:nvPr/>
        </p:nvSpPr>
        <p:spPr>
          <a:xfrm>
            <a:off x="457200" y="2331720"/>
            <a:ext cx="73152" cy="1188720"/>
          </a:xfrm>
          <a:prstGeom prst="rect">
            <a:avLst/>
          </a:prstGeom>
          <a:solidFill>
            <a:srgbClr val="1B3A5C"/>
          </a:solidFill>
          <a:ln/>
        </p:spPr>
      </p:sp>
      <p:sp>
        <p:nvSpPr>
          <p:cNvPr id="16" name="Text 14"/>
          <p:cNvSpPr/>
          <p:nvPr/>
        </p:nvSpPr>
        <p:spPr>
          <a:xfrm>
            <a:off x="685800" y="2368296"/>
            <a:ext cx="3657600" cy="228600"/>
          </a:xfrm>
          <a:prstGeom prst="rect">
            <a:avLst/>
          </a:prstGeom>
          <a:noFill/>
          <a:ln/>
        </p:spPr>
        <p:txBody>
          <a:bodyPr wrap="square" lIns="0" tIns="0" rIns="0" bIns="0" rtlCol="0" anchor="ctr"/>
          <a:lstStyle/>
          <a:p>
            <a:pPr indent="0" marL="0">
              <a:buNone/>
            </a:pPr>
            <a:r>
              <a:rPr lang="en-US" sz="1200" b="1" dirty="0">
                <a:solidFill>
                  <a:srgbClr val="1B3A5C"/>
                </a:solidFill>
                <a:latin typeface="Calibri" pitchFamily="34" charset="0"/>
                <a:ea typeface="Calibri" pitchFamily="34" charset="-122"/>
                <a:cs typeface="Calibri" pitchFamily="34" charset="-120"/>
              </a:rPr>
              <a:t>Data Catalog &amp; Marketplace Vision</a:t>
            </a:r>
            <a:endParaRPr lang="en-US" sz="1200" dirty="0"/>
          </a:p>
        </p:txBody>
      </p:sp>
      <p:sp>
        <p:nvSpPr>
          <p:cNvPr id="17" name="Text 15"/>
          <p:cNvSpPr/>
          <p:nvPr/>
        </p:nvSpPr>
        <p:spPr>
          <a:xfrm>
            <a:off x="685800" y="2606040"/>
            <a:ext cx="4572000" cy="182880"/>
          </a:xfrm>
          <a:prstGeom prst="rect">
            <a:avLst/>
          </a:prstGeom>
          <a:noFill/>
          <a:ln/>
        </p:spPr>
        <p:txBody>
          <a:bodyPr wrap="square" lIns="0" tIns="0" rIns="0" bIns="0" rtlCol="0" anchor="ctr"/>
          <a:lstStyle/>
          <a:p>
            <a:pPr marL="342900" indent="-342900">
              <a:buSzPct val="100000"/>
              <a:buChar char="•"/>
            </a:pPr>
            <a:r>
              <a:rPr lang="en-US" sz="850" dirty="0">
                <a:solidFill>
                  <a:srgbClr val="333333"/>
                </a:solidFill>
                <a:latin typeface="Calibri" pitchFamily="34" charset="0"/>
                <a:ea typeface="Calibri" pitchFamily="34" charset="-122"/>
                <a:cs typeface="Calibri" pitchFamily="34" charset="-120"/>
              </a:rPr>
              <a:t>A catalog should answer: What data do we have? Who owns it? How is it classified? Can I trust it?</a:t>
            </a:r>
            <a:endParaRPr lang="en-US" sz="850" dirty="0"/>
          </a:p>
        </p:txBody>
      </p:sp>
      <p:sp>
        <p:nvSpPr>
          <p:cNvPr id="18" name="Text 16"/>
          <p:cNvSpPr/>
          <p:nvPr/>
        </p:nvSpPr>
        <p:spPr>
          <a:xfrm>
            <a:off x="685800" y="2788920"/>
            <a:ext cx="4572000" cy="182880"/>
          </a:xfrm>
          <a:prstGeom prst="rect">
            <a:avLst/>
          </a:prstGeom>
          <a:noFill/>
          <a:ln/>
        </p:spPr>
        <p:txBody>
          <a:bodyPr wrap="square" lIns="0" tIns="0" rIns="0" bIns="0" rtlCol="0" anchor="ctr"/>
          <a:lstStyle/>
          <a:p>
            <a:pPr marL="342900" indent="-342900">
              <a:buSzPct val="100000"/>
              <a:buChar char="•"/>
            </a:pPr>
            <a:r>
              <a:rPr lang="en-US" sz="850" dirty="0">
                <a:solidFill>
                  <a:srgbClr val="333333"/>
                </a:solidFill>
                <a:latin typeface="Calibri" pitchFamily="34" charset="0"/>
                <a:ea typeface="Calibri" pitchFamily="34" charset="-122"/>
                <a:cs typeface="Calibri" pitchFamily="34" charset="-120"/>
              </a:rPr>
              <a:t>Batchelder envisions a ‘Data Marketplace’ combining glossary, catalog, lineage, quality &amp; certified assets</a:t>
            </a:r>
            <a:endParaRPr lang="en-US" sz="850" dirty="0"/>
          </a:p>
        </p:txBody>
      </p:sp>
      <p:sp>
        <p:nvSpPr>
          <p:cNvPr id="19" name="Text 17"/>
          <p:cNvSpPr/>
          <p:nvPr/>
        </p:nvSpPr>
        <p:spPr>
          <a:xfrm>
            <a:off x="685800" y="2971800"/>
            <a:ext cx="4572000" cy="182880"/>
          </a:xfrm>
          <a:prstGeom prst="rect">
            <a:avLst/>
          </a:prstGeom>
          <a:noFill/>
          <a:ln/>
        </p:spPr>
        <p:txBody>
          <a:bodyPr wrap="square" lIns="0" tIns="0" rIns="0" bIns="0" rtlCol="0" anchor="ctr"/>
          <a:lstStyle/>
          <a:p>
            <a:pPr marL="342900" indent="-342900">
              <a:buSzPct val="100000"/>
              <a:buChar char="•"/>
            </a:pPr>
            <a:r>
              <a:rPr lang="en-US" sz="850" dirty="0">
                <a:solidFill>
                  <a:srgbClr val="333333"/>
                </a:solidFill>
                <a:latin typeface="Calibri" pitchFamily="34" charset="0"/>
                <a:ea typeface="Calibri" pitchFamily="34" charset="-122"/>
                <a:cs typeface="Calibri" pitchFamily="34" charset="-120"/>
              </a:rPr>
              <a:t>Measure value by employee time saved – analysts spend 50%+ of time searching for data</a:t>
            </a:r>
            <a:endParaRPr lang="en-US" sz="850" dirty="0"/>
          </a:p>
        </p:txBody>
      </p:sp>
      <p:sp>
        <p:nvSpPr>
          <p:cNvPr id="20" name="Text 18"/>
          <p:cNvSpPr/>
          <p:nvPr/>
        </p:nvSpPr>
        <p:spPr>
          <a:xfrm>
            <a:off x="685800" y="3154680"/>
            <a:ext cx="4572000" cy="182880"/>
          </a:xfrm>
          <a:prstGeom prst="rect">
            <a:avLst/>
          </a:prstGeom>
          <a:noFill/>
          <a:ln/>
        </p:spPr>
        <p:txBody>
          <a:bodyPr wrap="square" lIns="0" tIns="0" rIns="0" bIns="0" rtlCol="0" anchor="ctr"/>
          <a:lstStyle/>
          <a:p>
            <a:pPr marL="342900" indent="-342900">
              <a:buSzPct val="100000"/>
              <a:buChar char="•"/>
            </a:pPr>
            <a:r>
              <a:rPr lang="en-US" sz="850" dirty="0">
                <a:solidFill>
                  <a:srgbClr val="333333"/>
                </a:solidFill>
                <a:latin typeface="Calibri" pitchFamily="34" charset="0"/>
                <a:ea typeface="Calibri" pitchFamily="34" charset="-122"/>
                <a:cs typeface="Calibri" pitchFamily="34" charset="-120"/>
              </a:rPr>
              <a:t>Certified vs. non-certified: CDAO stands behind certified assets only</a:t>
            </a:r>
            <a:endParaRPr lang="en-US" sz="850" dirty="0"/>
          </a:p>
        </p:txBody>
      </p:sp>
      <p:sp>
        <p:nvSpPr>
          <p:cNvPr id="21" name="Shape 19"/>
          <p:cNvSpPr/>
          <p:nvPr/>
        </p:nvSpPr>
        <p:spPr>
          <a:xfrm>
            <a:off x="5486400" y="2468880"/>
            <a:ext cx="3017520" cy="868680"/>
          </a:xfrm>
          <a:prstGeom prst="rect">
            <a:avLst/>
          </a:prstGeom>
          <a:solidFill>
            <a:srgbClr val="E8EEF4"/>
          </a:solidFill>
          <a:ln/>
        </p:spPr>
      </p:sp>
      <p:sp>
        <p:nvSpPr>
          <p:cNvPr id="22" name="Text 20"/>
          <p:cNvSpPr/>
          <p:nvPr/>
        </p:nvSpPr>
        <p:spPr>
          <a:xfrm>
            <a:off x="5577840" y="2514600"/>
            <a:ext cx="2834640" cy="777240"/>
          </a:xfrm>
          <a:prstGeom prst="rect">
            <a:avLst/>
          </a:prstGeom>
          <a:noFill/>
          <a:ln/>
        </p:spPr>
        <p:txBody>
          <a:bodyPr wrap="square" lIns="0" tIns="0" rIns="0" bIns="0" rtlCol="0" anchor="ctr"/>
          <a:lstStyle/>
          <a:p>
            <a:pPr indent="0" marL="0">
              <a:buNone/>
            </a:pPr>
            <a:r>
              <a:rPr lang="en-US" sz="800" b="1" dirty="0">
                <a:solidFill>
                  <a:srgbClr val="1B3A5C"/>
                </a:solidFill>
                <a:latin typeface="Calibri" pitchFamily="34" charset="0"/>
                <a:ea typeface="Calibri" pitchFamily="34" charset="-122"/>
                <a:cs typeface="Calibri" pitchFamily="34" charset="-120"/>
              </a:rPr>
              <a:t>Purview: Unified Catalog IS the data marketplace. Combine Data Map + Glossary + Products + Quality.</a:t>
            </a:r>
            <a:endParaRPr lang="en-US" sz="800" dirty="0"/>
          </a:p>
        </p:txBody>
      </p:sp>
      <p:sp>
        <p:nvSpPr>
          <p:cNvPr id="23" name="Shape 21"/>
          <p:cNvSpPr/>
          <p:nvPr/>
        </p:nvSpPr>
        <p:spPr>
          <a:xfrm>
            <a:off x="457200" y="3703320"/>
            <a:ext cx="8229600" cy="1188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4" name="Shape 22"/>
          <p:cNvSpPr/>
          <p:nvPr/>
        </p:nvSpPr>
        <p:spPr>
          <a:xfrm>
            <a:off x="457200" y="3703320"/>
            <a:ext cx="73152" cy="1188720"/>
          </a:xfrm>
          <a:prstGeom prst="rect">
            <a:avLst/>
          </a:prstGeom>
          <a:solidFill>
            <a:srgbClr val="D4740E"/>
          </a:solidFill>
          <a:ln/>
        </p:spPr>
      </p:sp>
      <p:sp>
        <p:nvSpPr>
          <p:cNvPr id="25" name="Text 23"/>
          <p:cNvSpPr/>
          <p:nvPr/>
        </p:nvSpPr>
        <p:spPr>
          <a:xfrm>
            <a:off x="685800" y="3739896"/>
            <a:ext cx="3657600" cy="228600"/>
          </a:xfrm>
          <a:prstGeom prst="rect">
            <a:avLst/>
          </a:prstGeom>
          <a:noFill/>
          <a:ln/>
        </p:spPr>
        <p:txBody>
          <a:bodyPr wrap="square" lIns="0" tIns="0" rIns="0" bIns="0" rtlCol="0" anchor="ctr"/>
          <a:lstStyle/>
          <a:p>
            <a:pPr indent="0" marL="0">
              <a:buNone/>
            </a:pPr>
            <a:r>
              <a:rPr lang="en-US" sz="1200" b="1" dirty="0">
                <a:solidFill>
                  <a:srgbClr val="1B3A5C"/>
                </a:solidFill>
                <a:latin typeface="Calibri" pitchFamily="34" charset="0"/>
                <a:ea typeface="Calibri" pitchFamily="34" charset="-122"/>
                <a:cs typeface="Calibri" pitchFamily="34" charset="-120"/>
              </a:rPr>
              <a:t>Data Quality as Trust Currency</a:t>
            </a:r>
            <a:endParaRPr lang="en-US" sz="1200" dirty="0"/>
          </a:p>
        </p:txBody>
      </p:sp>
      <p:sp>
        <p:nvSpPr>
          <p:cNvPr id="26" name="Text 24"/>
          <p:cNvSpPr/>
          <p:nvPr/>
        </p:nvSpPr>
        <p:spPr>
          <a:xfrm>
            <a:off x="685800" y="3977640"/>
            <a:ext cx="4572000" cy="182880"/>
          </a:xfrm>
          <a:prstGeom prst="rect">
            <a:avLst/>
          </a:prstGeom>
          <a:noFill/>
          <a:ln/>
        </p:spPr>
        <p:txBody>
          <a:bodyPr wrap="square" lIns="0" tIns="0" rIns="0" bIns="0" rtlCol="0" anchor="ctr"/>
          <a:lstStyle/>
          <a:p>
            <a:pPr marL="342900" indent="-342900">
              <a:buSzPct val="100000"/>
              <a:buChar char="•"/>
            </a:pPr>
            <a:r>
              <a:rPr lang="en-US" sz="850" dirty="0">
                <a:solidFill>
                  <a:srgbClr val="333333"/>
                </a:solidFill>
                <a:latin typeface="Calibri" pitchFamily="34" charset="0"/>
                <a:ea typeface="Calibri" pitchFamily="34" charset="-122"/>
                <a:cs typeface="Calibri" pitchFamily="34" charset="-120"/>
              </a:rPr>
              <a:t>Quality is like exercise: you can’t get in shape once and stop. It requires ongoing maintenance</a:t>
            </a:r>
            <a:endParaRPr lang="en-US" sz="850" dirty="0"/>
          </a:p>
        </p:txBody>
      </p:sp>
      <p:sp>
        <p:nvSpPr>
          <p:cNvPr id="27" name="Text 25"/>
          <p:cNvSpPr/>
          <p:nvPr/>
        </p:nvSpPr>
        <p:spPr>
          <a:xfrm>
            <a:off x="685800" y="4160520"/>
            <a:ext cx="4572000" cy="182880"/>
          </a:xfrm>
          <a:prstGeom prst="rect">
            <a:avLst/>
          </a:prstGeom>
          <a:noFill/>
          <a:ln/>
        </p:spPr>
        <p:txBody>
          <a:bodyPr wrap="square" lIns="0" tIns="0" rIns="0" bIns="0" rtlCol="0" anchor="ctr"/>
          <a:lstStyle/>
          <a:p>
            <a:pPr marL="342900" indent="-342900">
              <a:buSzPct val="100000"/>
              <a:buChar char="•"/>
            </a:pPr>
            <a:r>
              <a:rPr lang="en-US" sz="850" dirty="0">
                <a:solidFill>
                  <a:srgbClr val="333333"/>
                </a:solidFill>
                <a:latin typeface="Calibri" pitchFamily="34" charset="0"/>
                <a:ea typeface="Calibri" pitchFamily="34" charset="-122"/>
                <a:cs typeface="Calibri" pitchFamily="34" charset="-120"/>
              </a:rPr>
              <a:t>Define quality rules for each Critical Data Element (CDE) and monitor continuously</a:t>
            </a:r>
            <a:endParaRPr lang="en-US" sz="850" dirty="0"/>
          </a:p>
        </p:txBody>
      </p:sp>
      <p:sp>
        <p:nvSpPr>
          <p:cNvPr id="28" name="Text 26"/>
          <p:cNvSpPr/>
          <p:nvPr/>
        </p:nvSpPr>
        <p:spPr>
          <a:xfrm>
            <a:off x="685800" y="4343400"/>
            <a:ext cx="4572000" cy="182880"/>
          </a:xfrm>
          <a:prstGeom prst="rect">
            <a:avLst/>
          </a:prstGeom>
          <a:noFill/>
          <a:ln/>
        </p:spPr>
        <p:txBody>
          <a:bodyPr wrap="square" lIns="0" tIns="0" rIns="0" bIns="0" rtlCol="0" anchor="ctr"/>
          <a:lstStyle/>
          <a:p>
            <a:pPr marL="342900" indent="-342900">
              <a:buSzPct val="100000"/>
              <a:buChar char="•"/>
            </a:pPr>
            <a:r>
              <a:rPr lang="en-US" sz="850" dirty="0">
                <a:solidFill>
                  <a:srgbClr val="333333"/>
                </a:solidFill>
                <a:latin typeface="Calibri" pitchFamily="34" charset="0"/>
                <a:ea typeface="Calibri" pitchFamily="34" charset="-122"/>
                <a:cs typeface="Calibri" pitchFamily="34" charset="-120"/>
              </a:rPr>
              <a:t>Measure value in business terms: revenue impact, cost of poor decisions, fine avoidance</a:t>
            </a:r>
            <a:endParaRPr lang="en-US" sz="850" dirty="0"/>
          </a:p>
        </p:txBody>
      </p:sp>
      <p:sp>
        <p:nvSpPr>
          <p:cNvPr id="29" name="Text 27"/>
          <p:cNvSpPr/>
          <p:nvPr/>
        </p:nvSpPr>
        <p:spPr>
          <a:xfrm>
            <a:off x="685800" y="4526280"/>
            <a:ext cx="4572000" cy="182880"/>
          </a:xfrm>
          <a:prstGeom prst="rect">
            <a:avLst/>
          </a:prstGeom>
          <a:noFill/>
          <a:ln/>
        </p:spPr>
        <p:txBody>
          <a:bodyPr wrap="square" lIns="0" tIns="0" rIns="0" bIns="0" rtlCol="0" anchor="ctr"/>
          <a:lstStyle/>
          <a:p>
            <a:pPr marL="342900" indent="-342900">
              <a:buSzPct val="100000"/>
              <a:buChar char="•"/>
            </a:pPr>
            <a:r>
              <a:rPr lang="en-US" sz="850" dirty="0">
                <a:solidFill>
                  <a:srgbClr val="333333"/>
                </a:solidFill>
                <a:latin typeface="Calibri" pitchFamily="34" charset="0"/>
                <a:ea typeface="Calibri" pitchFamily="34" charset="-122"/>
                <a:cs typeface="Calibri" pitchFamily="34" charset="-120"/>
              </a:rPr>
              <a:t>Transparency is key – provide quality dashboards so stakeholders can see trust levels themselves</a:t>
            </a:r>
            <a:endParaRPr lang="en-US" sz="850" dirty="0"/>
          </a:p>
        </p:txBody>
      </p:sp>
      <p:sp>
        <p:nvSpPr>
          <p:cNvPr id="30" name="Shape 28"/>
          <p:cNvSpPr/>
          <p:nvPr/>
        </p:nvSpPr>
        <p:spPr>
          <a:xfrm>
            <a:off x="5486400" y="3840480"/>
            <a:ext cx="3017520" cy="868680"/>
          </a:xfrm>
          <a:prstGeom prst="rect">
            <a:avLst/>
          </a:prstGeom>
          <a:solidFill>
            <a:srgbClr val="FFF3E8"/>
          </a:solidFill>
          <a:ln/>
        </p:spPr>
      </p:sp>
      <p:sp>
        <p:nvSpPr>
          <p:cNvPr id="31" name="Text 29"/>
          <p:cNvSpPr/>
          <p:nvPr/>
        </p:nvSpPr>
        <p:spPr>
          <a:xfrm>
            <a:off x="5577840" y="3886200"/>
            <a:ext cx="2834640" cy="777240"/>
          </a:xfrm>
          <a:prstGeom prst="rect">
            <a:avLst/>
          </a:prstGeom>
          <a:noFill/>
          <a:ln/>
        </p:spPr>
        <p:txBody>
          <a:bodyPr wrap="square" lIns="0" tIns="0" rIns="0" bIns="0" rtlCol="0" anchor="ctr"/>
          <a:lstStyle/>
          <a:p>
            <a:pPr indent="0" marL="0">
              <a:buNone/>
            </a:pPr>
            <a:r>
              <a:rPr lang="en-US" sz="800" b="1" dirty="0">
                <a:solidFill>
                  <a:srgbClr val="D4740E"/>
                </a:solidFill>
                <a:latin typeface="Calibri" pitchFamily="34" charset="0"/>
                <a:ea typeface="Calibri" pitchFamily="34" charset="-122"/>
                <a:cs typeface="Calibri" pitchFamily="34" charset="-120"/>
              </a:rPr>
              <a:t>Purview: Deploy Data Quality scanner on CDEs (Phase 4). Health Controls track ongoing fitness (Phase 6).</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8F9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5C"/>
          </a:solidFill>
          <a:ln/>
        </p:spPr>
      </p:sp>
      <p:sp>
        <p:nvSpPr>
          <p:cNvPr id="3" name="Text 1"/>
          <p:cNvSpPr/>
          <p:nvPr/>
        </p:nvSpPr>
        <p:spPr>
          <a:xfrm>
            <a:off x="548640" y="137160"/>
            <a:ext cx="8229600" cy="54864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Adoption &amp; Governance by Design</a:t>
            </a:r>
            <a:endParaRPr lang="en-US" sz="2200" dirty="0"/>
          </a:p>
        </p:txBody>
      </p:sp>
      <p:sp>
        <p:nvSpPr>
          <p:cNvPr id="4" name="Text 2"/>
          <p:cNvSpPr/>
          <p:nvPr/>
        </p:nvSpPr>
        <p:spPr>
          <a:xfrm>
            <a:off x="548640" y="502920"/>
            <a:ext cx="7315200" cy="274320"/>
          </a:xfrm>
          <a:prstGeom prst="rect">
            <a:avLst/>
          </a:prstGeom>
          <a:noFill/>
          <a:ln/>
        </p:spPr>
        <p:txBody>
          <a:bodyPr wrap="square" lIns="0" tIns="0" rIns="0" bIns="0" rtlCol="0" anchor="ctr"/>
          <a:lstStyle/>
          <a:p>
            <a:pPr indent="0" marL="0">
              <a:buNone/>
            </a:pPr>
            <a:r>
              <a:rPr lang="en-US" sz="1000" i="1" dirty="0">
                <a:solidFill>
                  <a:srgbClr val="AABBCC"/>
                </a:solidFill>
                <a:latin typeface="Calibri" pitchFamily="34" charset="0"/>
                <a:ea typeface="Calibri" pitchFamily="34" charset="-122"/>
                <a:cs typeface="Calibri" pitchFamily="34" charset="-120"/>
              </a:rPr>
              <a:t>Batchelder Ch.14-16 – Applied to Phase 6 &amp; Ongoing</a:t>
            </a:r>
            <a:endParaRPr lang="en-US" sz="1000" dirty="0"/>
          </a:p>
        </p:txBody>
      </p:sp>
      <p:sp>
        <p:nvSpPr>
          <p:cNvPr id="5" name="Text 3"/>
          <p:cNvSpPr/>
          <p:nvPr/>
        </p:nvSpPr>
        <p:spPr>
          <a:xfrm>
            <a:off x="457200" y="1005840"/>
            <a:ext cx="8229600" cy="320040"/>
          </a:xfrm>
          <a:prstGeom prst="rect">
            <a:avLst/>
          </a:prstGeom>
          <a:noFill/>
          <a:ln/>
        </p:spPr>
        <p:txBody>
          <a:bodyPr wrap="square" lIns="0" tIns="0" rIns="0" bIns="0" rtlCol="0" anchor="ctr"/>
          <a:lstStyle/>
          <a:p>
            <a:pPr indent="0" marL="0">
              <a:buNone/>
            </a:pPr>
            <a:r>
              <a:rPr lang="en-US" sz="1100" i="1" dirty="0">
                <a:solidFill>
                  <a:srgbClr val="1B3A5C"/>
                </a:solidFill>
                <a:latin typeface="Calibri" pitchFamily="34" charset="0"/>
                <a:ea typeface="Calibri" pitchFamily="34" charset="-122"/>
                <a:cs typeface="Calibri" pitchFamily="34" charset="-120"/>
              </a:rPr>
              <a:t>Governance must be embedded into process, not bolted on. Batchelder calls this “governance by design.”</a:t>
            </a:r>
            <a:endParaRPr lang="en-US" sz="1100" dirty="0"/>
          </a:p>
        </p:txBody>
      </p:sp>
      <p:sp>
        <p:nvSpPr>
          <p:cNvPr id="6" name="Shape 4"/>
          <p:cNvSpPr/>
          <p:nvPr/>
        </p:nvSpPr>
        <p:spPr>
          <a:xfrm>
            <a:off x="457200" y="1463040"/>
            <a:ext cx="2697480" cy="31089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7" name="Shape 5"/>
          <p:cNvSpPr/>
          <p:nvPr/>
        </p:nvSpPr>
        <p:spPr>
          <a:xfrm>
            <a:off x="457200" y="1463040"/>
            <a:ext cx="2697480" cy="365760"/>
          </a:xfrm>
          <a:prstGeom prst="rect">
            <a:avLst/>
          </a:prstGeom>
          <a:solidFill>
            <a:srgbClr val="CC4444"/>
          </a:solidFill>
          <a:ln/>
        </p:spPr>
      </p:sp>
      <p:sp>
        <p:nvSpPr>
          <p:cNvPr id="8" name="Text 6"/>
          <p:cNvSpPr/>
          <p:nvPr/>
        </p:nvSpPr>
        <p:spPr>
          <a:xfrm>
            <a:off x="548640" y="1490472"/>
            <a:ext cx="251460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Why Adoption Fails</a:t>
            </a:r>
            <a:endParaRPr lang="en-US" sz="1100" dirty="0"/>
          </a:p>
        </p:txBody>
      </p:sp>
      <p:sp>
        <p:nvSpPr>
          <p:cNvPr id="9" name="Text 7"/>
          <p:cNvSpPr/>
          <p:nvPr/>
        </p:nvSpPr>
        <p:spPr>
          <a:xfrm>
            <a:off x="594360" y="1965960"/>
            <a:ext cx="2423160" cy="2377440"/>
          </a:xfrm>
          <a:prstGeom prst="rect">
            <a:avLst/>
          </a:prstGeom>
          <a:noFill/>
          <a:ln/>
        </p:spPr>
        <p:txBody>
          <a:bodyPr wrap="square" lIns="0" tIns="0" rIns="0" bIns="0" rtlCol="0" anchor="t"/>
          <a:lstStyle/>
          <a:p>
            <a:pPr marL="342900" indent="-342900">
              <a:spcAft>
                <a:spcPts val="800"/>
              </a:spcAft>
              <a:buSzPct val="100000"/>
              <a:buChar char="•"/>
            </a:pPr>
            <a:r>
              <a:rPr lang="en-US" sz="900" dirty="0">
                <a:solidFill>
                  <a:srgbClr val="333333"/>
                </a:solidFill>
                <a:latin typeface="Calibri" pitchFamily="34" charset="0"/>
                <a:ea typeface="Calibri" pitchFamily="34" charset="-122"/>
                <a:cs typeface="Calibri" pitchFamily="34" charset="-120"/>
              </a:rPr>
              <a:t>The solution is the problem – too complex, not user-friendly</a:t>
            </a:r>
            <a:endParaRPr lang="en-US" sz="900" dirty="0"/>
          </a:p>
          <a:p>
            <a:pPr marL="342900" indent="-342900">
              <a:spcAft>
                <a:spcPts val="800"/>
              </a:spcAft>
              <a:buSzPct val="100000"/>
              <a:buChar char="•"/>
            </a:pPr>
            <a:r>
              <a:rPr lang="en-US" sz="900" dirty="0">
                <a:solidFill>
                  <a:srgbClr val="333333"/>
                </a:solidFill>
                <a:latin typeface="Calibri" pitchFamily="34" charset="0"/>
                <a:ea typeface="Calibri" pitchFamily="34" charset="-122"/>
                <a:cs typeface="Calibri" pitchFamily="34" charset="-120"/>
              </a:rPr>
              <a:t>The company is the problem – competing priorities, no exec support</a:t>
            </a:r>
            <a:endParaRPr lang="en-US" sz="900" dirty="0"/>
          </a:p>
          <a:p>
            <a:pPr marL="342900" indent="-342900">
              <a:spcAft>
                <a:spcPts val="800"/>
              </a:spcAft>
              <a:buSzPct val="100000"/>
              <a:buChar char="•"/>
            </a:pPr>
            <a:r>
              <a:rPr lang="en-US" sz="900" dirty="0">
                <a:solidFill>
                  <a:srgbClr val="333333"/>
                </a:solidFill>
                <a:latin typeface="Calibri" pitchFamily="34" charset="0"/>
                <a:ea typeface="Calibri" pitchFamily="34" charset="-122"/>
                <a:cs typeface="Calibri" pitchFamily="34" charset="-120"/>
              </a:rPr>
              <a:t>You are the problem – failing to communicate value in business terms</a:t>
            </a:r>
            <a:endParaRPr lang="en-US" sz="900" dirty="0"/>
          </a:p>
          <a:p>
            <a:pPr marL="342900" indent="-342900">
              <a:spcAft>
                <a:spcPts val="800"/>
              </a:spcAft>
              <a:buSzPct val="100000"/>
              <a:buChar char="•"/>
            </a:pPr>
            <a:r>
              <a:rPr lang="en-US" sz="900" dirty="0">
                <a:solidFill>
                  <a:srgbClr val="333333"/>
                </a:solidFill>
                <a:latin typeface="Calibri" pitchFamily="34" charset="0"/>
                <a:ea typeface="Calibri" pitchFamily="34" charset="-122"/>
                <a:cs typeface="Calibri" pitchFamily="34" charset="-120"/>
              </a:rPr>
              <a:t>Low adoption is costly: wasted investment, eroded trust, loss of future funding</a:t>
            </a:r>
            <a:endParaRPr lang="en-US" sz="900" dirty="0"/>
          </a:p>
        </p:txBody>
      </p:sp>
      <p:sp>
        <p:nvSpPr>
          <p:cNvPr id="10" name="Shape 8"/>
          <p:cNvSpPr/>
          <p:nvPr/>
        </p:nvSpPr>
        <p:spPr>
          <a:xfrm>
            <a:off x="3337560" y="1463040"/>
            <a:ext cx="2697480" cy="31089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9"/>
          <p:cNvSpPr/>
          <p:nvPr/>
        </p:nvSpPr>
        <p:spPr>
          <a:xfrm>
            <a:off x="3337560" y="1463040"/>
            <a:ext cx="2697480" cy="365760"/>
          </a:xfrm>
          <a:prstGeom prst="rect">
            <a:avLst/>
          </a:prstGeom>
          <a:solidFill>
            <a:srgbClr val="0E7C7B"/>
          </a:solidFill>
          <a:ln/>
        </p:spPr>
      </p:sp>
      <p:sp>
        <p:nvSpPr>
          <p:cNvPr id="12" name="Text 10"/>
          <p:cNvSpPr/>
          <p:nvPr/>
        </p:nvSpPr>
        <p:spPr>
          <a:xfrm>
            <a:off x="3429000" y="1490472"/>
            <a:ext cx="251460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How to Succeed</a:t>
            </a:r>
            <a:endParaRPr lang="en-US" sz="1100" dirty="0"/>
          </a:p>
        </p:txBody>
      </p:sp>
      <p:sp>
        <p:nvSpPr>
          <p:cNvPr id="13" name="Text 11"/>
          <p:cNvSpPr/>
          <p:nvPr/>
        </p:nvSpPr>
        <p:spPr>
          <a:xfrm>
            <a:off x="3474720" y="1965960"/>
            <a:ext cx="2423160" cy="2377440"/>
          </a:xfrm>
          <a:prstGeom prst="rect">
            <a:avLst/>
          </a:prstGeom>
          <a:noFill/>
          <a:ln/>
        </p:spPr>
        <p:txBody>
          <a:bodyPr wrap="square" lIns="0" tIns="0" rIns="0" bIns="0" rtlCol="0" anchor="t"/>
          <a:lstStyle/>
          <a:p>
            <a:pPr marL="342900" indent="-342900">
              <a:spcAft>
                <a:spcPts val="800"/>
              </a:spcAft>
              <a:buSzPct val="100000"/>
              <a:buChar char="•"/>
            </a:pPr>
            <a:r>
              <a:rPr lang="en-US" sz="900" dirty="0">
                <a:solidFill>
                  <a:srgbClr val="333333"/>
                </a:solidFill>
                <a:latin typeface="Calibri" pitchFamily="34" charset="0"/>
                <a:ea typeface="Calibri" pitchFamily="34" charset="-122"/>
                <a:cs typeface="Calibri" pitchFamily="34" charset="-120"/>
              </a:rPr>
              <a:t>Start with why – connect every feature to a user need</a:t>
            </a:r>
            <a:endParaRPr lang="en-US" sz="900" dirty="0"/>
          </a:p>
          <a:p>
            <a:pPr marL="342900" indent="-342900">
              <a:spcAft>
                <a:spcPts val="800"/>
              </a:spcAft>
              <a:buSzPct val="100000"/>
              <a:buChar char="•"/>
            </a:pPr>
            <a:r>
              <a:rPr lang="en-US" sz="900" dirty="0">
                <a:solidFill>
                  <a:srgbClr val="333333"/>
                </a:solidFill>
                <a:latin typeface="Calibri" pitchFamily="34" charset="0"/>
                <a:ea typeface="Calibri" pitchFamily="34" charset="-122"/>
                <a:cs typeface="Calibri" pitchFamily="34" charset="-120"/>
              </a:rPr>
              <a:t>Make it easy to use – simplify the experience ruthlessly</a:t>
            </a:r>
            <a:endParaRPr lang="en-US" sz="900" dirty="0"/>
          </a:p>
          <a:p>
            <a:pPr marL="342900" indent="-342900">
              <a:spcAft>
                <a:spcPts val="800"/>
              </a:spcAft>
              <a:buSzPct val="100000"/>
              <a:buChar char="•"/>
            </a:pPr>
            <a:r>
              <a:rPr lang="en-US" sz="900" dirty="0">
                <a:solidFill>
                  <a:srgbClr val="333333"/>
                </a:solidFill>
                <a:latin typeface="Calibri" pitchFamily="34" charset="0"/>
                <a:ea typeface="Calibri" pitchFamily="34" charset="-122"/>
                <a:cs typeface="Calibri" pitchFamily="34" charset="-120"/>
              </a:rPr>
              <a:t>Bake adoption into SDLC – governance as part of the build process, not after</a:t>
            </a:r>
            <a:endParaRPr lang="en-US" sz="900" dirty="0"/>
          </a:p>
          <a:p>
            <a:pPr marL="342900" indent="-342900">
              <a:spcAft>
                <a:spcPts val="800"/>
              </a:spcAft>
              <a:buSzPct val="100000"/>
              <a:buChar char="•"/>
            </a:pPr>
            <a:r>
              <a:rPr lang="en-US" sz="900" dirty="0">
                <a:solidFill>
                  <a:srgbClr val="333333"/>
                </a:solidFill>
                <a:latin typeface="Calibri" pitchFamily="34" charset="0"/>
                <a:ea typeface="Calibri" pitchFamily="34" charset="-122"/>
                <a:cs typeface="Calibri" pitchFamily="34" charset="-120"/>
              </a:rPr>
              <a:t>Monitor post-deployment: track active users, feature usage, feedback loops</a:t>
            </a:r>
            <a:endParaRPr lang="en-US" sz="900" dirty="0"/>
          </a:p>
        </p:txBody>
      </p:sp>
      <p:sp>
        <p:nvSpPr>
          <p:cNvPr id="14" name="Shape 12"/>
          <p:cNvSpPr/>
          <p:nvPr/>
        </p:nvSpPr>
        <p:spPr>
          <a:xfrm>
            <a:off x="6217920" y="1463040"/>
            <a:ext cx="2697480" cy="31089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5" name="Shape 13"/>
          <p:cNvSpPr/>
          <p:nvPr/>
        </p:nvSpPr>
        <p:spPr>
          <a:xfrm>
            <a:off x="6217920" y="1463040"/>
            <a:ext cx="2697480" cy="365760"/>
          </a:xfrm>
          <a:prstGeom prst="rect">
            <a:avLst/>
          </a:prstGeom>
          <a:solidFill>
            <a:srgbClr val="1B3A5C"/>
          </a:solidFill>
          <a:ln/>
        </p:spPr>
      </p:sp>
      <p:sp>
        <p:nvSpPr>
          <p:cNvPr id="16" name="Text 14"/>
          <p:cNvSpPr/>
          <p:nvPr/>
        </p:nvSpPr>
        <p:spPr>
          <a:xfrm>
            <a:off x="6309360" y="1490472"/>
            <a:ext cx="251460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Governance by Design in Purview</a:t>
            </a:r>
            <a:endParaRPr lang="en-US" sz="1100" dirty="0"/>
          </a:p>
        </p:txBody>
      </p:sp>
      <p:sp>
        <p:nvSpPr>
          <p:cNvPr id="17" name="Text 15"/>
          <p:cNvSpPr/>
          <p:nvPr/>
        </p:nvSpPr>
        <p:spPr>
          <a:xfrm>
            <a:off x="6355080" y="1965960"/>
            <a:ext cx="2423160" cy="2377440"/>
          </a:xfrm>
          <a:prstGeom prst="rect">
            <a:avLst/>
          </a:prstGeom>
          <a:noFill/>
          <a:ln/>
        </p:spPr>
        <p:txBody>
          <a:bodyPr wrap="square" lIns="0" tIns="0" rIns="0" bIns="0" rtlCol="0" anchor="t"/>
          <a:lstStyle/>
          <a:p>
            <a:pPr marL="342900" indent="-342900">
              <a:spcAft>
                <a:spcPts val="800"/>
              </a:spcAft>
              <a:buSzPct val="100000"/>
              <a:buChar char="•"/>
            </a:pPr>
            <a:r>
              <a:rPr lang="en-US" sz="900" dirty="0">
                <a:solidFill>
                  <a:srgbClr val="333333"/>
                </a:solidFill>
                <a:latin typeface="Calibri" pitchFamily="34" charset="0"/>
                <a:ea typeface="Calibri" pitchFamily="34" charset="-122"/>
                <a:cs typeface="Calibri" pitchFamily="34" charset="-120"/>
              </a:rPr>
              <a:t>Auto-labelling embeds classification into document creation (Phase 2)</a:t>
            </a:r>
            <a:endParaRPr lang="en-US" sz="900" dirty="0"/>
          </a:p>
          <a:p>
            <a:pPr marL="342900" indent="-342900">
              <a:spcAft>
                <a:spcPts val="800"/>
              </a:spcAft>
              <a:buSzPct val="100000"/>
              <a:buChar char="•"/>
            </a:pPr>
            <a:r>
              <a:rPr lang="en-US" sz="900" dirty="0">
                <a:solidFill>
                  <a:srgbClr val="333333"/>
                </a:solidFill>
                <a:latin typeface="Calibri" pitchFamily="34" charset="0"/>
                <a:ea typeface="Calibri" pitchFamily="34" charset="-122"/>
                <a:cs typeface="Calibri" pitchFamily="34" charset="-120"/>
              </a:rPr>
              <a:t>Glossary terms carry active policies that flow to data products (Phase 3)</a:t>
            </a:r>
            <a:endParaRPr lang="en-US" sz="900" dirty="0"/>
          </a:p>
          <a:p>
            <a:pPr marL="342900" indent="-342900">
              <a:spcAft>
                <a:spcPts val="800"/>
              </a:spcAft>
              <a:buSzPct val="100000"/>
              <a:buChar char="•"/>
            </a:pPr>
            <a:r>
              <a:rPr lang="en-US" sz="900" dirty="0">
                <a:solidFill>
                  <a:srgbClr val="333333"/>
                </a:solidFill>
                <a:latin typeface="Calibri" pitchFamily="34" charset="0"/>
                <a:ea typeface="Calibri" pitchFamily="34" charset="-122"/>
                <a:cs typeface="Calibri" pitchFamily="34" charset="-120"/>
              </a:rPr>
              <a:t>Access request workflows replace ad-hoc provisioning (Phase 4)</a:t>
            </a:r>
            <a:endParaRPr lang="en-US" sz="900" dirty="0"/>
          </a:p>
          <a:p>
            <a:pPr marL="342900" indent="-342900">
              <a:spcAft>
                <a:spcPts val="800"/>
              </a:spcAft>
              <a:buSzPct val="100000"/>
              <a:buChar char="•"/>
            </a:pPr>
            <a:r>
              <a:rPr lang="en-US" sz="900" dirty="0">
                <a:solidFill>
                  <a:srgbClr val="333333"/>
                </a:solidFill>
                <a:latin typeface="Calibri" pitchFamily="34" charset="0"/>
                <a:ea typeface="Calibri" pitchFamily="34" charset="-122"/>
                <a:cs typeface="Calibri" pitchFamily="34" charset="-120"/>
              </a:rPr>
              <a:t>DSPM + Adaptive Protection auto-adjusts security posture (Phase 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7C7B"/>
          </a:solidFill>
          <a:ln/>
        </p:spPr>
      </p:sp>
      <p:sp>
        <p:nvSpPr>
          <p:cNvPr id="3" name="Text 1"/>
          <p:cNvSpPr/>
          <p:nvPr/>
        </p:nvSpPr>
        <p:spPr>
          <a:xfrm>
            <a:off x="0" y="1371600"/>
            <a:ext cx="9144000" cy="731520"/>
          </a:xfrm>
          <a:prstGeom prst="rect">
            <a:avLst/>
          </a:prstGeom>
          <a:noFill/>
          <a:ln/>
        </p:spPr>
        <p:txBody>
          <a:bodyPr wrap="square" lIns="0" tIns="0" rIns="0" bIns="0" rtlCol="0" anchor="ctr"/>
          <a:lstStyle/>
          <a:p>
            <a:pPr algn="ctr" indent="0" marL="0">
              <a:buNone/>
            </a:pPr>
            <a:r>
              <a:rPr lang="en-US" sz="4000" b="1" dirty="0">
                <a:solidFill>
                  <a:srgbClr val="FFFFFF"/>
                </a:solidFill>
                <a:latin typeface="Trebuchet MS" pitchFamily="34" charset="0"/>
                <a:ea typeface="Trebuchet MS" pitchFamily="34" charset="-122"/>
                <a:cs typeface="Trebuchet MS" pitchFamily="34" charset="-120"/>
              </a:rPr>
              <a:t>Thank You</a:t>
            </a:r>
            <a:endParaRPr lang="en-US" sz="4000" dirty="0"/>
          </a:p>
        </p:txBody>
      </p:sp>
      <p:sp>
        <p:nvSpPr>
          <p:cNvPr id="4" name="Shape 2"/>
          <p:cNvSpPr/>
          <p:nvPr/>
        </p:nvSpPr>
        <p:spPr>
          <a:xfrm>
            <a:off x="3657600" y="2194560"/>
            <a:ext cx="1828800" cy="36576"/>
          </a:xfrm>
          <a:prstGeom prst="rect">
            <a:avLst/>
          </a:prstGeom>
          <a:solidFill>
            <a:srgbClr val="0E7C7B"/>
          </a:solidFill>
          <a:ln/>
        </p:spPr>
      </p:sp>
      <p:sp>
        <p:nvSpPr>
          <p:cNvPr id="5" name="Text 3"/>
          <p:cNvSpPr/>
          <p:nvPr/>
        </p:nvSpPr>
        <p:spPr>
          <a:xfrm>
            <a:off x="1371600" y="2468880"/>
            <a:ext cx="6400800" cy="731520"/>
          </a:xfrm>
          <a:prstGeom prst="rect">
            <a:avLst/>
          </a:prstGeom>
          <a:noFill/>
          <a:ln/>
        </p:spPr>
        <p:txBody>
          <a:bodyPr wrap="square" lIns="0" tIns="0" rIns="0" bIns="0" rtlCol="0" anchor="ctr"/>
          <a:lstStyle/>
          <a:p>
            <a:pPr algn="ctr" indent="0" marL="0">
              <a:buNone/>
            </a:pPr>
            <a:r>
              <a:rPr lang="en-US" sz="1200" i="1" dirty="0">
                <a:solidFill>
                  <a:srgbClr val="888888"/>
                </a:solidFill>
                <a:latin typeface="Calibri" pitchFamily="34" charset="0"/>
                <a:ea typeface="Calibri" pitchFamily="34" charset="-122"/>
                <a:cs typeface="Calibri" pitchFamily="34" charset="-120"/>
              </a:rPr>
              <a:t>This plan should be reviewed quarterly and updated as Microsoft Purview capabilities evolve and your organisation’s maturity advances through each phase.</a:t>
            </a:r>
            <a:endParaRPr lang="en-US" sz="1200" dirty="0"/>
          </a:p>
        </p:txBody>
      </p:sp>
      <p:sp>
        <p:nvSpPr>
          <p:cNvPr id="6" name="Text 4"/>
          <p:cNvSpPr/>
          <p:nvPr/>
        </p:nvSpPr>
        <p:spPr>
          <a:xfrm>
            <a:off x="0" y="4114800"/>
            <a:ext cx="9144000" cy="274320"/>
          </a:xfrm>
          <a:prstGeom prst="rect">
            <a:avLst/>
          </a:prstGeom>
          <a:noFill/>
          <a:ln/>
        </p:spPr>
        <p:txBody>
          <a:bodyPr wrap="square" lIns="0" tIns="0" rIns="0" bIns="0" rtlCol="0" anchor="ctr"/>
          <a:lstStyle/>
          <a:p>
            <a:pPr algn="ctr" indent="0" marL="0">
              <a:buNone/>
            </a:pPr>
            <a:r>
              <a:rPr lang="en-US" sz="1000" dirty="0">
                <a:solidFill>
                  <a:srgbClr val="888888"/>
                </a:solidFill>
                <a:latin typeface="Calibri" pitchFamily="34" charset="0"/>
                <a:ea typeface="Calibri" pitchFamily="34" charset="-122"/>
                <a:cs typeface="Calibri" pitchFamily="34" charset="-120"/>
              </a:rPr>
              <a:t>Version 1.0  |  March 2026  |  CONFIDENTIAL</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Purview – Data Management Maturity Plan</dc:title>
  <dc:subject>PptxGenJS Presentation</dc:subject>
  <dc:creator>PptxGenJS</dc:creator>
  <cp:lastModifiedBy>PptxGenJS</cp:lastModifiedBy>
  <cp:revision>1</cp:revision>
  <dcterms:created xsi:type="dcterms:W3CDTF">2026-03-18T21:55:05Z</dcterms:created>
  <dcterms:modified xsi:type="dcterms:W3CDTF">2026-03-18T21:55:05Z</dcterms:modified>
</cp:coreProperties>
</file>